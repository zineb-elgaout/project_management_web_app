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64" r:id="rId2"/>
    <p:sldId id="265" r:id="rId3"/>
    <p:sldId id="296" r:id="rId4"/>
    <p:sldId id="302" r:id="rId5"/>
    <p:sldId id="304" r:id="rId6"/>
    <p:sldId id="288" r:id="rId7"/>
    <p:sldId id="282" r:id="rId8"/>
    <p:sldId id="292" r:id="rId9"/>
    <p:sldId id="294" r:id="rId10"/>
    <p:sldId id="295" r:id="rId11"/>
    <p:sldId id="298" r:id="rId12"/>
    <p:sldId id="300" r:id="rId13"/>
    <p:sldId id="301" r:id="rId14"/>
    <p:sldId id="306" r:id="rId15"/>
    <p:sldId id="305" r:id="rId16"/>
    <p:sldId id="308" r:id="rId17"/>
    <p:sldId id="316" r:id="rId18"/>
    <p:sldId id="309" r:id="rId19"/>
    <p:sldId id="312" r:id="rId20"/>
    <p:sldId id="313" r:id="rId21"/>
    <p:sldId id="314" r:id="rId22"/>
    <p:sldId id="311" r:id="rId23"/>
    <p:sldId id="317" r:id="rId24"/>
    <p:sldId id="318" r:id="rId25"/>
    <p:sldId id="319" r:id="rId26"/>
    <p:sldId id="321" r:id="rId27"/>
    <p:sldId id="322" r:id="rId28"/>
    <p:sldId id="320" r:id="rId29"/>
    <p:sldId id="323" r:id="rId30"/>
    <p:sldId id="327" r:id="rId31"/>
    <p:sldId id="331" r:id="rId32"/>
    <p:sldId id="330" r:id="rId33"/>
    <p:sldId id="329" r:id="rId34"/>
    <p:sldId id="332" r:id="rId35"/>
    <p:sldId id="333" r:id="rId36"/>
    <p:sldId id="325" r:id="rId37"/>
    <p:sldId id="326" r:id="rId38"/>
    <p:sldId id="307" r:id="rId39"/>
    <p:sldId id="267" r:id="rId4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5BDF9212-F18E-47C4-AA0D-376883240DD1}">
          <p14:sldIdLst>
            <p14:sldId id="264"/>
            <p14:sldId id="265"/>
            <p14:sldId id="296"/>
            <p14:sldId id="302"/>
            <p14:sldId id="304"/>
            <p14:sldId id="288"/>
            <p14:sldId id="282"/>
            <p14:sldId id="292"/>
            <p14:sldId id="294"/>
            <p14:sldId id="295"/>
            <p14:sldId id="298"/>
            <p14:sldId id="300"/>
            <p14:sldId id="301"/>
            <p14:sldId id="306"/>
            <p14:sldId id="305"/>
            <p14:sldId id="308"/>
            <p14:sldId id="316"/>
            <p14:sldId id="309"/>
            <p14:sldId id="312"/>
            <p14:sldId id="313"/>
            <p14:sldId id="314"/>
            <p14:sldId id="311"/>
            <p14:sldId id="317"/>
            <p14:sldId id="318"/>
            <p14:sldId id="319"/>
            <p14:sldId id="321"/>
            <p14:sldId id="322"/>
            <p14:sldId id="320"/>
            <p14:sldId id="323"/>
            <p14:sldId id="327"/>
            <p14:sldId id="331"/>
            <p14:sldId id="330"/>
            <p14:sldId id="329"/>
            <p14:sldId id="332"/>
            <p14:sldId id="333"/>
            <p14:sldId id="325"/>
            <p14:sldId id="326"/>
            <p14:sldId id="307"/>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A893"/>
    <a:srgbClr val="F2F1EE"/>
    <a:srgbClr val="EAE8E2"/>
    <a:srgbClr val="DAD7CD"/>
    <a:srgbClr val="FAF6F4"/>
    <a:srgbClr val="F3F5F7"/>
    <a:srgbClr val="F7F0ED"/>
    <a:srgbClr val="F0F2F4"/>
    <a:srgbClr val="E9D7CF"/>
    <a:srgbClr val="E1EB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82" d="100"/>
          <a:sy n="82" d="100"/>
        </p:scale>
        <p:origin x="97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C9F19-55B1-4603-A03A-186545BAD004}" type="datetimeFigureOut">
              <a:rPr lang="fr-FR" smtClean="0"/>
              <a:t>07/04/2025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2DBF98-4E30-4C81-8846-0BA8BC5B970A}" type="slidenum">
              <a:rPr lang="fr-FR" smtClean="0"/>
              <a:t>‹N°›</a:t>
            </a:fld>
            <a:endParaRPr lang="fr-FR"/>
          </a:p>
        </p:txBody>
      </p:sp>
    </p:spTree>
    <p:extLst>
      <p:ext uri="{BB962C8B-B14F-4D97-AF65-F5344CB8AC3E}">
        <p14:creationId xmlns:p14="http://schemas.microsoft.com/office/powerpoint/2010/main" val="3136764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B2DBF98-4E30-4C81-8846-0BA8BC5B970A}" type="slidenum">
              <a:rPr lang="fr-FR" smtClean="0"/>
              <a:t>1</a:t>
            </a:fld>
            <a:endParaRPr lang="fr-FR"/>
          </a:p>
        </p:txBody>
      </p:sp>
    </p:spTree>
    <p:extLst>
      <p:ext uri="{BB962C8B-B14F-4D97-AF65-F5344CB8AC3E}">
        <p14:creationId xmlns:p14="http://schemas.microsoft.com/office/powerpoint/2010/main" val="658798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B2DBF98-4E30-4C81-8846-0BA8BC5B970A}" type="slidenum">
              <a:rPr lang="fr-FR" smtClean="0"/>
              <a:t>7</a:t>
            </a:fld>
            <a:endParaRPr lang="fr-FR"/>
          </a:p>
        </p:txBody>
      </p:sp>
    </p:spTree>
    <p:extLst>
      <p:ext uri="{BB962C8B-B14F-4D97-AF65-F5344CB8AC3E}">
        <p14:creationId xmlns:p14="http://schemas.microsoft.com/office/powerpoint/2010/main" val="1676907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3EE5C-4337-2EE2-42C9-B09C1ACD38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AC04501-B105-985C-3592-6B496E0E592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A271BB0-B9D3-DDCE-890A-1386DD1B35E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F30A099-E239-28F7-0D80-98676109648D}"/>
              </a:ext>
            </a:extLst>
          </p:cNvPr>
          <p:cNvSpPr>
            <a:spLocks noGrp="1"/>
          </p:cNvSpPr>
          <p:nvPr>
            <p:ph type="sldNum" sz="quarter" idx="5"/>
          </p:nvPr>
        </p:nvSpPr>
        <p:spPr/>
        <p:txBody>
          <a:bodyPr/>
          <a:lstStyle/>
          <a:p>
            <a:fld id="{5B2DBF98-4E30-4C81-8846-0BA8BC5B970A}" type="slidenum">
              <a:rPr lang="fr-FR" smtClean="0"/>
              <a:t>10</a:t>
            </a:fld>
            <a:endParaRPr lang="fr-FR"/>
          </a:p>
        </p:txBody>
      </p:sp>
    </p:spTree>
    <p:extLst>
      <p:ext uri="{BB962C8B-B14F-4D97-AF65-F5344CB8AC3E}">
        <p14:creationId xmlns:p14="http://schemas.microsoft.com/office/powerpoint/2010/main" val="2223572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B2DBF98-4E30-4C81-8846-0BA8BC5B970A}" type="slidenum">
              <a:rPr lang="fr-FR" smtClean="0"/>
              <a:t>25</a:t>
            </a:fld>
            <a:endParaRPr lang="fr-FR"/>
          </a:p>
        </p:txBody>
      </p:sp>
    </p:spTree>
    <p:extLst>
      <p:ext uri="{BB962C8B-B14F-4D97-AF65-F5344CB8AC3E}">
        <p14:creationId xmlns:p14="http://schemas.microsoft.com/office/powerpoint/2010/main" val="2440622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EC3BA-BE81-A0A9-8D5D-CE60DD653C0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AF071FF-3F52-437B-938F-88530AD7C25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AB7D6F6-FEAC-C758-7938-E20A77F69DE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AFF34F8-BB31-9065-8317-13D4364AA328}"/>
              </a:ext>
            </a:extLst>
          </p:cNvPr>
          <p:cNvSpPr>
            <a:spLocks noGrp="1"/>
          </p:cNvSpPr>
          <p:nvPr>
            <p:ph type="sldNum" sz="quarter" idx="5"/>
          </p:nvPr>
        </p:nvSpPr>
        <p:spPr/>
        <p:txBody>
          <a:bodyPr/>
          <a:lstStyle/>
          <a:p>
            <a:fld id="{5B2DBF98-4E30-4C81-8846-0BA8BC5B970A}" type="slidenum">
              <a:rPr lang="fr-FR" smtClean="0"/>
              <a:t>26</a:t>
            </a:fld>
            <a:endParaRPr lang="fr-FR"/>
          </a:p>
        </p:txBody>
      </p:sp>
    </p:spTree>
    <p:extLst>
      <p:ext uri="{BB962C8B-B14F-4D97-AF65-F5344CB8AC3E}">
        <p14:creationId xmlns:p14="http://schemas.microsoft.com/office/powerpoint/2010/main" val="1300294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6F3EB-58EB-DD04-49CA-F50102CF742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CF2BA9-4BCB-A380-C014-1B4F9047C57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F13EEF8-D848-2A72-335E-0EFDCEC7BBF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05DD4ED-A704-B2C4-EF60-B7AE0764C94D}"/>
              </a:ext>
            </a:extLst>
          </p:cNvPr>
          <p:cNvSpPr>
            <a:spLocks noGrp="1"/>
          </p:cNvSpPr>
          <p:nvPr>
            <p:ph type="sldNum" sz="quarter" idx="5"/>
          </p:nvPr>
        </p:nvSpPr>
        <p:spPr/>
        <p:txBody>
          <a:bodyPr/>
          <a:lstStyle/>
          <a:p>
            <a:fld id="{5B2DBF98-4E30-4C81-8846-0BA8BC5B970A}" type="slidenum">
              <a:rPr lang="fr-FR" smtClean="0"/>
              <a:t>27</a:t>
            </a:fld>
            <a:endParaRPr lang="fr-FR"/>
          </a:p>
        </p:txBody>
      </p:sp>
    </p:spTree>
    <p:extLst>
      <p:ext uri="{BB962C8B-B14F-4D97-AF65-F5344CB8AC3E}">
        <p14:creationId xmlns:p14="http://schemas.microsoft.com/office/powerpoint/2010/main" val="223339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A0D28-DEE1-4554-8F08-4E6E71F146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D07D540-7DC1-D12B-80D8-643DDEF15BF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9BD6A7-E69A-200A-D802-89227E12CEB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84D455C-A0E0-6488-40EF-3378B22168EB}"/>
              </a:ext>
            </a:extLst>
          </p:cNvPr>
          <p:cNvSpPr>
            <a:spLocks noGrp="1"/>
          </p:cNvSpPr>
          <p:nvPr>
            <p:ph type="sldNum" sz="quarter" idx="5"/>
          </p:nvPr>
        </p:nvSpPr>
        <p:spPr/>
        <p:txBody>
          <a:bodyPr/>
          <a:lstStyle/>
          <a:p>
            <a:fld id="{5B2DBF98-4E30-4C81-8846-0BA8BC5B970A}" type="slidenum">
              <a:rPr lang="fr-FR" smtClean="0"/>
              <a:t>28</a:t>
            </a:fld>
            <a:endParaRPr lang="fr-FR"/>
          </a:p>
        </p:txBody>
      </p:sp>
    </p:spTree>
    <p:extLst>
      <p:ext uri="{BB962C8B-B14F-4D97-AF65-F5344CB8AC3E}">
        <p14:creationId xmlns:p14="http://schemas.microsoft.com/office/powerpoint/2010/main" val="1181443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B2A9B-6CB3-7F90-02B7-D67FA5AE4EC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56E2AA3-7796-DEF0-C312-02CE84990F2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C0CBCD7-F717-A149-6B8A-121562DB2BF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BE8CFA7-0D17-98AB-6C84-9E6848569F88}"/>
              </a:ext>
            </a:extLst>
          </p:cNvPr>
          <p:cNvSpPr>
            <a:spLocks noGrp="1"/>
          </p:cNvSpPr>
          <p:nvPr>
            <p:ph type="sldNum" sz="quarter" idx="5"/>
          </p:nvPr>
        </p:nvSpPr>
        <p:spPr/>
        <p:txBody>
          <a:bodyPr/>
          <a:lstStyle/>
          <a:p>
            <a:fld id="{5B2DBF98-4E30-4C81-8846-0BA8BC5B970A}" type="slidenum">
              <a:rPr lang="fr-FR" smtClean="0"/>
              <a:t>29</a:t>
            </a:fld>
            <a:endParaRPr lang="fr-FR"/>
          </a:p>
        </p:txBody>
      </p:sp>
    </p:spTree>
    <p:extLst>
      <p:ext uri="{BB962C8B-B14F-4D97-AF65-F5344CB8AC3E}">
        <p14:creationId xmlns:p14="http://schemas.microsoft.com/office/powerpoint/2010/main" val="3847226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E4E0DF-12EF-BB71-FA8D-D1EC78BED91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F1429DD-3477-6DB8-BA26-A3CF16623E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EE3CA56-5EA4-FD22-3509-C0A1AC2A3AB1}"/>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5" name="Espace réservé du pied de page 4">
            <a:extLst>
              <a:ext uri="{FF2B5EF4-FFF2-40B4-BE49-F238E27FC236}">
                <a16:creationId xmlns:a16="http://schemas.microsoft.com/office/drawing/2014/main" id="{CC27B40B-B54B-FB05-015E-E6521C996D5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CDA64A8-FC15-0A5F-CB57-2EF2CA3F7FFC}"/>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433258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CD5C78-9571-3259-0317-9189604ED58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832DB26-A288-3A05-B692-4AA6E402A5B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34FFA63-3C80-32EA-740D-63C3A89881A7}"/>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5" name="Espace réservé du pied de page 4">
            <a:extLst>
              <a:ext uri="{FF2B5EF4-FFF2-40B4-BE49-F238E27FC236}">
                <a16:creationId xmlns:a16="http://schemas.microsoft.com/office/drawing/2014/main" id="{60CA606F-76D2-21F4-D2BA-0DD70071316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CF2F930-ABCA-5AE5-8387-A1CCB74BF2AF}"/>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2007334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CB4FC2-7206-B75E-321C-608788BE60F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AF418FB-8339-7924-21E6-BA6C59C9AF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B6BBB4B-4AE0-3234-2890-F9E8909C9D00}"/>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5" name="Espace réservé du pied de page 4">
            <a:extLst>
              <a:ext uri="{FF2B5EF4-FFF2-40B4-BE49-F238E27FC236}">
                <a16:creationId xmlns:a16="http://schemas.microsoft.com/office/drawing/2014/main" id="{737B2D67-4937-86FB-48BA-8FF1C4EB520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4FE6864-EF88-004F-4BDF-11EDC4955729}"/>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399326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00FD06-1747-EC2D-E977-BED76538A03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D203A5D-8D42-FE24-FF11-1D9D5359A7B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C24DD6F-8F63-CEF8-33E3-BCA4636673B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12170C8-2CF8-001F-0AFE-D227583DC428}"/>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6" name="Espace réservé du pied de page 5">
            <a:extLst>
              <a:ext uri="{FF2B5EF4-FFF2-40B4-BE49-F238E27FC236}">
                <a16:creationId xmlns:a16="http://schemas.microsoft.com/office/drawing/2014/main" id="{C3681BFD-869B-9EDB-4BDE-D4195E02011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0FFFDF3-5B45-0F83-B7D6-9DC85DEA96EA}"/>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2452906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92BDA3-A238-BC8D-E72A-8DB44B6401C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55F25A4-4EEB-9E66-0F00-6E7A352080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17B5C49-0D0C-DB89-5437-155DE2D2B99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E5E49CA-8A3F-E237-E903-EA8F376B1C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E3AF1E7-D40A-55A4-3B07-6A2BE7D3DA4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7D318CC-ACEB-0F5D-A93A-3FCC5BC8D49D}"/>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8" name="Espace réservé du pied de page 7">
            <a:extLst>
              <a:ext uri="{FF2B5EF4-FFF2-40B4-BE49-F238E27FC236}">
                <a16:creationId xmlns:a16="http://schemas.microsoft.com/office/drawing/2014/main" id="{B98B6D5B-5BE7-FFD1-504E-02A2FB1593BE}"/>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0260816-7624-EC14-44BD-A40E52ED7041}"/>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4018376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96CF65-4349-51C9-60CC-31053244788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65AB8AF-CDCE-0A09-8F94-2F465A7D92C1}"/>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4" name="Espace réservé du pied de page 3">
            <a:extLst>
              <a:ext uri="{FF2B5EF4-FFF2-40B4-BE49-F238E27FC236}">
                <a16:creationId xmlns:a16="http://schemas.microsoft.com/office/drawing/2014/main" id="{140940F5-74C6-A6C6-765A-67634289942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7BDEA26F-1D25-FC65-D138-1D54C7D8A765}"/>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1802385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174976B-C348-EAC7-C9BA-7EDCFB0EC840}"/>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3" name="Espace réservé du pied de page 2">
            <a:extLst>
              <a:ext uri="{FF2B5EF4-FFF2-40B4-BE49-F238E27FC236}">
                <a16:creationId xmlns:a16="http://schemas.microsoft.com/office/drawing/2014/main" id="{C82F8725-A198-7346-A5FC-B0892A3736A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D2559206-F5A5-559B-9B07-240BFCD00D7E}"/>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3271652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7E234F-D388-F6F2-5650-173A036B9DB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F14ED5E-FD9E-C760-2570-534469FEDE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BBEF6DE-36C5-B39B-D5F4-6C080FE53E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3AB0858-BC37-0136-BC82-392701AF34AB}"/>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6" name="Espace réservé du pied de page 5">
            <a:extLst>
              <a:ext uri="{FF2B5EF4-FFF2-40B4-BE49-F238E27FC236}">
                <a16:creationId xmlns:a16="http://schemas.microsoft.com/office/drawing/2014/main" id="{94803849-F515-235C-7E90-9D89EB395A7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33B67AA-E3B2-AF77-BBDB-08DCC20A4736}"/>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1469495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1A60F8-6752-42BF-C0D0-93C25A16C15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1640FCB-FF63-775C-8B63-E82F31BF23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34B5F10-466B-B9F1-AA74-428D18E20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32ED7E5-32DD-76E3-8542-C533238F8299}"/>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6" name="Espace réservé du pied de page 5">
            <a:extLst>
              <a:ext uri="{FF2B5EF4-FFF2-40B4-BE49-F238E27FC236}">
                <a16:creationId xmlns:a16="http://schemas.microsoft.com/office/drawing/2014/main" id="{B9ED9F06-C96C-FAB7-1644-853625B8CA7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D8CEC9D-EAFD-1BCC-C7B0-17C2397AD55F}"/>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544028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29EED0-F47B-4442-3CA9-6F18A143F5C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6EB6FC7-1578-B30B-7FE3-5BF69F9B6A7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90D1AD1-B5FB-1ACA-F8E3-0E5A43FF3665}"/>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5" name="Espace réservé du pied de page 4">
            <a:extLst>
              <a:ext uri="{FF2B5EF4-FFF2-40B4-BE49-F238E27FC236}">
                <a16:creationId xmlns:a16="http://schemas.microsoft.com/office/drawing/2014/main" id="{DA1F4F92-35BE-8B62-751D-0C6FA91F21C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5E6375E-EF83-44EF-0C28-0300271C0855}"/>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3010885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5F02833-FD12-5402-558D-9437C2CBBBB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F46466FE-67FA-A122-F8BD-7560CB19E62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70D5DE9-100B-3666-4E48-0242642296D3}"/>
              </a:ext>
            </a:extLst>
          </p:cNvPr>
          <p:cNvSpPr>
            <a:spLocks noGrp="1"/>
          </p:cNvSpPr>
          <p:nvPr>
            <p:ph type="dt" sz="half" idx="10"/>
          </p:nvPr>
        </p:nvSpPr>
        <p:spPr/>
        <p:txBody>
          <a:bodyPr/>
          <a:lstStyle/>
          <a:p>
            <a:fld id="{94B28F83-580F-497B-A8F8-D37DAF1BA7BB}" type="datetimeFigureOut">
              <a:rPr lang="fr-FR" smtClean="0"/>
              <a:t>07/04/2025</a:t>
            </a:fld>
            <a:endParaRPr lang="fr-FR"/>
          </a:p>
        </p:txBody>
      </p:sp>
      <p:sp>
        <p:nvSpPr>
          <p:cNvPr id="5" name="Espace réservé du pied de page 4">
            <a:extLst>
              <a:ext uri="{FF2B5EF4-FFF2-40B4-BE49-F238E27FC236}">
                <a16:creationId xmlns:a16="http://schemas.microsoft.com/office/drawing/2014/main" id="{997D19A2-8589-9AC5-AAB5-63384E2901F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73E4208-2625-10F6-1BD4-44D67DFBD0FD}"/>
              </a:ext>
            </a:extLst>
          </p:cNvPr>
          <p:cNvSpPr>
            <a:spLocks noGrp="1"/>
          </p:cNvSpPr>
          <p:nvPr>
            <p:ph type="sldNum" sz="quarter" idx="12"/>
          </p:nvPr>
        </p:nvSpPr>
        <p:spPr/>
        <p:txBody>
          <a:bodyPr/>
          <a:lstStyle/>
          <a:p>
            <a:fld id="{73441F1E-36D4-46E4-9105-2DEE41BD3AFA}" type="slidenum">
              <a:rPr lang="fr-FR" smtClean="0"/>
              <a:t>‹N°›</a:t>
            </a:fld>
            <a:endParaRPr lang="fr-FR"/>
          </a:p>
        </p:txBody>
      </p:sp>
    </p:spTree>
    <p:extLst>
      <p:ext uri="{BB962C8B-B14F-4D97-AF65-F5344CB8AC3E}">
        <p14:creationId xmlns:p14="http://schemas.microsoft.com/office/powerpoint/2010/main" val="2181785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4A448C8-1764-ADB3-3F5B-578DCD8B81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9649F6D-4719-56F7-465F-2F9B66BDB3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7576E09-1223-EC3F-E830-5D336EC615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B28F83-580F-497B-A8F8-D37DAF1BA7BB}" type="datetimeFigureOut">
              <a:rPr lang="fr-FR" smtClean="0"/>
              <a:t>07/04/2025</a:t>
            </a:fld>
            <a:endParaRPr lang="fr-FR"/>
          </a:p>
        </p:txBody>
      </p:sp>
      <p:sp>
        <p:nvSpPr>
          <p:cNvPr id="5" name="Espace réservé du pied de page 4">
            <a:extLst>
              <a:ext uri="{FF2B5EF4-FFF2-40B4-BE49-F238E27FC236}">
                <a16:creationId xmlns:a16="http://schemas.microsoft.com/office/drawing/2014/main" id="{66D1C1DB-93BD-40C9-CAA7-7D937B2C6D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95A5A78-FBD1-3CD8-245E-D0D3F84AD6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441F1E-36D4-46E4-9105-2DEE41BD3AFA}" type="slidenum">
              <a:rPr lang="fr-FR" smtClean="0"/>
              <a:t>‹N°›</a:t>
            </a:fld>
            <a:endParaRPr lang="fr-FR"/>
          </a:p>
        </p:txBody>
      </p:sp>
    </p:spTree>
    <p:extLst>
      <p:ext uri="{BB962C8B-B14F-4D97-AF65-F5344CB8AC3E}">
        <p14:creationId xmlns:p14="http://schemas.microsoft.com/office/powerpoint/2010/main" val="445144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png"/><Relationship Id="rId3" Type="http://schemas.openxmlformats.org/officeDocument/2006/relationships/image" Target="../media/image5.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12.png"/><Relationship Id="rId5" Type="http://schemas.openxmlformats.org/officeDocument/2006/relationships/image" Target="../media/image7.png"/><Relationship Id="rId10" Type="http://schemas.openxmlformats.org/officeDocument/2006/relationships/image" Target="../media/image11.svg"/><Relationship Id="rId4" Type="http://schemas.openxmlformats.org/officeDocument/2006/relationships/image" Target="../media/image6.sv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microsoft.com/office/2007/relationships/hdphoto" Target="../media/hdphoto2.wdp"/><Relationship Id="rId10"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17.svg"/></Relationships>
</file>

<file path=ppt/slides/_rels/slide1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14.png"/><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1.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3.jpg"/><Relationship Id="rId5" Type="http://schemas.openxmlformats.org/officeDocument/2006/relationships/image" Target="../media/image32.jp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1.xml"/><Relationship Id="rId5" Type="http://schemas.openxmlformats.org/officeDocument/2006/relationships/image" Target="../media/image35.jpg"/><Relationship Id="rId4" Type="http://schemas.openxmlformats.org/officeDocument/2006/relationships/image" Target="../media/image34.jpg"/></Relationships>
</file>

<file path=ppt/slides/_rels/slide3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1.xml"/><Relationship Id="rId6" Type="http://schemas.openxmlformats.org/officeDocument/2006/relationships/image" Target="../media/image36.jpg"/><Relationship Id="rId5" Type="http://schemas.openxmlformats.org/officeDocument/2006/relationships/image" Target="../media/image33.jpg"/><Relationship Id="rId4" Type="http://schemas.openxmlformats.org/officeDocument/2006/relationships/image" Target="../media/image32.jpg"/></Relationships>
</file>

<file path=ppt/slides/_rels/slide3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4.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CF3">
                <a:lumMod val="0"/>
                <a:lumOff val="100000"/>
              </a:srgbClr>
            </a:gs>
            <a:gs pos="74000">
              <a:schemeClr val="accent6">
                <a:lumMod val="20000"/>
                <a:lumOff val="80000"/>
              </a:schemeClr>
            </a:gs>
            <a:gs pos="83000">
              <a:schemeClr val="accent6">
                <a:lumMod val="20000"/>
                <a:lumOff val="80000"/>
              </a:schemeClr>
            </a:gs>
            <a:gs pos="100000">
              <a:schemeClr val="accent6">
                <a:lumMod val="20000"/>
                <a:lumOff val="80000"/>
              </a:schemeClr>
            </a:gs>
          </a:gsLst>
          <a:lin ang="5400000" scaled="1"/>
        </a:gradFill>
        <a:effectLst/>
      </p:bgPr>
    </p:bg>
    <p:spTree>
      <p:nvGrpSpPr>
        <p:cNvPr id="1" name="">
          <a:extLst>
            <a:ext uri="{FF2B5EF4-FFF2-40B4-BE49-F238E27FC236}">
              <a16:creationId xmlns:a16="http://schemas.microsoft.com/office/drawing/2014/main" id="{9647404A-E052-9482-0771-B57B569E9F77}"/>
            </a:ext>
          </a:extLst>
        </p:cNvPr>
        <p:cNvGrpSpPr/>
        <p:nvPr/>
      </p:nvGrpSpPr>
      <p:grpSpPr>
        <a:xfrm>
          <a:off x="0" y="0"/>
          <a:ext cx="0" cy="0"/>
          <a:chOff x="0" y="0"/>
          <a:chExt cx="0" cy="0"/>
        </a:xfrm>
      </p:grpSpPr>
      <p:pic>
        <p:nvPicPr>
          <p:cNvPr id="21" name="Image 20">
            <a:extLst>
              <a:ext uri="{FF2B5EF4-FFF2-40B4-BE49-F238E27FC236}">
                <a16:creationId xmlns:a16="http://schemas.microsoft.com/office/drawing/2014/main" id="{6921CAF4-1613-661D-1036-96121AA7B8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994256">
            <a:off x="-1227126" y="4709146"/>
            <a:ext cx="5052732" cy="3809814"/>
          </a:xfrm>
          <a:prstGeom prst="rect">
            <a:avLst/>
          </a:prstGeom>
        </p:spPr>
      </p:pic>
      <p:sp>
        <p:nvSpPr>
          <p:cNvPr id="18" name="Forme libre : forme 17">
            <a:extLst>
              <a:ext uri="{FF2B5EF4-FFF2-40B4-BE49-F238E27FC236}">
                <a16:creationId xmlns:a16="http://schemas.microsoft.com/office/drawing/2014/main" id="{A6C5135F-1EEA-C8B8-F509-592FBF97516C}"/>
              </a:ext>
            </a:extLst>
          </p:cNvPr>
          <p:cNvSpPr/>
          <p:nvPr/>
        </p:nvSpPr>
        <p:spPr>
          <a:xfrm>
            <a:off x="1" y="0"/>
            <a:ext cx="6952022" cy="6858000"/>
          </a:xfrm>
          <a:custGeom>
            <a:avLst/>
            <a:gdLst>
              <a:gd name="connsiteX0" fmla="*/ 0 w 6825511"/>
              <a:gd name="connsiteY0" fmla="*/ 0 h 6858000"/>
              <a:gd name="connsiteX1" fmla="*/ 4561011 w 6825511"/>
              <a:gd name="connsiteY1" fmla="*/ 0 h 6858000"/>
              <a:gd name="connsiteX2" fmla="*/ 4545069 w 6825511"/>
              <a:gd name="connsiteY2" fmla="*/ 17683 h 6858000"/>
              <a:gd name="connsiteX3" fmla="*/ 4367606 w 6825511"/>
              <a:gd name="connsiteY3" fmla="*/ 517246 h 6858000"/>
              <a:gd name="connsiteX4" fmla="*/ 5972886 w 6825511"/>
              <a:gd name="connsiteY4" fmla="*/ 2046093 h 6858000"/>
              <a:gd name="connsiteX5" fmla="*/ 4834966 w 6825511"/>
              <a:gd name="connsiteY5" fmla="*/ 3914684 h 6858000"/>
              <a:gd name="connsiteX6" fmla="*/ 6816166 w 6825511"/>
              <a:gd name="connsiteY6" fmla="*/ 5307634 h 6858000"/>
              <a:gd name="connsiteX7" fmla="*/ 5292166 w 6825511"/>
              <a:gd name="connsiteY7" fmla="*/ 6768532 h 6858000"/>
              <a:gd name="connsiteX8" fmla="*/ 4892727 w 6825511"/>
              <a:gd name="connsiteY8" fmla="*/ 6841687 h 6858000"/>
              <a:gd name="connsiteX9" fmla="*/ 4794161 w 6825511"/>
              <a:gd name="connsiteY9" fmla="*/ 6858000 h 6858000"/>
              <a:gd name="connsiteX10" fmla="*/ 0 w 6825511"/>
              <a:gd name="connsiteY10" fmla="*/ 6858000 h 6858000"/>
              <a:gd name="connsiteX11" fmla="*/ 0 w 6825511"/>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25511" h="6858000">
                <a:moveTo>
                  <a:pt x="0" y="0"/>
                </a:moveTo>
                <a:lnTo>
                  <a:pt x="4561011" y="0"/>
                </a:lnTo>
                <a:lnTo>
                  <a:pt x="4545069" y="17683"/>
                </a:lnTo>
                <a:cubicBezTo>
                  <a:pt x="4408881" y="178829"/>
                  <a:pt x="4320616" y="351621"/>
                  <a:pt x="4367606" y="517246"/>
                </a:cubicBezTo>
                <a:cubicBezTo>
                  <a:pt x="4492913" y="958913"/>
                  <a:pt x="5894993" y="1479854"/>
                  <a:pt x="5972886" y="2046093"/>
                </a:cubicBezTo>
                <a:cubicBezTo>
                  <a:pt x="6050779" y="2612333"/>
                  <a:pt x="4694419" y="3371094"/>
                  <a:pt x="4834966" y="3914684"/>
                </a:cubicBezTo>
                <a:cubicBezTo>
                  <a:pt x="4975513" y="4458274"/>
                  <a:pt x="6739966" y="4831993"/>
                  <a:pt x="6816166" y="5307634"/>
                </a:cubicBezTo>
                <a:cubicBezTo>
                  <a:pt x="6892366" y="5783275"/>
                  <a:pt x="6513059" y="6525049"/>
                  <a:pt x="5292166" y="6768532"/>
                </a:cubicBezTo>
                <a:cubicBezTo>
                  <a:pt x="5177708" y="6791359"/>
                  <a:pt x="5043276" y="6816126"/>
                  <a:pt x="4892727" y="6841687"/>
                </a:cubicBezTo>
                <a:lnTo>
                  <a:pt x="4794161" y="6858000"/>
                </a:lnTo>
                <a:lnTo>
                  <a:pt x="0" y="6858000"/>
                </a:lnTo>
                <a:lnTo>
                  <a:pt x="0" y="0"/>
                </a:lnTo>
                <a:close/>
              </a:path>
            </a:pathLst>
          </a:custGeom>
          <a:solidFill>
            <a:srgbClr val="FFFC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6" name="Forme libre : forme 15">
            <a:extLst>
              <a:ext uri="{FF2B5EF4-FFF2-40B4-BE49-F238E27FC236}">
                <a16:creationId xmlns:a16="http://schemas.microsoft.com/office/drawing/2014/main" id="{0ED73F0B-BE44-54DA-C171-4C6AC7CDAFD2}"/>
              </a:ext>
            </a:extLst>
          </p:cNvPr>
          <p:cNvSpPr/>
          <p:nvPr/>
        </p:nvSpPr>
        <p:spPr>
          <a:xfrm>
            <a:off x="4354860" y="16868"/>
            <a:ext cx="7837140" cy="6858000"/>
          </a:xfrm>
          <a:custGeom>
            <a:avLst/>
            <a:gdLst>
              <a:gd name="connsiteX0" fmla="*/ 206151 w 7837140"/>
              <a:gd name="connsiteY0" fmla="*/ 0 h 6858000"/>
              <a:gd name="connsiteX1" fmla="*/ 7837140 w 7837140"/>
              <a:gd name="connsiteY1" fmla="*/ 0 h 6858000"/>
              <a:gd name="connsiteX2" fmla="*/ 7837140 w 7837140"/>
              <a:gd name="connsiteY2" fmla="*/ 6858000 h 6858000"/>
              <a:gd name="connsiteX3" fmla="*/ 439301 w 7837140"/>
              <a:gd name="connsiteY3" fmla="*/ 6858000 h 6858000"/>
              <a:gd name="connsiteX4" fmla="*/ 537867 w 7837140"/>
              <a:gd name="connsiteY4" fmla="*/ 6841687 h 6858000"/>
              <a:gd name="connsiteX5" fmla="*/ 937306 w 7837140"/>
              <a:gd name="connsiteY5" fmla="*/ 6768532 h 6858000"/>
              <a:gd name="connsiteX6" fmla="*/ 2461306 w 7837140"/>
              <a:gd name="connsiteY6" fmla="*/ 5307634 h 6858000"/>
              <a:gd name="connsiteX7" fmla="*/ 480106 w 7837140"/>
              <a:gd name="connsiteY7" fmla="*/ 3914684 h 6858000"/>
              <a:gd name="connsiteX8" fmla="*/ 1618026 w 7837140"/>
              <a:gd name="connsiteY8" fmla="*/ 2046093 h 6858000"/>
              <a:gd name="connsiteX9" fmla="*/ 12746 w 7837140"/>
              <a:gd name="connsiteY9" fmla="*/ 517246 h 6858000"/>
              <a:gd name="connsiteX10" fmla="*/ 190209 w 7837140"/>
              <a:gd name="connsiteY10" fmla="*/ 17683 h 6858000"/>
              <a:gd name="connsiteX11" fmla="*/ 206151 w 7837140"/>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37140" h="6858000">
                <a:moveTo>
                  <a:pt x="206151" y="0"/>
                </a:moveTo>
                <a:lnTo>
                  <a:pt x="7837140" y="0"/>
                </a:lnTo>
                <a:lnTo>
                  <a:pt x="7837140" y="6858000"/>
                </a:lnTo>
                <a:lnTo>
                  <a:pt x="439301" y="6858000"/>
                </a:lnTo>
                <a:lnTo>
                  <a:pt x="537867" y="6841687"/>
                </a:lnTo>
                <a:cubicBezTo>
                  <a:pt x="688416" y="6816126"/>
                  <a:pt x="822848" y="6791359"/>
                  <a:pt x="937306" y="6768532"/>
                </a:cubicBezTo>
                <a:cubicBezTo>
                  <a:pt x="2158199" y="6525049"/>
                  <a:pt x="2537506" y="5783275"/>
                  <a:pt x="2461306" y="5307634"/>
                </a:cubicBezTo>
                <a:cubicBezTo>
                  <a:pt x="2385106" y="4831993"/>
                  <a:pt x="620653" y="4458274"/>
                  <a:pt x="480106" y="3914684"/>
                </a:cubicBezTo>
                <a:cubicBezTo>
                  <a:pt x="339559" y="3371094"/>
                  <a:pt x="1695919" y="2612333"/>
                  <a:pt x="1618026" y="2046093"/>
                </a:cubicBezTo>
                <a:cubicBezTo>
                  <a:pt x="1540133" y="1479854"/>
                  <a:pt x="138053" y="958913"/>
                  <a:pt x="12746" y="517246"/>
                </a:cubicBezTo>
                <a:cubicBezTo>
                  <a:pt x="-34244" y="351621"/>
                  <a:pt x="54021" y="178829"/>
                  <a:pt x="190209" y="17683"/>
                </a:cubicBezTo>
                <a:lnTo>
                  <a:pt x="206151" y="0"/>
                </a:lnTo>
                <a:close/>
              </a:path>
            </a:pathLst>
          </a:custGeom>
          <a:solidFill>
            <a:srgbClr val="FFFC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2" name="ZoneTexte 21">
            <a:extLst>
              <a:ext uri="{FF2B5EF4-FFF2-40B4-BE49-F238E27FC236}">
                <a16:creationId xmlns:a16="http://schemas.microsoft.com/office/drawing/2014/main" id="{EC0BA0A3-2DFA-8B0E-A8CD-047249619789}"/>
              </a:ext>
            </a:extLst>
          </p:cNvPr>
          <p:cNvSpPr txBox="1"/>
          <p:nvPr/>
        </p:nvSpPr>
        <p:spPr>
          <a:xfrm>
            <a:off x="2057401" y="1678028"/>
            <a:ext cx="8473441" cy="2800767"/>
          </a:xfrm>
          <a:prstGeom prst="rect">
            <a:avLst/>
          </a:prstGeom>
          <a:noFill/>
        </p:spPr>
        <p:txBody>
          <a:bodyPr wrap="square" rtlCol="0">
            <a:spAutoFit/>
          </a:bodyPr>
          <a:lstStyle/>
          <a:p>
            <a:pPr algn="ctr"/>
            <a:r>
              <a:rPr lang="fr-FR" sz="8800" dirty="0">
                <a:solidFill>
                  <a:schemeClr val="tx2">
                    <a:lumMod val="75000"/>
                  </a:schemeClr>
                </a:solidFill>
                <a:latin typeface="Arial Black" panose="020B0A04020102020204" pitchFamily="34" charset="0"/>
              </a:rPr>
              <a:t>Algorithme Des Lucioles </a:t>
            </a:r>
          </a:p>
        </p:txBody>
      </p:sp>
      <p:sp>
        <p:nvSpPr>
          <p:cNvPr id="23" name="ZoneTexte 22">
            <a:extLst>
              <a:ext uri="{FF2B5EF4-FFF2-40B4-BE49-F238E27FC236}">
                <a16:creationId xmlns:a16="http://schemas.microsoft.com/office/drawing/2014/main" id="{A641106F-0B5C-698E-A32E-4107EB9E62DD}"/>
              </a:ext>
            </a:extLst>
          </p:cNvPr>
          <p:cNvSpPr txBox="1"/>
          <p:nvPr/>
        </p:nvSpPr>
        <p:spPr>
          <a:xfrm>
            <a:off x="3451861" y="4810640"/>
            <a:ext cx="5684519" cy="369332"/>
          </a:xfrm>
          <a:prstGeom prst="rect">
            <a:avLst/>
          </a:prstGeom>
          <a:noFill/>
        </p:spPr>
        <p:txBody>
          <a:bodyPr wrap="square" rtlCol="0">
            <a:spAutoFit/>
          </a:bodyPr>
          <a:lstStyle/>
          <a:p>
            <a:pPr algn="ctr"/>
            <a:r>
              <a:rPr lang="fr-FR" b="1" dirty="0">
                <a:solidFill>
                  <a:srgbClr val="15210D"/>
                </a:solidFill>
                <a:latin typeface="Aptos" panose="020B0004020202020204" pitchFamily="34" charset="0"/>
              </a:rPr>
              <a:t>Une méthode d’optimisation inspirée de la nature </a:t>
            </a:r>
          </a:p>
        </p:txBody>
      </p:sp>
    </p:spTree>
    <p:extLst>
      <p:ext uri="{BB962C8B-B14F-4D97-AF65-F5344CB8AC3E}">
        <p14:creationId xmlns:p14="http://schemas.microsoft.com/office/powerpoint/2010/main" val="40655735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FFCF3">
                <a:lumMod val="0"/>
                <a:lumOff val="100000"/>
              </a:srgbClr>
            </a:gs>
            <a:gs pos="74000">
              <a:schemeClr val="accent6">
                <a:lumMod val="20000"/>
                <a:lumOff val="80000"/>
              </a:schemeClr>
            </a:gs>
            <a:gs pos="83000">
              <a:schemeClr val="accent6">
                <a:lumMod val="20000"/>
                <a:lumOff val="80000"/>
              </a:schemeClr>
            </a:gs>
            <a:gs pos="100000">
              <a:schemeClr val="accent6">
                <a:lumMod val="20000"/>
                <a:lumOff val="80000"/>
              </a:schemeClr>
            </a:gs>
          </a:gsLst>
          <a:lin ang="5400000" scaled="1"/>
        </a:gradFill>
        <a:effectLst/>
      </p:bgPr>
    </p:bg>
    <p:spTree>
      <p:nvGrpSpPr>
        <p:cNvPr id="1" name="">
          <a:extLst>
            <a:ext uri="{FF2B5EF4-FFF2-40B4-BE49-F238E27FC236}">
              <a16:creationId xmlns:a16="http://schemas.microsoft.com/office/drawing/2014/main" id="{512AB5BA-58EE-689D-DD5E-4537DBC54A6D}"/>
            </a:ext>
          </a:extLst>
        </p:cNvPr>
        <p:cNvGrpSpPr/>
        <p:nvPr/>
      </p:nvGrpSpPr>
      <p:grpSpPr>
        <a:xfrm>
          <a:off x="0" y="0"/>
          <a:ext cx="0" cy="0"/>
          <a:chOff x="0" y="0"/>
          <a:chExt cx="0" cy="0"/>
        </a:xfrm>
      </p:grpSpPr>
      <p:sp>
        <p:nvSpPr>
          <p:cNvPr id="16" name="Forme libre : forme 15">
            <a:extLst>
              <a:ext uri="{FF2B5EF4-FFF2-40B4-BE49-F238E27FC236}">
                <a16:creationId xmlns:a16="http://schemas.microsoft.com/office/drawing/2014/main" id="{732FA9D6-2F7B-4163-C267-97D69B86890E}"/>
              </a:ext>
            </a:extLst>
          </p:cNvPr>
          <p:cNvSpPr/>
          <p:nvPr/>
        </p:nvSpPr>
        <p:spPr>
          <a:xfrm>
            <a:off x="3376246" y="-10160"/>
            <a:ext cx="8796628" cy="7101840"/>
          </a:xfrm>
          <a:custGeom>
            <a:avLst/>
            <a:gdLst>
              <a:gd name="connsiteX0" fmla="*/ 206151 w 7837140"/>
              <a:gd name="connsiteY0" fmla="*/ 0 h 6858000"/>
              <a:gd name="connsiteX1" fmla="*/ 7837140 w 7837140"/>
              <a:gd name="connsiteY1" fmla="*/ 0 h 6858000"/>
              <a:gd name="connsiteX2" fmla="*/ 7837140 w 7837140"/>
              <a:gd name="connsiteY2" fmla="*/ 6858000 h 6858000"/>
              <a:gd name="connsiteX3" fmla="*/ 439301 w 7837140"/>
              <a:gd name="connsiteY3" fmla="*/ 6858000 h 6858000"/>
              <a:gd name="connsiteX4" fmla="*/ 537867 w 7837140"/>
              <a:gd name="connsiteY4" fmla="*/ 6841687 h 6858000"/>
              <a:gd name="connsiteX5" fmla="*/ 937306 w 7837140"/>
              <a:gd name="connsiteY5" fmla="*/ 6768532 h 6858000"/>
              <a:gd name="connsiteX6" fmla="*/ 2461306 w 7837140"/>
              <a:gd name="connsiteY6" fmla="*/ 5307634 h 6858000"/>
              <a:gd name="connsiteX7" fmla="*/ 480106 w 7837140"/>
              <a:gd name="connsiteY7" fmla="*/ 3914684 h 6858000"/>
              <a:gd name="connsiteX8" fmla="*/ 1618026 w 7837140"/>
              <a:gd name="connsiteY8" fmla="*/ 2046093 h 6858000"/>
              <a:gd name="connsiteX9" fmla="*/ 12746 w 7837140"/>
              <a:gd name="connsiteY9" fmla="*/ 517246 h 6858000"/>
              <a:gd name="connsiteX10" fmla="*/ 190209 w 7837140"/>
              <a:gd name="connsiteY10" fmla="*/ 17683 h 6858000"/>
              <a:gd name="connsiteX11" fmla="*/ 206151 w 7837140"/>
              <a:gd name="connsiteY11" fmla="*/ 0 h 6858000"/>
              <a:gd name="connsiteX0" fmla="*/ 206151 w 7837140"/>
              <a:gd name="connsiteY0" fmla="*/ 0 h 6890322"/>
              <a:gd name="connsiteX1" fmla="*/ 7837140 w 7837140"/>
              <a:gd name="connsiteY1" fmla="*/ 0 h 6890322"/>
              <a:gd name="connsiteX2" fmla="*/ 7837140 w 7837140"/>
              <a:gd name="connsiteY2" fmla="*/ 6858000 h 6890322"/>
              <a:gd name="connsiteX3" fmla="*/ 439301 w 7837140"/>
              <a:gd name="connsiteY3" fmla="*/ 6858000 h 6890322"/>
              <a:gd name="connsiteX4" fmla="*/ 537867 w 7837140"/>
              <a:gd name="connsiteY4" fmla="*/ 6841687 h 6890322"/>
              <a:gd name="connsiteX5" fmla="*/ 937306 w 7837140"/>
              <a:gd name="connsiteY5" fmla="*/ 6768532 h 6890322"/>
              <a:gd name="connsiteX6" fmla="*/ 1872026 w 7837140"/>
              <a:gd name="connsiteY6" fmla="*/ 5405746 h 6890322"/>
              <a:gd name="connsiteX7" fmla="*/ 480106 w 7837140"/>
              <a:gd name="connsiteY7" fmla="*/ 3914684 h 6890322"/>
              <a:gd name="connsiteX8" fmla="*/ 1618026 w 7837140"/>
              <a:gd name="connsiteY8" fmla="*/ 2046093 h 6890322"/>
              <a:gd name="connsiteX9" fmla="*/ 12746 w 7837140"/>
              <a:gd name="connsiteY9" fmla="*/ 517246 h 6890322"/>
              <a:gd name="connsiteX10" fmla="*/ 190209 w 7837140"/>
              <a:gd name="connsiteY10" fmla="*/ 17683 h 6890322"/>
              <a:gd name="connsiteX11" fmla="*/ 206151 w 7837140"/>
              <a:gd name="connsiteY11" fmla="*/ 0 h 6890322"/>
              <a:gd name="connsiteX0" fmla="*/ 206151 w 7837140"/>
              <a:gd name="connsiteY0" fmla="*/ 0 h 6881833"/>
              <a:gd name="connsiteX1" fmla="*/ 7837140 w 7837140"/>
              <a:gd name="connsiteY1" fmla="*/ 0 h 6881833"/>
              <a:gd name="connsiteX2" fmla="*/ 7837140 w 7837140"/>
              <a:gd name="connsiteY2" fmla="*/ 6858000 h 6881833"/>
              <a:gd name="connsiteX3" fmla="*/ 439301 w 7837140"/>
              <a:gd name="connsiteY3" fmla="*/ 6858000 h 6881833"/>
              <a:gd name="connsiteX4" fmla="*/ 537867 w 7837140"/>
              <a:gd name="connsiteY4" fmla="*/ 6841687 h 6881833"/>
              <a:gd name="connsiteX5" fmla="*/ 937306 w 7837140"/>
              <a:gd name="connsiteY5" fmla="*/ 6768532 h 6881833"/>
              <a:gd name="connsiteX6" fmla="*/ 1445306 w 7837140"/>
              <a:gd name="connsiteY6" fmla="*/ 5523480 h 6881833"/>
              <a:gd name="connsiteX7" fmla="*/ 480106 w 7837140"/>
              <a:gd name="connsiteY7" fmla="*/ 3914684 h 6881833"/>
              <a:gd name="connsiteX8" fmla="*/ 1618026 w 7837140"/>
              <a:gd name="connsiteY8" fmla="*/ 2046093 h 6881833"/>
              <a:gd name="connsiteX9" fmla="*/ 12746 w 7837140"/>
              <a:gd name="connsiteY9" fmla="*/ 517246 h 6881833"/>
              <a:gd name="connsiteX10" fmla="*/ 190209 w 7837140"/>
              <a:gd name="connsiteY10" fmla="*/ 17683 h 6881833"/>
              <a:gd name="connsiteX11" fmla="*/ 206151 w 7837140"/>
              <a:gd name="connsiteY11" fmla="*/ 0 h 6881833"/>
              <a:gd name="connsiteX0" fmla="*/ 206151 w 7837140"/>
              <a:gd name="connsiteY0" fmla="*/ 0 h 6858000"/>
              <a:gd name="connsiteX1" fmla="*/ 7837140 w 7837140"/>
              <a:gd name="connsiteY1" fmla="*/ 0 h 6858000"/>
              <a:gd name="connsiteX2" fmla="*/ 7837140 w 7837140"/>
              <a:gd name="connsiteY2" fmla="*/ 6858000 h 6858000"/>
              <a:gd name="connsiteX3" fmla="*/ 439301 w 7837140"/>
              <a:gd name="connsiteY3" fmla="*/ 6858000 h 6858000"/>
              <a:gd name="connsiteX4" fmla="*/ 537867 w 7837140"/>
              <a:gd name="connsiteY4" fmla="*/ 6841687 h 6858000"/>
              <a:gd name="connsiteX5" fmla="*/ 723946 w 7837140"/>
              <a:gd name="connsiteY5" fmla="*/ 6660610 h 6858000"/>
              <a:gd name="connsiteX6" fmla="*/ 1445306 w 7837140"/>
              <a:gd name="connsiteY6" fmla="*/ 5523480 h 6858000"/>
              <a:gd name="connsiteX7" fmla="*/ 480106 w 7837140"/>
              <a:gd name="connsiteY7" fmla="*/ 3914684 h 6858000"/>
              <a:gd name="connsiteX8" fmla="*/ 1618026 w 7837140"/>
              <a:gd name="connsiteY8" fmla="*/ 2046093 h 6858000"/>
              <a:gd name="connsiteX9" fmla="*/ 12746 w 7837140"/>
              <a:gd name="connsiteY9" fmla="*/ 517246 h 6858000"/>
              <a:gd name="connsiteX10" fmla="*/ 190209 w 7837140"/>
              <a:gd name="connsiteY10" fmla="*/ 17683 h 6858000"/>
              <a:gd name="connsiteX11" fmla="*/ 206151 w 7837140"/>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37140" h="6858000">
                <a:moveTo>
                  <a:pt x="206151" y="0"/>
                </a:moveTo>
                <a:lnTo>
                  <a:pt x="7837140" y="0"/>
                </a:lnTo>
                <a:lnTo>
                  <a:pt x="7837140" y="6858000"/>
                </a:lnTo>
                <a:lnTo>
                  <a:pt x="439301" y="6858000"/>
                </a:lnTo>
                <a:lnTo>
                  <a:pt x="537867" y="6841687"/>
                </a:lnTo>
                <a:cubicBezTo>
                  <a:pt x="688416" y="6816126"/>
                  <a:pt x="572706" y="6880311"/>
                  <a:pt x="723946" y="6660610"/>
                </a:cubicBezTo>
                <a:cubicBezTo>
                  <a:pt x="875186" y="6440909"/>
                  <a:pt x="1485946" y="5981134"/>
                  <a:pt x="1445306" y="5523480"/>
                </a:cubicBezTo>
                <a:cubicBezTo>
                  <a:pt x="1404666" y="5065826"/>
                  <a:pt x="451319" y="4494248"/>
                  <a:pt x="480106" y="3914684"/>
                </a:cubicBezTo>
                <a:cubicBezTo>
                  <a:pt x="508893" y="3335120"/>
                  <a:pt x="1695919" y="2612333"/>
                  <a:pt x="1618026" y="2046093"/>
                </a:cubicBezTo>
                <a:cubicBezTo>
                  <a:pt x="1540133" y="1479854"/>
                  <a:pt x="138053" y="958913"/>
                  <a:pt x="12746" y="517246"/>
                </a:cubicBezTo>
                <a:cubicBezTo>
                  <a:pt x="-34244" y="351621"/>
                  <a:pt x="54021" y="178829"/>
                  <a:pt x="190209" y="17683"/>
                </a:cubicBezTo>
                <a:lnTo>
                  <a:pt x="206151" y="0"/>
                </a:lnTo>
                <a:close/>
              </a:path>
            </a:pathLst>
          </a:custGeom>
          <a:solidFill>
            <a:srgbClr val="FFFC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2" name="ZoneTexte 21">
            <a:extLst>
              <a:ext uri="{FF2B5EF4-FFF2-40B4-BE49-F238E27FC236}">
                <a16:creationId xmlns:a16="http://schemas.microsoft.com/office/drawing/2014/main" id="{904B2730-4E04-6B6A-8F3F-4924939F6E31}"/>
              </a:ext>
            </a:extLst>
          </p:cNvPr>
          <p:cNvSpPr txBox="1"/>
          <p:nvPr/>
        </p:nvSpPr>
        <p:spPr>
          <a:xfrm>
            <a:off x="5087815" y="1892920"/>
            <a:ext cx="6880666" cy="2308324"/>
          </a:xfrm>
          <a:prstGeom prst="rect">
            <a:avLst/>
          </a:prstGeom>
          <a:noFill/>
        </p:spPr>
        <p:txBody>
          <a:bodyPr wrap="square" rtlCol="0">
            <a:spAutoFit/>
          </a:bodyPr>
          <a:lstStyle/>
          <a:p>
            <a:pPr algn="r"/>
            <a:r>
              <a:rPr lang="fr-FR" sz="7200" dirty="0">
                <a:solidFill>
                  <a:schemeClr val="tx2">
                    <a:lumMod val="75000"/>
                  </a:schemeClr>
                </a:solidFill>
                <a:latin typeface="Arial Black" panose="020B0A04020102020204" pitchFamily="34" charset="0"/>
              </a:rPr>
              <a:t>Algorithme Des Lucioles </a:t>
            </a:r>
          </a:p>
        </p:txBody>
      </p:sp>
      <p:sp>
        <p:nvSpPr>
          <p:cNvPr id="23" name="ZoneTexte 22">
            <a:extLst>
              <a:ext uri="{FF2B5EF4-FFF2-40B4-BE49-F238E27FC236}">
                <a16:creationId xmlns:a16="http://schemas.microsoft.com/office/drawing/2014/main" id="{4E1651B7-19C6-CEC0-D0DA-7B30256F9684}"/>
              </a:ext>
            </a:extLst>
          </p:cNvPr>
          <p:cNvSpPr txBox="1"/>
          <p:nvPr/>
        </p:nvSpPr>
        <p:spPr>
          <a:xfrm>
            <a:off x="6283962" y="4537359"/>
            <a:ext cx="5684519" cy="369332"/>
          </a:xfrm>
          <a:prstGeom prst="rect">
            <a:avLst/>
          </a:prstGeom>
          <a:noFill/>
        </p:spPr>
        <p:txBody>
          <a:bodyPr wrap="square" rtlCol="0">
            <a:spAutoFit/>
          </a:bodyPr>
          <a:lstStyle/>
          <a:p>
            <a:pPr algn="r"/>
            <a:r>
              <a:rPr lang="fr-FR" b="1" dirty="0">
                <a:solidFill>
                  <a:srgbClr val="15210D"/>
                </a:solidFill>
                <a:latin typeface="Aptos" panose="020B0004020202020204" pitchFamily="34" charset="0"/>
              </a:rPr>
              <a:t>Une méthode d’optimisation inspirée de la nature </a:t>
            </a:r>
          </a:p>
        </p:txBody>
      </p:sp>
      <p:sp>
        <p:nvSpPr>
          <p:cNvPr id="24" name="ZoneTexte 23">
            <a:extLst>
              <a:ext uri="{FF2B5EF4-FFF2-40B4-BE49-F238E27FC236}">
                <a16:creationId xmlns:a16="http://schemas.microsoft.com/office/drawing/2014/main" id="{8BDEAAB0-EFB4-2584-56F8-F408E74A5FD0}"/>
              </a:ext>
            </a:extLst>
          </p:cNvPr>
          <p:cNvSpPr txBox="1"/>
          <p:nvPr/>
        </p:nvSpPr>
        <p:spPr>
          <a:xfrm>
            <a:off x="7485096" y="6203948"/>
            <a:ext cx="4282438" cy="307777"/>
          </a:xfrm>
          <a:prstGeom prst="rect">
            <a:avLst/>
          </a:prstGeom>
          <a:noFill/>
        </p:spPr>
        <p:txBody>
          <a:bodyPr wrap="square" rtlCol="0">
            <a:spAutoFit/>
          </a:bodyPr>
          <a:lstStyle/>
          <a:p>
            <a:pPr algn="r"/>
            <a:r>
              <a:rPr lang="fr-FR" sz="1400" b="1" dirty="0">
                <a:solidFill>
                  <a:srgbClr val="15210D"/>
                </a:solidFill>
                <a:latin typeface="Aptos" panose="020B0004020202020204" pitchFamily="34" charset="0"/>
              </a:rPr>
              <a:t>Année universitaire 2024 - 2025</a:t>
            </a:r>
          </a:p>
        </p:txBody>
      </p:sp>
      <p:pic>
        <p:nvPicPr>
          <p:cNvPr id="25" name="Image 24">
            <a:extLst>
              <a:ext uri="{FF2B5EF4-FFF2-40B4-BE49-F238E27FC236}">
                <a16:creationId xmlns:a16="http://schemas.microsoft.com/office/drawing/2014/main" id="{365CAC80-8DB6-AA2A-F905-7C561FD1AD78}"/>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tretch>
            <a:fillRect/>
          </a:stretch>
        </p:blipFill>
        <p:spPr>
          <a:xfrm>
            <a:off x="6809279" y="342258"/>
            <a:ext cx="4958255" cy="1198245"/>
          </a:xfrm>
          <a:prstGeom prst="rect">
            <a:avLst/>
          </a:prstGeom>
        </p:spPr>
      </p:pic>
      <p:sp>
        <p:nvSpPr>
          <p:cNvPr id="18" name="Forme libre : forme 17">
            <a:extLst>
              <a:ext uri="{FF2B5EF4-FFF2-40B4-BE49-F238E27FC236}">
                <a16:creationId xmlns:a16="http://schemas.microsoft.com/office/drawing/2014/main" id="{52006499-1F73-ADD6-CDB4-9300FDD8B214}"/>
              </a:ext>
            </a:extLst>
          </p:cNvPr>
          <p:cNvSpPr/>
          <p:nvPr/>
        </p:nvSpPr>
        <p:spPr>
          <a:xfrm>
            <a:off x="-3726550" y="-157662"/>
            <a:ext cx="7250329" cy="7249341"/>
          </a:xfrm>
          <a:custGeom>
            <a:avLst/>
            <a:gdLst>
              <a:gd name="connsiteX0" fmla="*/ 0 w 6825511"/>
              <a:gd name="connsiteY0" fmla="*/ 0 h 6858000"/>
              <a:gd name="connsiteX1" fmla="*/ 4561011 w 6825511"/>
              <a:gd name="connsiteY1" fmla="*/ 0 h 6858000"/>
              <a:gd name="connsiteX2" fmla="*/ 4545069 w 6825511"/>
              <a:gd name="connsiteY2" fmla="*/ 17683 h 6858000"/>
              <a:gd name="connsiteX3" fmla="*/ 4367606 w 6825511"/>
              <a:gd name="connsiteY3" fmla="*/ 517246 h 6858000"/>
              <a:gd name="connsiteX4" fmla="*/ 5972886 w 6825511"/>
              <a:gd name="connsiteY4" fmla="*/ 2046093 h 6858000"/>
              <a:gd name="connsiteX5" fmla="*/ 4834966 w 6825511"/>
              <a:gd name="connsiteY5" fmla="*/ 3914684 h 6858000"/>
              <a:gd name="connsiteX6" fmla="*/ 6816166 w 6825511"/>
              <a:gd name="connsiteY6" fmla="*/ 5307634 h 6858000"/>
              <a:gd name="connsiteX7" fmla="*/ 5292166 w 6825511"/>
              <a:gd name="connsiteY7" fmla="*/ 6768532 h 6858000"/>
              <a:gd name="connsiteX8" fmla="*/ 4892727 w 6825511"/>
              <a:gd name="connsiteY8" fmla="*/ 6841687 h 6858000"/>
              <a:gd name="connsiteX9" fmla="*/ 4794161 w 6825511"/>
              <a:gd name="connsiteY9" fmla="*/ 6858000 h 6858000"/>
              <a:gd name="connsiteX10" fmla="*/ 0 w 6825511"/>
              <a:gd name="connsiteY10" fmla="*/ 6858000 h 6858000"/>
              <a:gd name="connsiteX11" fmla="*/ 0 w 6825511"/>
              <a:gd name="connsiteY11" fmla="*/ 0 h 6858000"/>
              <a:gd name="connsiteX0" fmla="*/ 0 w 6825511"/>
              <a:gd name="connsiteY0" fmla="*/ 51385 h 6909385"/>
              <a:gd name="connsiteX1" fmla="*/ 4561011 w 6825511"/>
              <a:gd name="connsiteY1" fmla="*/ 51385 h 6909385"/>
              <a:gd name="connsiteX2" fmla="*/ 5124189 w 6825511"/>
              <a:gd name="connsiteY2" fmla="*/ 390 h 6909385"/>
              <a:gd name="connsiteX3" fmla="*/ 4367606 w 6825511"/>
              <a:gd name="connsiteY3" fmla="*/ 568631 h 6909385"/>
              <a:gd name="connsiteX4" fmla="*/ 5972886 w 6825511"/>
              <a:gd name="connsiteY4" fmla="*/ 2097478 h 6909385"/>
              <a:gd name="connsiteX5" fmla="*/ 4834966 w 6825511"/>
              <a:gd name="connsiteY5" fmla="*/ 3966069 h 6909385"/>
              <a:gd name="connsiteX6" fmla="*/ 6816166 w 6825511"/>
              <a:gd name="connsiteY6" fmla="*/ 5359019 h 6909385"/>
              <a:gd name="connsiteX7" fmla="*/ 5292166 w 6825511"/>
              <a:gd name="connsiteY7" fmla="*/ 6819917 h 6909385"/>
              <a:gd name="connsiteX8" fmla="*/ 4892727 w 6825511"/>
              <a:gd name="connsiteY8" fmla="*/ 6893072 h 6909385"/>
              <a:gd name="connsiteX9" fmla="*/ 4794161 w 6825511"/>
              <a:gd name="connsiteY9" fmla="*/ 6909385 h 6909385"/>
              <a:gd name="connsiteX10" fmla="*/ 0 w 6825511"/>
              <a:gd name="connsiteY10" fmla="*/ 6909385 h 6909385"/>
              <a:gd name="connsiteX11" fmla="*/ 0 w 6825511"/>
              <a:gd name="connsiteY11" fmla="*/ 51385 h 6909385"/>
              <a:gd name="connsiteX0" fmla="*/ 0 w 6825511"/>
              <a:gd name="connsiteY0" fmla="*/ 51385 h 6909385"/>
              <a:gd name="connsiteX1" fmla="*/ 4561011 w 6825511"/>
              <a:gd name="connsiteY1" fmla="*/ 51385 h 6909385"/>
              <a:gd name="connsiteX2" fmla="*/ 5124189 w 6825511"/>
              <a:gd name="connsiteY2" fmla="*/ 390 h 6909385"/>
              <a:gd name="connsiteX3" fmla="*/ 4662246 w 6825511"/>
              <a:gd name="connsiteY3" fmla="*/ 656931 h 6909385"/>
              <a:gd name="connsiteX4" fmla="*/ 5972886 w 6825511"/>
              <a:gd name="connsiteY4" fmla="*/ 2097478 h 6909385"/>
              <a:gd name="connsiteX5" fmla="*/ 4834966 w 6825511"/>
              <a:gd name="connsiteY5" fmla="*/ 3966069 h 6909385"/>
              <a:gd name="connsiteX6" fmla="*/ 6816166 w 6825511"/>
              <a:gd name="connsiteY6" fmla="*/ 5359019 h 6909385"/>
              <a:gd name="connsiteX7" fmla="*/ 5292166 w 6825511"/>
              <a:gd name="connsiteY7" fmla="*/ 6819917 h 6909385"/>
              <a:gd name="connsiteX8" fmla="*/ 4892727 w 6825511"/>
              <a:gd name="connsiteY8" fmla="*/ 6893072 h 6909385"/>
              <a:gd name="connsiteX9" fmla="*/ 4794161 w 6825511"/>
              <a:gd name="connsiteY9" fmla="*/ 6909385 h 6909385"/>
              <a:gd name="connsiteX10" fmla="*/ 0 w 6825511"/>
              <a:gd name="connsiteY10" fmla="*/ 6909385 h 6909385"/>
              <a:gd name="connsiteX11" fmla="*/ 0 w 6825511"/>
              <a:gd name="connsiteY11" fmla="*/ 51385 h 6909385"/>
              <a:gd name="connsiteX0" fmla="*/ 0 w 6825511"/>
              <a:gd name="connsiteY0" fmla="*/ 96510 h 6954510"/>
              <a:gd name="connsiteX1" fmla="*/ 4561011 w 6825511"/>
              <a:gd name="connsiteY1" fmla="*/ 96510 h 6954510"/>
              <a:gd name="connsiteX2" fmla="*/ 5851020 w 6825511"/>
              <a:gd name="connsiteY2" fmla="*/ 232 h 6954510"/>
              <a:gd name="connsiteX3" fmla="*/ 4662246 w 6825511"/>
              <a:gd name="connsiteY3" fmla="*/ 702056 h 6954510"/>
              <a:gd name="connsiteX4" fmla="*/ 5972886 w 6825511"/>
              <a:gd name="connsiteY4" fmla="*/ 2142603 h 6954510"/>
              <a:gd name="connsiteX5" fmla="*/ 4834966 w 6825511"/>
              <a:gd name="connsiteY5" fmla="*/ 4011194 h 6954510"/>
              <a:gd name="connsiteX6" fmla="*/ 6816166 w 6825511"/>
              <a:gd name="connsiteY6" fmla="*/ 5404144 h 6954510"/>
              <a:gd name="connsiteX7" fmla="*/ 5292166 w 6825511"/>
              <a:gd name="connsiteY7" fmla="*/ 6865042 h 6954510"/>
              <a:gd name="connsiteX8" fmla="*/ 4892727 w 6825511"/>
              <a:gd name="connsiteY8" fmla="*/ 6938197 h 6954510"/>
              <a:gd name="connsiteX9" fmla="*/ 4794161 w 6825511"/>
              <a:gd name="connsiteY9" fmla="*/ 6954510 h 6954510"/>
              <a:gd name="connsiteX10" fmla="*/ 0 w 6825511"/>
              <a:gd name="connsiteY10" fmla="*/ 6954510 h 6954510"/>
              <a:gd name="connsiteX11" fmla="*/ 0 w 6825511"/>
              <a:gd name="connsiteY11" fmla="*/ 96510 h 6954510"/>
              <a:gd name="connsiteX0" fmla="*/ 0 w 6825511"/>
              <a:gd name="connsiteY0" fmla="*/ 142437 h 7000437"/>
              <a:gd name="connsiteX1" fmla="*/ 4561011 w 6825511"/>
              <a:gd name="connsiteY1" fmla="*/ 142437 h 7000437"/>
              <a:gd name="connsiteX2" fmla="*/ 5851020 w 6825511"/>
              <a:gd name="connsiteY2" fmla="*/ 46159 h 7000437"/>
              <a:gd name="connsiteX3" fmla="*/ 5107723 w 6825511"/>
              <a:gd name="connsiteY3" fmla="*/ 1019677 h 7000437"/>
              <a:gd name="connsiteX4" fmla="*/ 5972886 w 6825511"/>
              <a:gd name="connsiteY4" fmla="*/ 2188530 h 7000437"/>
              <a:gd name="connsiteX5" fmla="*/ 4834966 w 6825511"/>
              <a:gd name="connsiteY5" fmla="*/ 4057121 h 7000437"/>
              <a:gd name="connsiteX6" fmla="*/ 6816166 w 6825511"/>
              <a:gd name="connsiteY6" fmla="*/ 5450071 h 7000437"/>
              <a:gd name="connsiteX7" fmla="*/ 5292166 w 6825511"/>
              <a:gd name="connsiteY7" fmla="*/ 6910969 h 7000437"/>
              <a:gd name="connsiteX8" fmla="*/ 4892727 w 6825511"/>
              <a:gd name="connsiteY8" fmla="*/ 6984124 h 7000437"/>
              <a:gd name="connsiteX9" fmla="*/ 4794161 w 6825511"/>
              <a:gd name="connsiteY9" fmla="*/ 7000437 h 7000437"/>
              <a:gd name="connsiteX10" fmla="*/ 0 w 6825511"/>
              <a:gd name="connsiteY10" fmla="*/ 7000437 h 7000437"/>
              <a:gd name="connsiteX11" fmla="*/ 0 w 6825511"/>
              <a:gd name="connsiteY11" fmla="*/ 142437 h 7000437"/>
              <a:gd name="connsiteX0" fmla="*/ 0 w 6825511"/>
              <a:gd name="connsiteY0" fmla="*/ 142437 h 7000437"/>
              <a:gd name="connsiteX1" fmla="*/ 4561011 w 6825511"/>
              <a:gd name="connsiteY1" fmla="*/ 142437 h 7000437"/>
              <a:gd name="connsiteX2" fmla="*/ 5851020 w 6825511"/>
              <a:gd name="connsiteY2" fmla="*/ 46159 h 7000437"/>
              <a:gd name="connsiteX3" fmla="*/ 5107723 w 6825511"/>
              <a:gd name="connsiteY3" fmla="*/ 1019677 h 7000437"/>
              <a:gd name="connsiteX4" fmla="*/ 6770055 w 6825511"/>
              <a:gd name="connsiteY4" fmla="*/ 2233813 h 7000437"/>
              <a:gd name="connsiteX5" fmla="*/ 4834966 w 6825511"/>
              <a:gd name="connsiteY5" fmla="*/ 4057121 h 7000437"/>
              <a:gd name="connsiteX6" fmla="*/ 6816166 w 6825511"/>
              <a:gd name="connsiteY6" fmla="*/ 5450071 h 7000437"/>
              <a:gd name="connsiteX7" fmla="*/ 5292166 w 6825511"/>
              <a:gd name="connsiteY7" fmla="*/ 6910969 h 7000437"/>
              <a:gd name="connsiteX8" fmla="*/ 4892727 w 6825511"/>
              <a:gd name="connsiteY8" fmla="*/ 6984124 h 7000437"/>
              <a:gd name="connsiteX9" fmla="*/ 4794161 w 6825511"/>
              <a:gd name="connsiteY9" fmla="*/ 7000437 h 7000437"/>
              <a:gd name="connsiteX10" fmla="*/ 0 w 6825511"/>
              <a:gd name="connsiteY10" fmla="*/ 7000437 h 7000437"/>
              <a:gd name="connsiteX11" fmla="*/ 0 w 6825511"/>
              <a:gd name="connsiteY11" fmla="*/ 142437 h 7000437"/>
              <a:gd name="connsiteX0" fmla="*/ 0 w 6817786"/>
              <a:gd name="connsiteY0" fmla="*/ 142437 h 7000437"/>
              <a:gd name="connsiteX1" fmla="*/ 4561011 w 6817786"/>
              <a:gd name="connsiteY1" fmla="*/ 142437 h 7000437"/>
              <a:gd name="connsiteX2" fmla="*/ 5851020 w 6817786"/>
              <a:gd name="connsiteY2" fmla="*/ 46159 h 7000437"/>
              <a:gd name="connsiteX3" fmla="*/ 5107723 w 6817786"/>
              <a:gd name="connsiteY3" fmla="*/ 1019677 h 7000437"/>
              <a:gd name="connsiteX4" fmla="*/ 6770055 w 6817786"/>
              <a:gd name="connsiteY4" fmla="*/ 2233813 h 7000437"/>
              <a:gd name="connsiteX5" fmla="*/ 5608689 w 6817786"/>
              <a:gd name="connsiteY5" fmla="*/ 4079762 h 7000437"/>
              <a:gd name="connsiteX6" fmla="*/ 6816166 w 6817786"/>
              <a:gd name="connsiteY6" fmla="*/ 5450071 h 7000437"/>
              <a:gd name="connsiteX7" fmla="*/ 5292166 w 6817786"/>
              <a:gd name="connsiteY7" fmla="*/ 6910969 h 7000437"/>
              <a:gd name="connsiteX8" fmla="*/ 4892727 w 6817786"/>
              <a:gd name="connsiteY8" fmla="*/ 6984124 h 7000437"/>
              <a:gd name="connsiteX9" fmla="*/ 4794161 w 6817786"/>
              <a:gd name="connsiteY9" fmla="*/ 7000437 h 7000437"/>
              <a:gd name="connsiteX10" fmla="*/ 0 w 6817786"/>
              <a:gd name="connsiteY10" fmla="*/ 7000437 h 7000437"/>
              <a:gd name="connsiteX11" fmla="*/ 0 w 6817786"/>
              <a:gd name="connsiteY11" fmla="*/ 142437 h 7000437"/>
              <a:gd name="connsiteX0" fmla="*/ 0 w 7239468"/>
              <a:gd name="connsiteY0" fmla="*/ 142437 h 7021885"/>
              <a:gd name="connsiteX1" fmla="*/ 4561011 w 7239468"/>
              <a:gd name="connsiteY1" fmla="*/ 142437 h 7021885"/>
              <a:gd name="connsiteX2" fmla="*/ 5851020 w 7239468"/>
              <a:gd name="connsiteY2" fmla="*/ 46159 h 7021885"/>
              <a:gd name="connsiteX3" fmla="*/ 5107723 w 7239468"/>
              <a:gd name="connsiteY3" fmla="*/ 1019677 h 7021885"/>
              <a:gd name="connsiteX4" fmla="*/ 6770055 w 7239468"/>
              <a:gd name="connsiteY4" fmla="*/ 2233813 h 7021885"/>
              <a:gd name="connsiteX5" fmla="*/ 5608689 w 7239468"/>
              <a:gd name="connsiteY5" fmla="*/ 4079762 h 7021885"/>
              <a:gd name="connsiteX6" fmla="*/ 7238196 w 7239468"/>
              <a:gd name="connsiteY6" fmla="*/ 5699124 h 7021885"/>
              <a:gd name="connsiteX7" fmla="*/ 5292166 w 7239468"/>
              <a:gd name="connsiteY7" fmla="*/ 6910969 h 7021885"/>
              <a:gd name="connsiteX8" fmla="*/ 4892727 w 7239468"/>
              <a:gd name="connsiteY8" fmla="*/ 6984124 h 7021885"/>
              <a:gd name="connsiteX9" fmla="*/ 4794161 w 7239468"/>
              <a:gd name="connsiteY9" fmla="*/ 7000437 h 7021885"/>
              <a:gd name="connsiteX10" fmla="*/ 0 w 7239468"/>
              <a:gd name="connsiteY10" fmla="*/ 7000437 h 7021885"/>
              <a:gd name="connsiteX11" fmla="*/ 0 w 7239468"/>
              <a:gd name="connsiteY11" fmla="*/ 142437 h 7021885"/>
              <a:gd name="connsiteX0" fmla="*/ 0 w 7250329"/>
              <a:gd name="connsiteY0" fmla="*/ 142437 h 7000437"/>
              <a:gd name="connsiteX1" fmla="*/ 4561011 w 7250329"/>
              <a:gd name="connsiteY1" fmla="*/ 142437 h 7000437"/>
              <a:gd name="connsiteX2" fmla="*/ 5851020 w 7250329"/>
              <a:gd name="connsiteY2" fmla="*/ 46159 h 7000437"/>
              <a:gd name="connsiteX3" fmla="*/ 5107723 w 7250329"/>
              <a:gd name="connsiteY3" fmla="*/ 1019677 h 7000437"/>
              <a:gd name="connsiteX4" fmla="*/ 6770055 w 7250329"/>
              <a:gd name="connsiteY4" fmla="*/ 2233813 h 7000437"/>
              <a:gd name="connsiteX5" fmla="*/ 5608689 w 7250329"/>
              <a:gd name="connsiteY5" fmla="*/ 4079762 h 7000437"/>
              <a:gd name="connsiteX6" fmla="*/ 7238196 w 7250329"/>
              <a:gd name="connsiteY6" fmla="*/ 5699124 h 7000437"/>
              <a:gd name="connsiteX7" fmla="*/ 6276904 w 7250329"/>
              <a:gd name="connsiteY7" fmla="*/ 6843047 h 7000437"/>
              <a:gd name="connsiteX8" fmla="*/ 4892727 w 7250329"/>
              <a:gd name="connsiteY8" fmla="*/ 6984124 h 7000437"/>
              <a:gd name="connsiteX9" fmla="*/ 4794161 w 7250329"/>
              <a:gd name="connsiteY9" fmla="*/ 7000437 h 7000437"/>
              <a:gd name="connsiteX10" fmla="*/ 0 w 7250329"/>
              <a:gd name="connsiteY10" fmla="*/ 7000437 h 7000437"/>
              <a:gd name="connsiteX11" fmla="*/ 0 w 7250329"/>
              <a:gd name="connsiteY11" fmla="*/ 142437 h 700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50329" h="7000437">
                <a:moveTo>
                  <a:pt x="0" y="142437"/>
                </a:moveTo>
                <a:lnTo>
                  <a:pt x="4561011" y="142437"/>
                </a:lnTo>
                <a:cubicBezTo>
                  <a:pt x="4555697" y="148331"/>
                  <a:pt x="5759901" y="-100048"/>
                  <a:pt x="5851020" y="46159"/>
                </a:cubicBezTo>
                <a:cubicBezTo>
                  <a:pt x="5942139" y="192366"/>
                  <a:pt x="4954551" y="655068"/>
                  <a:pt x="5107723" y="1019677"/>
                </a:cubicBezTo>
                <a:cubicBezTo>
                  <a:pt x="5260895" y="1384286"/>
                  <a:pt x="6686561" y="1723799"/>
                  <a:pt x="6770055" y="2233813"/>
                </a:cubicBezTo>
                <a:cubicBezTo>
                  <a:pt x="6853549" y="2743827"/>
                  <a:pt x="5530666" y="3502210"/>
                  <a:pt x="5608689" y="4079762"/>
                </a:cubicBezTo>
                <a:cubicBezTo>
                  <a:pt x="5686712" y="4657314"/>
                  <a:pt x="7126827" y="5238577"/>
                  <a:pt x="7238196" y="5699124"/>
                </a:cubicBezTo>
                <a:cubicBezTo>
                  <a:pt x="7349565" y="6159671"/>
                  <a:pt x="6667815" y="6628880"/>
                  <a:pt x="6276904" y="6843047"/>
                </a:cubicBezTo>
                <a:cubicBezTo>
                  <a:pt x="5885993" y="7057214"/>
                  <a:pt x="5043276" y="6958563"/>
                  <a:pt x="4892727" y="6984124"/>
                </a:cubicBezTo>
                <a:lnTo>
                  <a:pt x="4794161" y="7000437"/>
                </a:lnTo>
                <a:lnTo>
                  <a:pt x="0" y="7000437"/>
                </a:lnTo>
                <a:lnTo>
                  <a:pt x="0" y="142437"/>
                </a:lnTo>
                <a:close/>
              </a:path>
            </a:pathLst>
          </a:custGeom>
          <a:solidFill>
            <a:srgbClr val="FFFC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pic>
        <p:nvPicPr>
          <p:cNvPr id="21" name="Image 20">
            <a:extLst>
              <a:ext uri="{FF2B5EF4-FFF2-40B4-BE49-F238E27FC236}">
                <a16:creationId xmlns:a16="http://schemas.microsoft.com/office/drawing/2014/main" id="{7ADF0430-975F-78AC-9668-52771EAACD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994256">
            <a:off x="105684" y="1117776"/>
            <a:ext cx="5531760" cy="4171006"/>
          </a:xfrm>
          <a:prstGeom prst="rect">
            <a:avLst/>
          </a:prstGeom>
        </p:spPr>
      </p:pic>
    </p:spTree>
    <p:extLst>
      <p:ext uri="{BB962C8B-B14F-4D97-AF65-F5344CB8AC3E}">
        <p14:creationId xmlns:p14="http://schemas.microsoft.com/office/powerpoint/2010/main" val="20068082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7CD">
            <a:alpha val="30000"/>
          </a:srgbClr>
        </a:solidFill>
        <a:effectLst/>
      </p:bgPr>
    </p:bg>
    <p:spTree>
      <p:nvGrpSpPr>
        <p:cNvPr id="1" name="">
          <a:extLst>
            <a:ext uri="{FF2B5EF4-FFF2-40B4-BE49-F238E27FC236}">
              <a16:creationId xmlns:a16="http://schemas.microsoft.com/office/drawing/2014/main" id="{E2D1A061-171B-0ADC-FE0F-9F27852CBCCD}"/>
            </a:ext>
          </a:extLst>
        </p:cNvPr>
        <p:cNvGrpSpPr/>
        <p:nvPr/>
      </p:nvGrpSpPr>
      <p:grpSpPr>
        <a:xfrm>
          <a:off x="0" y="0"/>
          <a:ext cx="0" cy="0"/>
          <a:chOff x="0" y="0"/>
          <a:chExt cx="0" cy="0"/>
        </a:xfrm>
      </p:grpSpPr>
      <p:sp>
        <p:nvSpPr>
          <p:cNvPr id="16" name="Forme libre : forme 15">
            <a:extLst>
              <a:ext uri="{FF2B5EF4-FFF2-40B4-BE49-F238E27FC236}">
                <a16:creationId xmlns:a16="http://schemas.microsoft.com/office/drawing/2014/main" id="{9DB98170-7426-B81B-5CAA-71A08B1C058A}"/>
              </a:ext>
            </a:extLst>
          </p:cNvPr>
          <p:cNvSpPr/>
          <p:nvPr/>
        </p:nvSpPr>
        <p:spPr>
          <a:xfrm>
            <a:off x="12660564" y="0"/>
            <a:ext cx="7837140" cy="7101840"/>
          </a:xfrm>
          <a:custGeom>
            <a:avLst/>
            <a:gdLst>
              <a:gd name="connsiteX0" fmla="*/ 206151 w 7837140"/>
              <a:gd name="connsiteY0" fmla="*/ 0 h 6858000"/>
              <a:gd name="connsiteX1" fmla="*/ 7837140 w 7837140"/>
              <a:gd name="connsiteY1" fmla="*/ 0 h 6858000"/>
              <a:gd name="connsiteX2" fmla="*/ 7837140 w 7837140"/>
              <a:gd name="connsiteY2" fmla="*/ 6858000 h 6858000"/>
              <a:gd name="connsiteX3" fmla="*/ 439301 w 7837140"/>
              <a:gd name="connsiteY3" fmla="*/ 6858000 h 6858000"/>
              <a:gd name="connsiteX4" fmla="*/ 537867 w 7837140"/>
              <a:gd name="connsiteY4" fmla="*/ 6841687 h 6858000"/>
              <a:gd name="connsiteX5" fmla="*/ 937306 w 7837140"/>
              <a:gd name="connsiteY5" fmla="*/ 6768532 h 6858000"/>
              <a:gd name="connsiteX6" fmla="*/ 2461306 w 7837140"/>
              <a:gd name="connsiteY6" fmla="*/ 5307634 h 6858000"/>
              <a:gd name="connsiteX7" fmla="*/ 480106 w 7837140"/>
              <a:gd name="connsiteY7" fmla="*/ 3914684 h 6858000"/>
              <a:gd name="connsiteX8" fmla="*/ 1618026 w 7837140"/>
              <a:gd name="connsiteY8" fmla="*/ 2046093 h 6858000"/>
              <a:gd name="connsiteX9" fmla="*/ 12746 w 7837140"/>
              <a:gd name="connsiteY9" fmla="*/ 517246 h 6858000"/>
              <a:gd name="connsiteX10" fmla="*/ 190209 w 7837140"/>
              <a:gd name="connsiteY10" fmla="*/ 17683 h 6858000"/>
              <a:gd name="connsiteX11" fmla="*/ 206151 w 7837140"/>
              <a:gd name="connsiteY11" fmla="*/ 0 h 6858000"/>
              <a:gd name="connsiteX0" fmla="*/ 206151 w 7837140"/>
              <a:gd name="connsiteY0" fmla="*/ 0 h 6890322"/>
              <a:gd name="connsiteX1" fmla="*/ 7837140 w 7837140"/>
              <a:gd name="connsiteY1" fmla="*/ 0 h 6890322"/>
              <a:gd name="connsiteX2" fmla="*/ 7837140 w 7837140"/>
              <a:gd name="connsiteY2" fmla="*/ 6858000 h 6890322"/>
              <a:gd name="connsiteX3" fmla="*/ 439301 w 7837140"/>
              <a:gd name="connsiteY3" fmla="*/ 6858000 h 6890322"/>
              <a:gd name="connsiteX4" fmla="*/ 537867 w 7837140"/>
              <a:gd name="connsiteY4" fmla="*/ 6841687 h 6890322"/>
              <a:gd name="connsiteX5" fmla="*/ 937306 w 7837140"/>
              <a:gd name="connsiteY5" fmla="*/ 6768532 h 6890322"/>
              <a:gd name="connsiteX6" fmla="*/ 1872026 w 7837140"/>
              <a:gd name="connsiteY6" fmla="*/ 5405746 h 6890322"/>
              <a:gd name="connsiteX7" fmla="*/ 480106 w 7837140"/>
              <a:gd name="connsiteY7" fmla="*/ 3914684 h 6890322"/>
              <a:gd name="connsiteX8" fmla="*/ 1618026 w 7837140"/>
              <a:gd name="connsiteY8" fmla="*/ 2046093 h 6890322"/>
              <a:gd name="connsiteX9" fmla="*/ 12746 w 7837140"/>
              <a:gd name="connsiteY9" fmla="*/ 517246 h 6890322"/>
              <a:gd name="connsiteX10" fmla="*/ 190209 w 7837140"/>
              <a:gd name="connsiteY10" fmla="*/ 17683 h 6890322"/>
              <a:gd name="connsiteX11" fmla="*/ 206151 w 7837140"/>
              <a:gd name="connsiteY11" fmla="*/ 0 h 6890322"/>
              <a:gd name="connsiteX0" fmla="*/ 206151 w 7837140"/>
              <a:gd name="connsiteY0" fmla="*/ 0 h 6881833"/>
              <a:gd name="connsiteX1" fmla="*/ 7837140 w 7837140"/>
              <a:gd name="connsiteY1" fmla="*/ 0 h 6881833"/>
              <a:gd name="connsiteX2" fmla="*/ 7837140 w 7837140"/>
              <a:gd name="connsiteY2" fmla="*/ 6858000 h 6881833"/>
              <a:gd name="connsiteX3" fmla="*/ 439301 w 7837140"/>
              <a:gd name="connsiteY3" fmla="*/ 6858000 h 6881833"/>
              <a:gd name="connsiteX4" fmla="*/ 537867 w 7837140"/>
              <a:gd name="connsiteY4" fmla="*/ 6841687 h 6881833"/>
              <a:gd name="connsiteX5" fmla="*/ 937306 w 7837140"/>
              <a:gd name="connsiteY5" fmla="*/ 6768532 h 6881833"/>
              <a:gd name="connsiteX6" fmla="*/ 1445306 w 7837140"/>
              <a:gd name="connsiteY6" fmla="*/ 5523480 h 6881833"/>
              <a:gd name="connsiteX7" fmla="*/ 480106 w 7837140"/>
              <a:gd name="connsiteY7" fmla="*/ 3914684 h 6881833"/>
              <a:gd name="connsiteX8" fmla="*/ 1618026 w 7837140"/>
              <a:gd name="connsiteY8" fmla="*/ 2046093 h 6881833"/>
              <a:gd name="connsiteX9" fmla="*/ 12746 w 7837140"/>
              <a:gd name="connsiteY9" fmla="*/ 517246 h 6881833"/>
              <a:gd name="connsiteX10" fmla="*/ 190209 w 7837140"/>
              <a:gd name="connsiteY10" fmla="*/ 17683 h 6881833"/>
              <a:gd name="connsiteX11" fmla="*/ 206151 w 7837140"/>
              <a:gd name="connsiteY11" fmla="*/ 0 h 6881833"/>
              <a:gd name="connsiteX0" fmla="*/ 206151 w 7837140"/>
              <a:gd name="connsiteY0" fmla="*/ 0 h 6858000"/>
              <a:gd name="connsiteX1" fmla="*/ 7837140 w 7837140"/>
              <a:gd name="connsiteY1" fmla="*/ 0 h 6858000"/>
              <a:gd name="connsiteX2" fmla="*/ 7837140 w 7837140"/>
              <a:gd name="connsiteY2" fmla="*/ 6858000 h 6858000"/>
              <a:gd name="connsiteX3" fmla="*/ 439301 w 7837140"/>
              <a:gd name="connsiteY3" fmla="*/ 6858000 h 6858000"/>
              <a:gd name="connsiteX4" fmla="*/ 537867 w 7837140"/>
              <a:gd name="connsiteY4" fmla="*/ 6841687 h 6858000"/>
              <a:gd name="connsiteX5" fmla="*/ 723946 w 7837140"/>
              <a:gd name="connsiteY5" fmla="*/ 6660610 h 6858000"/>
              <a:gd name="connsiteX6" fmla="*/ 1445306 w 7837140"/>
              <a:gd name="connsiteY6" fmla="*/ 5523480 h 6858000"/>
              <a:gd name="connsiteX7" fmla="*/ 480106 w 7837140"/>
              <a:gd name="connsiteY7" fmla="*/ 3914684 h 6858000"/>
              <a:gd name="connsiteX8" fmla="*/ 1618026 w 7837140"/>
              <a:gd name="connsiteY8" fmla="*/ 2046093 h 6858000"/>
              <a:gd name="connsiteX9" fmla="*/ 12746 w 7837140"/>
              <a:gd name="connsiteY9" fmla="*/ 517246 h 6858000"/>
              <a:gd name="connsiteX10" fmla="*/ 190209 w 7837140"/>
              <a:gd name="connsiteY10" fmla="*/ 17683 h 6858000"/>
              <a:gd name="connsiteX11" fmla="*/ 206151 w 7837140"/>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37140" h="6858000">
                <a:moveTo>
                  <a:pt x="206151" y="0"/>
                </a:moveTo>
                <a:lnTo>
                  <a:pt x="7837140" y="0"/>
                </a:lnTo>
                <a:lnTo>
                  <a:pt x="7837140" y="6858000"/>
                </a:lnTo>
                <a:lnTo>
                  <a:pt x="439301" y="6858000"/>
                </a:lnTo>
                <a:lnTo>
                  <a:pt x="537867" y="6841687"/>
                </a:lnTo>
                <a:cubicBezTo>
                  <a:pt x="688416" y="6816126"/>
                  <a:pt x="572706" y="6880311"/>
                  <a:pt x="723946" y="6660610"/>
                </a:cubicBezTo>
                <a:cubicBezTo>
                  <a:pt x="875186" y="6440909"/>
                  <a:pt x="1485946" y="5981134"/>
                  <a:pt x="1445306" y="5523480"/>
                </a:cubicBezTo>
                <a:cubicBezTo>
                  <a:pt x="1404666" y="5065826"/>
                  <a:pt x="451319" y="4494248"/>
                  <a:pt x="480106" y="3914684"/>
                </a:cubicBezTo>
                <a:cubicBezTo>
                  <a:pt x="508893" y="3335120"/>
                  <a:pt x="1695919" y="2612333"/>
                  <a:pt x="1618026" y="2046093"/>
                </a:cubicBezTo>
                <a:cubicBezTo>
                  <a:pt x="1540133" y="1479854"/>
                  <a:pt x="138053" y="958913"/>
                  <a:pt x="12746" y="517246"/>
                </a:cubicBezTo>
                <a:cubicBezTo>
                  <a:pt x="-34244" y="351621"/>
                  <a:pt x="54021" y="178829"/>
                  <a:pt x="190209" y="17683"/>
                </a:cubicBezTo>
                <a:lnTo>
                  <a:pt x="206151" y="0"/>
                </a:lnTo>
                <a:close/>
              </a:path>
            </a:pathLst>
          </a:custGeom>
          <a:solidFill>
            <a:srgbClr val="FFFC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8" name="Forme libre : forme 17">
            <a:extLst>
              <a:ext uri="{FF2B5EF4-FFF2-40B4-BE49-F238E27FC236}">
                <a16:creationId xmlns:a16="http://schemas.microsoft.com/office/drawing/2014/main" id="{6EA68546-456B-54E8-318A-C6E05CF92B26}"/>
              </a:ext>
            </a:extLst>
          </p:cNvPr>
          <p:cNvSpPr/>
          <p:nvPr/>
        </p:nvSpPr>
        <p:spPr>
          <a:xfrm>
            <a:off x="-7130150" y="-63372"/>
            <a:ext cx="6825511" cy="7155052"/>
          </a:xfrm>
          <a:custGeom>
            <a:avLst/>
            <a:gdLst>
              <a:gd name="connsiteX0" fmla="*/ 0 w 6825511"/>
              <a:gd name="connsiteY0" fmla="*/ 0 h 6858000"/>
              <a:gd name="connsiteX1" fmla="*/ 4561011 w 6825511"/>
              <a:gd name="connsiteY1" fmla="*/ 0 h 6858000"/>
              <a:gd name="connsiteX2" fmla="*/ 4545069 w 6825511"/>
              <a:gd name="connsiteY2" fmla="*/ 17683 h 6858000"/>
              <a:gd name="connsiteX3" fmla="*/ 4367606 w 6825511"/>
              <a:gd name="connsiteY3" fmla="*/ 517246 h 6858000"/>
              <a:gd name="connsiteX4" fmla="*/ 5972886 w 6825511"/>
              <a:gd name="connsiteY4" fmla="*/ 2046093 h 6858000"/>
              <a:gd name="connsiteX5" fmla="*/ 4834966 w 6825511"/>
              <a:gd name="connsiteY5" fmla="*/ 3914684 h 6858000"/>
              <a:gd name="connsiteX6" fmla="*/ 6816166 w 6825511"/>
              <a:gd name="connsiteY6" fmla="*/ 5307634 h 6858000"/>
              <a:gd name="connsiteX7" fmla="*/ 5292166 w 6825511"/>
              <a:gd name="connsiteY7" fmla="*/ 6768532 h 6858000"/>
              <a:gd name="connsiteX8" fmla="*/ 4892727 w 6825511"/>
              <a:gd name="connsiteY8" fmla="*/ 6841687 h 6858000"/>
              <a:gd name="connsiteX9" fmla="*/ 4794161 w 6825511"/>
              <a:gd name="connsiteY9" fmla="*/ 6858000 h 6858000"/>
              <a:gd name="connsiteX10" fmla="*/ 0 w 6825511"/>
              <a:gd name="connsiteY10" fmla="*/ 6858000 h 6858000"/>
              <a:gd name="connsiteX11" fmla="*/ 0 w 6825511"/>
              <a:gd name="connsiteY11" fmla="*/ 0 h 6858000"/>
              <a:gd name="connsiteX0" fmla="*/ 0 w 6825511"/>
              <a:gd name="connsiteY0" fmla="*/ 51385 h 6909385"/>
              <a:gd name="connsiteX1" fmla="*/ 4561011 w 6825511"/>
              <a:gd name="connsiteY1" fmla="*/ 51385 h 6909385"/>
              <a:gd name="connsiteX2" fmla="*/ 5124189 w 6825511"/>
              <a:gd name="connsiteY2" fmla="*/ 390 h 6909385"/>
              <a:gd name="connsiteX3" fmla="*/ 4367606 w 6825511"/>
              <a:gd name="connsiteY3" fmla="*/ 568631 h 6909385"/>
              <a:gd name="connsiteX4" fmla="*/ 5972886 w 6825511"/>
              <a:gd name="connsiteY4" fmla="*/ 2097478 h 6909385"/>
              <a:gd name="connsiteX5" fmla="*/ 4834966 w 6825511"/>
              <a:gd name="connsiteY5" fmla="*/ 3966069 h 6909385"/>
              <a:gd name="connsiteX6" fmla="*/ 6816166 w 6825511"/>
              <a:gd name="connsiteY6" fmla="*/ 5359019 h 6909385"/>
              <a:gd name="connsiteX7" fmla="*/ 5292166 w 6825511"/>
              <a:gd name="connsiteY7" fmla="*/ 6819917 h 6909385"/>
              <a:gd name="connsiteX8" fmla="*/ 4892727 w 6825511"/>
              <a:gd name="connsiteY8" fmla="*/ 6893072 h 6909385"/>
              <a:gd name="connsiteX9" fmla="*/ 4794161 w 6825511"/>
              <a:gd name="connsiteY9" fmla="*/ 6909385 h 6909385"/>
              <a:gd name="connsiteX10" fmla="*/ 0 w 6825511"/>
              <a:gd name="connsiteY10" fmla="*/ 6909385 h 6909385"/>
              <a:gd name="connsiteX11" fmla="*/ 0 w 6825511"/>
              <a:gd name="connsiteY11" fmla="*/ 51385 h 6909385"/>
              <a:gd name="connsiteX0" fmla="*/ 0 w 6825511"/>
              <a:gd name="connsiteY0" fmla="*/ 51385 h 6909385"/>
              <a:gd name="connsiteX1" fmla="*/ 4561011 w 6825511"/>
              <a:gd name="connsiteY1" fmla="*/ 51385 h 6909385"/>
              <a:gd name="connsiteX2" fmla="*/ 5124189 w 6825511"/>
              <a:gd name="connsiteY2" fmla="*/ 390 h 6909385"/>
              <a:gd name="connsiteX3" fmla="*/ 4662246 w 6825511"/>
              <a:gd name="connsiteY3" fmla="*/ 656931 h 6909385"/>
              <a:gd name="connsiteX4" fmla="*/ 5972886 w 6825511"/>
              <a:gd name="connsiteY4" fmla="*/ 2097478 h 6909385"/>
              <a:gd name="connsiteX5" fmla="*/ 4834966 w 6825511"/>
              <a:gd name="connsiteY5" fmla="*/ 3966069 h 6909385"/>
              <a:gd name="connsiteX6" fmla="*/ 6816166 w 6825511"/>
              <a:gd name="connsiteY6" fmla="*/ 5359019 h 6909385"/>
              <a:gd name="connsiteX7" fmla="*/ 5292166 w 6825511"/>
              <a:gd name="connsiteY7" fmla="*/ 6819917 h 6909385"/>
              <a:gd name="connsiteX8" fmla="*/ 4892727 w 6825511"/>
              <a:gd name="connsiteY8" fmla="*/ 6893072 h 6909385"/>
              <a:gd name="connsiteX9" fmla="*/ 4794161 w 6825511"/>
              <a:gd name="connsiteY9" fmla="*/ 6909385 h 6909385"/>
              <a:gd name="connsiteX10" fmla="*/ 0 w 6825511"/>
              <a:gd name="connsiteY10" fmla="*/ 6909385 h 6909385"/>
              <a:gd name="connsiteX11" fmla="*/ 0 w 6825511"/>
              <a:gd name="connsiteY11" fmla="*/ 51385 h 6909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25511" h="6909385">
                <a:moveTo>
                  <a:pt x="0" y="51385"/>
                </a:moveTo>
                <a:lnTo>
                  <a:pt x="4561011" y="51385"/>
                </a:lnTo>
                <a:cubicBezTo>
                  <a:pt x="4555697" y="57279"/>
                  <a:pt x="5129503" y="-5504"/>
                  <a:pt x="5124189" y="390"/>
                </a:cubicBezTo>
                <a:cubicBezTo>
                  <a:pt x="4988001" y="161536"/>
                  <a:pt x="4520797" y="307416"/>
                  <a:pt x="4662246" y="656931"/>
                </a:cubicBezTo>
                <a:cubicBezTo>
                  <a:pt x="4803695" y="1006446"/>
                  <a:pt x="5944099" y="1545955"/>
                  <a:pt x="5972886" y="2097478"/>
                </a:cubicBezTo>
                <a:cubicBezTo>
                  <a:pt x="6001673" y="2649001"/>
                  <a:pt x="4694419" y="3422479"/>
                  <a:pt x="4834966" y="3966069"/>
                </a:cubicBezTo>
                <a:cubicBezTo>
                  <a:pt x="4975513" y="4509659"/>
                  <a:pt x="6739966" y="4883378"/>
                  <a:pt x="6816166" y="5359019"/>
                </a:cubicBezTo>
                <a:cubicBezTo>
                  <a:pt x="6892366" y="5834660"/>
                  <a:pt x="6513059" y="6576434"/>
                  <a:pt x="5292166" y="6819917"/>
                </a:cubicBezTo>
                <a:cubicBezTo>
                  <a:pt x="5177708" y="6842744"/>
                  <a:pt x="5043276" y="6867511"/>
                  <a:pt x="4892727" y="6893072"/>
                </a:cubicBezTo>
                <a:lnTo>
                  <a:pt x="4794161" y="6909385"/>
                </a:lnTo>
                <a:lnTo>
                  <a:pt x="0" y="6909385"/>
                </a:lnTo>
                <a:lnTo>
                  <a:pt x="0" y="51385"/>
                </a:lnTo>
                <a:close/>
              </a:path>
            </a:pathLst>
          </a:custGeom>
          <a:solidFill>
            <a:srgbClr val="FFFC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pic>
        <p:nvPicPr>
          <p:cNvPr id="10" name="Image 9">
            <a:extLst>
              <a:ext uri="{FF2B5EF4-FFF2-40B4-BE49-F238E27FC236}">
                <a16:creationId xmlns:a16="http://schemas.microsoft.com/office/drawing/2014/main" id="{AF2E90C1-6622-0D8F-AB2F-979BF8C5B676}"/>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tretch>
            <a:fillRect/>
          </a:stretch>
        </p:blipFill>
        <p:spPr>
          <a:xfrm>
            <a:off x="3459520" y="492533"/>
            <a:ext cx="4517403" cy="1091706"/>
          </a:xfrm>
          <a:prstGeom prst="rect">
            <a:avLst/>
          </a:prstGeom>
        </p:spPr>
      </p:pic>
      <p:pic>
        <p:nvPicPr>
          <p:cNvPr id="21" name="Image 20">
            <a:extLst>
              <a:ext uri="{FF2B5EF4-FFF2-40B4-BE49-F238E27FC236}">
                <a16:creationId xmlns:a16="http://schemas.microsoft.com/office/drawing/2014/main" id="{BD4F927B-64F7-37B8-FA6D-27F59DF087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24473">
            <a:off x="182027" y="-2908881"/>
            <a:ext cx="3424145" cy="2581842"/>
          </a:xfrm>
          <a:prstGeom prst="rect">
            <a:avLst/>
          </a:prstGeom>
        </p:spPr>
      </p:pic>
      <p:pic>
        <p:nvPicPr>
          <p:cNvPr id="12" name="Picture 2" descr="Premium AI Image | Abstract and magical image of Firefly flying in the ...">
            <a:extLst>
              <a:ext uri="{FF2B5EF4-FFF2-40B4-BE49-F238E27FC236}">
                <a16:creationId xmlns:a16="http://schemas.microsoft.com/office/drawing/2014/main" id="{57D47314-9F4C-49FA-F1A5-CE97B67196A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000" r="7778"/>
          <a:stretch/>
        </p:blipFill>
        <p:spPr bwMode="auto">
          <a:xfrm>
            <a:off x="6759782" y="7959068"/>
            <a:ext cx="5490532" cy="6858000"/>
          </a:xfrm>
          <a:prstGeom prst="rect">
            <a:avLst/>
          </a:prstGeom>
          <a:noFill/>
          <a:extLst>
            <a:ext uri="{909E8E84-426E-40DD-AFC4-6F175D3DCCD1}">
              <a14:hiddenFill xmlns:a14="http://schemas.microsoft.com/office/drawing/2010/main">
                <a:solidFill>
                  <a:srgbClr val="FFFFFF"/>
                </a:solidFill>
              </a14:hiddenFill>
            </a:ext>
          </a:extLst>
        </p:spPr>
      </p:pic>
      <p:sp>
        <p:nvSpPr>
          <p:cNvPr id="26" name="ZoneTexte 25">
            <a:extLst>
              <a:ext uri="{FF2B5EF4-FFF2-40B4-BE49-F238E27FC236}">
                <a16:creationId xmlns:a16="http://schemas.microsoft.com/office/drawing/2014/main" id="{6880DAA0-E767-09F6-FF9C-C7F118728C64}"/>
              </a:ext>
            </a:extLst>
          </p:cNvPr>
          <p:cNvSpPr txBox="1"/>
          <p:nvPr/>
        </p:nvSpPr>
        <p:spPr>
          <a:xfrm>
            <a:off x="1269524" y="2310136"/>
            <a:ext cx="3893014" cy="584775"/>
          </a:xfrm>
          <a:prstGeom prst="rect">
            <a:avLst/>
          </a:prstGeom>
          <a:noFill/>
        </p:spPr>
        <p:txBody>
          <a:bodyPr wrap="square" rtlCol="0">
            <a:spAutoFit/>
          </a:bodyPr>
          <a:lstStyle/>
          <a:p>
            <a:pPr algn="r"/>
            <a:r>
              <a:rPr lang="fr-FR" sz="3200" dirty="0">
                <a:solidFill>
                  <a:schemeClr val="tx2">
                    <a:lumMod val="75000"/>
                  </a:schemeClr>
                </a:solidFill>
                <a:latin typeface="Aharoni" panose="02010803020104030203" pitchFamily="2" charset="-79"/>
                <a:cs typeface="Aharoni" panose="02010803020104030203" pitchFamily="2" charset="-79"/>
              </a:rPr>
              <a:t>Notre Encadrante</a:t>
            </a:r>
          </a:p>
        </p:txBody>
      </p:sp>
      <p:sp>
        <p:nvSpPr>
          <p:cNvPr id="27" name="ZoneTexte 26">
            <a:extLst>
              <a:ext uri="{FF2B5EF4-FFF2-40B4-BE49-F238E27FC236}">
                <a16:creationId xmlns:a16="http://schemas.microsoft.com/office/drawing/2014/main" id="{7DB058D4-4742-66DD-BFB1-F770CB505D6E}"/>
              </a:ext>
            </a:extLst>
          </p:cNvPr>
          <p:cNvSpPr txBox="1"/>
          <p:nvPr/>
        </p:nvSpPr>
        <p:spPr>
          <a:xfrm>
            <a:off x="6131807" y="2385012"/>
            <a:ext cx="5119519" cy="523220"/>
          </a:xfrm>
          <a:prstGeom prst="rect">
            <a:avLst/>
          </a:prstGeom>
          <a:noFill/>
        </p:spPr>
        <p:txBody>
          <a:bodyPr wrap="square" numCol="1" rtlCol="0">
            <a:spAutoFit/>
          </a:bodyPr>
          <a:lstStyle/>
          <a:p>
            <a:pPr marL="457200" indent="-457200">
              <a:buFont typeface="Arial" panose="020B0604020202020204" pitchFamily="34" charset="0"/>
              <a:buChar char="•"/>
            </a:pPr>
            <a:r>
              <a:rPr lang="fr-FR" sz="2800" dirty="0">
                <a:latin typeface="Aptos Display" panose="020B0004020202020204" pitchFamily="34" charset="0"/>
              </a:rPr>
              <a:t>Prof. Dr. </a:t>
            </a:r>
            <a:r>
              <a:rPr lang="fr-FR" sz="2800" dirty="0" err="1">
                <a:latin typeface="Aptos Display" panose="020B0004020202020204" pitchFamily="34" charset="0"/>
              </a:rPr>
              <a:t>Hanaa</a:t>
            </a:r>
            <a:r>
              <a:rPr lang="fr-FR" sz="2800" dirty="0">
                <a:latin typeface="Aptos Display" panose="020B0004020202020204" pitchFamily="34" charset="0"/>
              </a:rPr>
              <a:t> HACHIMI</a:t>
            </a:r>
          </a:p>
        </p:txBody>
      </p:sp>
      <p:sp>
        <p:nvSpPr>
          <p:cNvPr id="28" name="ZoneTexte 27">
            <a:extLst>
              <a:ext uri="{FF2B5EF4-FFF2-40B4-BE49-F238E27FC236}">
                <a16:creationId xmlns:a16="http://schemas.microsoft.com/office/drawing/2014/main" id="{259BC920-9F65-8A21-368A-2EEC72582898}"/>
              </a:ext>
            </a:extLst>
          </p:cNvPr>
          <p:cNvSpPr txBox="1"/>
          <p:nvPr/>
        </p:nvSpPr>
        <p:spPr>
          <a:xfrm>
            <a:off x="820105" y="3514154"/>
            <a:ext cx="4308168" cy="584775"/>
          </a:xfrm>
          <a:prstGeom prst="rect">
            <a:avLst/>
          </a:prstGeom>
          <a:noFill/>
        </p:spPr>
        <p:txBody>
          <a:bodyPr wrap="square" rtlCol="0">
            <a:spAutoFit/>
          </a:bodyPr>
          <a:lstStyle/>
          <a:p>
            <a:pPr algn="r"/>
            <a:r>
              <a:rPr lang="fr-FR" sz="3200" dirty="0">
                <a:solidFill>
                  <a:schemeClr val="tx2">
                    <a:lumMod val="75000"/>
                  </a:schemeClr>
                </a:solidFill>
                <a:latin typeface="Aharoni" panose="02010803020104030203" pitchFamily="2" charset="-79"/>
                <a:cs typeface="Aharoni" panose="02010803020104030203" pitchFamily="2" charset="-79"/>
              </a:rPr>
              <a:t>Notre Equipe </a:t>
            </a:r>
          </a:p>
        </p:txBody>
      </p:sp>
      <p:sp>
        <p:nvSpPr>
          <p:cNvPr id="29" name="ZoneTexte 28">
            <a:extLst>
              <a:ext uri="{FF2B5EF4-FFF2-40B4-BE49-F238E27FC236}">
                <a16:creationId xmlns:a16="http://schemas.microsoft.com/office/drawing/2014/main" id="{1B71E122-D045-84D1-927B-030C44E3D170}"/>
              </a:ext>
            </a:extLst>
          </p:cNvPr>
          <p:cNvSpPr txBox="1"/>
          <p:nvPr/>
        </p:nvSpPr>
        <p:spPr>
          <a:xfrm>
            <a:off x="6131809" y="3448161"/>
            <a:ext cx="3745094" cy="280903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sz="2400" dirty="0">
                <a:latin typeface="Aptos Display" panose="020B0004020202020204" pitchFamily="34" charset="0"/>
              </a:rPr>
              <a:t>Zineb EL-GAOUT </a:t>
            </a:r>
          </a:p>
          <a:p>
            <a:pPr marL="342900" indent="-342900">
              <a:lnSpc>
                <a:spcPct val="150000"/>
              </a:lnSpc>
              <a:buFont typeface="Arial" panose="020B0604020202020204" pitchFamily="34" charset="0"/>
              <a:buChar char="•"/>
            </a:pPr>
            <a:r>
              <a:rPr lang="fr-FR" sz="2400" dirty="0">
                <a:latin typeface="Aptos Display" panose="020B0004020202020204" pitchFamily="34" charset="0"/>
              </a:rPr>
              <a:t>Fatima BOUHO</a:t>
            </a:r>
          </a:p>
          <a:p>
            <a:pPr marL="342900" indent="-342900">
              <a:lnSpc>
                <a:spcPct val="150000"/>
              </a:lnSpc>
              <a:buFont typeface="Arial" panose="020B0604020202020204" pitchFamily="34" charset="0"/>
              <a:buChar char="•"/>
            </a:pPr>
            <a:r>
              <a:rPr lang="fr-FR" sz="2400" dirty="0">
                <a:latin typeface="Aptos Display" panose="020B0004020202020204" pitchFamily="34" charset="0"/>
              </a:rPr>
              <a:t>Zainab KINALI </a:t>
            </a:r>
          </a:p>
          <a:p>
            <a:pPr marL="342900" indent="-342900">
              <a:lnSpc>
                <a:spcPct val="150000"/>
              </a:lnSpc>
              <a:buFont typeface="Arial" panose="020B0604020202020204" pitchFamily="34" charset="0"/>
              <a:buChar char="•"/>
            </a:pPr>
            <a:r>
              <a:rPr lang="fr-FR" sz="2400" dirty="0" err="1">
                <a:latin typeface="Aptos Display" panose="020B0004020202020204" pitchFamily="34" charset="0"/>
              </a:rPr>
              <a:t>Douaa</a:t>
            </a:r>
            <a:r>
              <a:rPr lang="fr-FR" sz="2400" dirty="0">
                <a:latin typeface="Aptos Display" panose="020B0004020202020204" pitchFamily="34" charset="0"/>
              </a:rPr>
              <a:t> QAFZ </a:t>
            </a:r>
          </a:p>
          <a:p>
            <a:pPr marL="342900" indent="-342900">
              <a:lnSpc>
                <a:spcPct val="150000"/>
              </a:lnSpc>
              <a:buFont typeface="Arial" panose="020B0604020202020204" pitchFamily="34" charset="0"/>
              <a:buChar char="•"/>
            </a:pPr>
            <a:r>
              <a:rPr lang="fr-FR" sz="2400" dirty="0">
                <a:latin typeface="Aptos Display" panose="020B0004020202020204" pitchFamily="34" charset="0"/>
              </a:rPr>
              <a:t>Soukaina MOUNA </a:t>
            </a:r>
          </a:p>
        </p:txBody>
      </p:sp>
    </p:spTree>
    <p:extLst>
      <p:ext uri="{BB962C8B-B14F-4D97-AF65-F5344CB8AC3E}">
        <p14:creationId xmlns:p14="http://schemas.microsoft.com/office/powerpoint/2010/main" val="15843062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E2E4C2F-DF5C-B2AF-56EA-E154460390F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B6272BB-779D-0F59-F065-1DD9D84286E4}"/>
              </a:ext>
            </a:extLst>
          </p:cNvPr>
          <p:cNvSpPr/>
          <p:nvPr/>
        </p:nvSpPr>
        <p:spPr>
          <a:xfrm>
            <a:off x="0" y="0"/>
            <a:ext cx="1219200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695592D-AAD9-A429-A80B-CFA728F14A61}"/>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6B8FD0E2-C320-6D18-E7A2-3CD7028818E8}"/>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ABEB1523-97B2-BA83-1F03-EEC76587577E}"/>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6474B065-BD11-EF6A-F18B-717C7262C60D}"/>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descr="Premium AI Image | Abstract and magical image of Firefly flying in the ...">
            <a:extLst>
              <a:ext uri="{FF2B5EF4-FFF2-40B4-BE49-F238E27FC236}">
                <a16:creationId xmlns:a16="http://schemas.microsoft.com/office/drawing/2014/main" id="{647B3D63-FE4B-EE10-53EB-8B3197A392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00" r="7778"/>
          <a:stretch/>
        </p:blipFill>
        <p:spPr bwMode="auto">
          <a:xfrm>
            <a:off x="6096000" y="0"/>
            <a:ext cx="5490532"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8FE726BF-25AE-D588-1E88-E8DA7BECD00B}"/>
              </a:ext>
            </a:extLst>
          </p:cNvPr>
          <p:cNvSpPr txBox="1"/>
          <p:nvPr/>
        </p:nvSpPr>
        <p:spPr>
          <a:xfrm>
            <a:off x="621164" y="2287167"/>
            <a:ext cx="5143233" cy="3719813"/>
          </a:xfrm>
          <a:prstGeom prst="roundRect">
            <a:avLst/>
          </a:prstGeom>
          <a:solidFill>
            <a:schemeClr val="bg2">
              <a:alpha val="13000"/>
            </a:schemeClr>
          </a:solidFill>
        </p:spPr>
        <p:txBody>
          <a:bodyPr wrap="square" rtlCol="0">
            <a:spAutoFit/>
          </a:bodyPr>
          <a:lstStyle/>
          <a:p>
            <a:pPr>
              <a:lnSpc>
                <a:spcPct val="150000"/>
              </a:lnSpc>
            </a:pPr>
            <a:r>
              <a:rPr lang="fr-FR" sz="2400" b="0" dirty="0">
                <a:solidFill>
                  <a:schemeClr val="bg1"/>
                </a:solidFill>
                <a:effectLst/>
                <a:latin typeface="DeepSeek-CJK-patch"/>
              </a:rPr>
              <a:t>Les lucioles utilisent la lumière pour communiquer, se synchroniser et se protéger des prédateurs. Ce phénomène a inspiré des modèles informatiques, notamment l’algorithme des lucioles.</a:t>
            </a:r>
            <a:endParaRPr lang="fr-FR" sz="2400" b="1" dirty="0">
              <a:solidFill>
                <a:schemeClr val="bg1"/>
              </a:solidFill>
              <a:latin typeface="Aptos" panose="020B0004020202020204" pitchFamily="34" charset="0"/>
            </a:endParaRPr>
          </a:p>
        </p:txBody>
      </p:sp>
      <p:sp>
        <p:nvSpPr>
          <p:cNvPr id="5" name="ZoneTexte 4">
            <a:extLst>
              <a:ext uri="{FF2B5EF4-FFF2-40B4-BE49-F238E27FC236}">
                <a16:creationId xmlns:a16="http://schemas.microsoft.com/office/drawing/2014/main" id="{8A499C7B-AD4E-540B-4A63-1EEC84E859B5}"/>
              </a:ext>
            </a:extLst>
          </p:cNvPr>
          <p:cNvSpPr txBox="1"/>
          <p:nvPr/>
        </p:nvSpPr>
        <p:spPr>
          <a:xfrm>
            <a:off x="487680" y="1020648"/>
            <a:ext cx="4185920" cy="830997"/>
          </a:xfrm>
          <a:prstGeom prst="rect">
            <a:avLst/>
          </a:prstGeom>
          <a:noFill/>
        </p:spPr>
        <p:txBody>
          <a:bodyPr wrap="square" rtlCol="0">
            <a:spAutoFit/>
          </a:bodyPr>
          <a:lstStyle/>
          <a:p>
            <a:r>
              <a:rPr lang="fr-FR" sz="4800" dirty="0">
                <a:solidFill>
                  <a:schemeClr val="bg1"/>
                </a:solidFill>
                <a:latin typeface="Aharoni" panose="02010803020104030203" pitchFamily="2" charset="-79"/>
                <a:cs typeface="Aharoni" panose="02010803020104030203" pitchFamily="2" charset="-79"/>
              </a:rPr>
              <a:t>Introduction </a:t>
            </a:r>
          </a:p>
        </p:txBody>
      </p:sp>
      <p:pic>
        <p:nvPicPr>
          <p:cNvPr id="6" name="Image 5">
            <a:extLst>
              <a:ext uri="{FF2B5EF4-FFF2-40B4-BE49-F238E27FC236}">
                <a16:creationId xmlns:a16="http://schemas.microsoft.com/office/drawing/2014/main" id="{B96C107D-BF6C-DB3D-C86B-B79E9308E7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81172" y="-5480872"/>
            <a:ext cx="4036438" cy="4267869"/>
          </a:xfrm>
          <a:prstGeom prst="rect">
            <a:avLst/>
          </a:prstGeom>
        </p:spPr>
      </p:pic>
      <p:sp>
        <p:nvSpPr>
          <p:cNvPr id="20" name="ZoneTexte 19">
            <a:extLst>
              <a:ext uri="{FF2B5EF4-FFF2-40B4-BE49-F238E27FC236}">
                <a16:creationId xmlns:a16="http://schemas.microsoft.com/office/drawing/2014/main" id="{C62CDA68-44B7-A1C5-6E61-9411E261499A}"/>
              </a:ext>
            </a:extLst>
          </p:cNvPr>
          <p:cNvSpPr txBox="1"/>
          <p:nvPr/>
        </p:nvSpPr>
        <p:spPr>
          <a:xfrm>
            <a:off x="13223144" y="962108"/>
            <a:ext cx="5388932" cy="646331"/>
          </a:xfrm>
          <a:prstGeom prst="rect">
            <a:avLst/>
          </a:prstGeom>
          <a:noFill/>
        </p:spPr>
        <p:txBody>
          <a:bodyPr wrap="square" rtlCol="0">
            <a:spAutoFit/>
          </a:bodyPr>
          <a:lstStyle/>
          <a:p>
            <a:r>
              <a:rPr lang="fr-FR" sz="3600" dirty="0">
                <a:solidFill>
                  <a:schemeClr val="bg1"/>
                </a:solidFill>
                <a:latin typeface="Arial Black" panose="020B0A04020102020204" pitchFamily="34" charset="0"/>
              </a:rPr>
              <a:t>1. </a:t>
            </a:r>
            <a:r>
              <a:rPr lang="fr-FR" sz="2000" dirty="0">
                <a:solidFill>
                  <a:schemeClr val="bg1"/>
                </a:solidFill>
                <a:latin typeface="Aptos Display" panose="020B0004020202020204" pitchFamily="34" charset="0"/>
              </a:rPr>
              <a:t>Pourquoi cet algorithme ? </a:t>
            </a:r>
          </a:p>
        </p:txBody>
      </p:sp>
      <p:sp>
        <p:nvSpPr>
          <p:cNvPr id="22" name="ZoneTexte 21">
            <a:extLst>
              <a:ext uri="{FF2B5EF4-FFF2-40B4-BE49-F238E27FC236}">
                <a16:creationId xmlns:a16="http://schemas.microsoft.com/office/drawing/2014/main" id="{518EFF7B-D05E-2449-598A-08C5C283B844}"/>
              </a:ext>
            </a:extLst>
          </p:cNvPr>
          <p:cNvSpPr txBox="1"/>
          <p:nvPr/>
        </p:nvSpPr>
        <p:spPr>
          <a:xfrm>
            <a:off x="13223144" y="2271039"/>
            <a:ext cx="5388932" cy="646331"/>
          </a:xfrm>
          <a:prstGeom prst="rect">
            <a:avLst/>
          </a:prstGeom>
          <a:noFill/>
        </p:spPr>
        <p:txBody>
          <a:bodyPr wrap="square" rtlCol="0">
            <a:spAutoFit/>
          </a:bodyPr>
          <a:lstStyle/>
          <a:p>
            <a:r>
              <a:rPr lang="fr-FR" sz="3600" dirty="0">
                <a:solidFill>
                  <a:schemeClr val="bg1"/>
                </a:solidFill>
                <a:latin typeface="Arial Black" panose="020B0A04020102020204" pitchFamily="34" charset="0"/>
              </a:rPr>
              <a:t>3. </a:t>
            </a:r>
            <a:r>
              <a:rPr lang="fr-FR" sz="2000" dirty="0">
                <a:solidFill>
                  <a:schemeClr val="bg1"/>
                </a:solidFill>
                <a:latin typeface="Aptos Display" panose="020B0004020202020204" pitchFamily="34" charset="0"/>
              </a:rPr>
              <a:t>Applications dans divers domaines </a:t>
            </a:r>
          </a:p>
        </p:txBody>
      </p:sp>
      <p:sp>
        <p:nvSpPr>
          <p:cNvPr id="23" name="ZoneTexte 22">
            <a:extLst>
              <a:ext uri="{FF2B5EF4-FFF2-40B4-BE49-F238E27FC236}">
                <a16:creationId xmlns:a16="http://schemas.microsoft.com/office/drawing/2014/main" id="{249943A8-29AD-5246-497E-24C490DC051A}"/>
              </a:ext>
            </a:extLst>
          </p:cNvPr>
          <p:cNvSpPr txBox="1"/>
          <p:nvPr/>
        </p:nvSpPr>
        <p:spPr>
          <a:xfrm>
            <a:off x="13223144" y="2982999"/>
            <a:ext cx="5388932" cy="646331"/>
          </a:xfrm>
          <a:prstGeom prst="rect">
            <a:avLst/>
          </a:prstGeom>
          <a:noFill/>
        </p:spPr>
        <p:txBody>
          <a:bodyPr wrap="square" rtlCol="0">
            <a:spAutoFit/>
          </a:bodyPr>
          <a:lstStyle/>
          <a:p>
            <a:r>
              <a:rPr lang="fr-FR" sz="3600" dirty="0">
                <a:solidFill>
                  <a:schemeClr val="bg1"/>
                </a:solidFill>
                <a:latin typeface="Arial Black" panose="020B0A04020102020204" pitchFamily="34" charset="0"/>
              </a:rPr>
              <a:t>4. </a:t>
            </a:r>
            <a:r>
              <a:rPr lang="fr-FR" sz="2000" dirty="0">
                <a:solidFill>
                  <a:schemeClr val="bg1"/>
                </a:solidFill>
                <a:latin typeface="Aptos Display" panose="020B0004020202020204" pitchFamily="34" charset="0"/>
              </a:rPr>
              <a:t>Avantages et limites </a:t>
            </a:r>
          </a:p>
        </p:txBody>
      </p:sp>
      <p:sp>
        <p:nvSpPr>
          <p:cNvPr id="24" name="ZoneTexte 23">
            <a:extLst>
              <a:ext uri="{FF2B5EF4-FFF2-40B4-BE49-F238E27FC236}">
                <a16:creationId xmlns:a16="http://schemas.microsoft.com/office/drawing/2014/main" id="{3DB035D0-A401-8B42-DF62-353611270F82}"/>
              </a:ext>
            </a:extLst>
          </p:cNvPr>
          <p:cNvSpPr txBox="1"/>
          <p:nvPr/>
        </p:nvSpPr>
        <p:spPr>
          <a:xfrm>
            <a:off x="13223144" y="3691076"/>
            <a:ext cx="5388932" cy="646331"/>
          </a:xfrm>
          <a:prstGeom prst="rect">
            <a:avLst/>
          </a:prstGeom>
          <a:noFill/>
        </p:spPr>
        <p:txBody>
          <a:bodyPr wrap="square" rtlCol="0">
            <a:spAutoFit/>
          </a:bodyPr>
          <a:lstStyle/>
          <a:p>
            <a:r>
              <a:rPr lang="fr-FR" sz="3600" dirty="0">
                <a:solidFill>
                  <a:schemeClr val="bg1"/>
                </a:solidFill>
                <a:latin typeface="Arial Black" panose="020B0A04020102020204" pitchFamily="34" charset="0"/>
              </a:rPr>
              <a:t>5. </a:t>
            </a:r>
            <a:r>
              <a:rPr lang="fr-FR" sz="2000" dirty="0">
                <a:solidFill>
                  <a:schemeClr val="bg1"/>
                </a:solidFill>
                <a:latin typeface="Aptos Display" panose="020B0004020202020204" pitchFamily="34" charset="0"/>
              </a:rPr>
              <a:t>Algorithme des lucioles</a:t>
            </a:r>
          </a:p>
        </p:txBody>
      </p:sp>
      <p:sp>
        <p:nvSpPr>
          <p:cNvPr id="25" name="ZoneTexte 24">
            <a:extLst>
              <a:ext uri="{FF2B5EF4-FFF2-40B4-BE49-F238E27FC236}">
                <a16:creationId xmlns:a16="http://schemas.microsoft.com/office/drawing/2014/main" id="{1A2DCEF8-7559-7EB2-51D0-E1ECEFB4AE8E}"/>
              </a:ext>
            </a:extLst>
          </p:cNvPr>
          <p:cNvSpPr txBox="1"/>
          <p:nvPr/>
        </p:nvSpPr>
        <p:spPr>
          <a:xfrm>
            <a:off x="13223144" y="4430450"/>
            <a:ext cx="5388932" cy="646331"/>
          </a:xfrm>
          <a:prstGeom prst="rect">
            <a:avLst/>
          </a:prstGeom>
          <a:noFill/>
        </p:spPr>
        <p:txBody>
          <a:bodyPr wrap="square" rtlCol="0">
            <a:spAutoFit/>
          </a:bodyPr>
          <a:lstStyle/>
          <a:p>
            <a:r>
              <a:rPr lang="fr-FR" sz="3600" dirty="0">
                <a:solidFill>
                  <a:schemeClr val="bg1"/>
                </a:solidFill>
                <a:latin typeface="Arial Black" panose="020B0A04020102020204" pitchFamily="34" charset="0"/>
              </a:rPr>
              <a:t>6. </a:t>
            </a:r>
            <a:r>
              <a:rPr lang="fr-FR" sz="2000" dirty="0">
                <a:solidFill>
                  <a:schemeClr val="bg1"/>
                </a:solidFill>
                <a:latin typeface="Aptos Display" panose="020B0004020202020204" pitchFamily="34" charset="0"/>
              </a:rPr>
              <a:t>Trois applications Algorithme des lucioles</a:t>
            </a:r>
          </a:p>
        </p:txBody>
      </p:sp>
      <p:sp>
        <p:nvSpPr>
          <p:cNvPr id="26" name="ZoneTexte 25">
            <a:extLst>
              <a:ext uri="{FF2B5EF4-FFF2-40B4-BE49-F238E27FC236}">
                <a16:creationId xmlns:a16="http://schemas.microsoft.com/office/drawing/2014/main" id="{0980C409-44B0-9908-F3FE-82F8146B2113}"/>
              </a:ext>
            </a:extLst>
          </p:cNvPr>
          <p:cNvSpPr txBox="1"/>
          <p:nvPr/>
        </p:nvSpPr>
        <p:spPr>
          <a:xfrm>
            <a:off x="13223144" y="5134787"/>
            <a:ext cx="5388932" cy="954107"/>
          </a:xfrm>
          <a:prstGeom prst="rect">
            <a:avLst/>
          </a:prstGeom>
          <a:noFill/>
        </p:spPr>
        <p:txBody>
          <a:bodyPr wrap="square" rtlCol="0">
            <a:spAutoFit/>
          </a:bodyPr>
          <a:lstStyle/>
          <a:p>
            <a:r>
              <a:rPr lang="fr-FR" sz="3600" dirty="0">
                <a:solidFill>
                  <a:schemeClr val="bg1"/>
                </a:solidFill>
                <a:latin typeface="Arial Black" panose="020B0A04020102020204" pitchFamily="34" charset="0"/>
              </a:rPr>
              <a:t>7. </a:t>
            </a:r>
            <a:r>
              <a:rPr lang="fr-FR" sz="2000" dirty="0">
                <a:solidFill>
                  <a:schemeClr val="bg1"/>
                </a:solidFill>
                <a:latin typeface="Aptos Display" panose="020B0004020202020204" pitchFamily="34" charset="0"/>
              </a:rPr>
              <a:t>Comparaison de l’Algorithme des lucioles avec les autres algos bio-inspirés</a:t>
            </a:r>
          </a:p>
        </p:txBody>
      </p:sp>
      <p:sp>
        <p:nvSpPr>
          <p:cNvPr id="27" name="ZoneTexte 26">
            <a:extLst>
              <a:ext uri="{FF2B5EF4-FFF2-40B4-BE49-F238E27FC236}">
                <a16:creationId xmlns:a16="http://schemas.microsoft.com/office/drawing/2014/main" id="{FBD8ADD8-EDF7-5A82-947A-76B05192FE37}"/>
              </a:ext>
            </a:extLst>
          </p:cNvPr>
          <p:cNvSpPr txBox="1"/>
          <p:nvPr/>
        </p:nvSpPr>
        <p:spPr>
          <a:xfrm>
            <a:off x="-6913784" y="2813912"/>
            <a:ext cx="5882640" cy="1200329"/>
          </a:xfrm>
          <a:prstGeom prst="rect">
            <a:avLst/>
          </a:prstGeom>
          <a:noFill/>
        </p:spPr>
        <p:txBody>
          <a:bodyPr wrap="square" rtlCol="0">
            <a:spAutoFit/>
          </a:bodyPr>
          <a:lstStyle/>
          <a:p>
            <a:pPr algn="r"/>
            <a:r>
              <a:rPr lang="fr-FR" sz="4800" dirty="0">
                <a:solidFill>
                  <a:schemeClr val="bg1"/>
                </a:solidFill>
                <a:latin typeface="Aharoni" panose="02010803020104030203" pitchFamily="2" charset="-79"/>
                <a:cs typeface="Aharoni" panose="02010803020104030203" pitchFamily="2" charset="-79"/>
              </a:rPr>
              <a:t>Aperçu</a:t>
            </a:r>
          </a:p>
          <a:p>
            <a:pPr algn="r"/>
            <a:r>
              <a:rPr lang="fr-FR" sz="2400" dirty="0">
                <a:solidFill>
                  <a:schemeClr val="bg1"/>
                </a:solidFill>
                <a:latin typeface="Aptos Display" panose="020B0004020202020204" pitchFamily="34" charset="0"/>
                <a:cs typeface="Aharoni" panose="02010803020104030203" pitchFamily="2" charset="-79"/>
              </a:rPr>
              <a:t>Que trouve t’on dans cette présentation ?  </a:t>
            </a:r>
          </a:p>
        </p:txBody>
      </p:sp>
      <p:sp>
        <p:nvSpPr>
          <p:cNvPr id="28" name="ZoneTexte 27">
            <a:extLst>
              <a:ext uri="{FF2B5EF4-FFF2-40B4-BE49-F238E27FC236}">
                <a16:creationId xmlns:a16="http://schemas.microsoft.com/office/drawing/2014/main" id="{93B0F3C2-ED42-770C-098D-BE1AD44FA6E8}"/>
              </a:ext>
            </a:extLst>
          </p:cNvPr>
          <p:cNvSpPr txBox="1"/>
          <p:nvPr/>
        </p:nvSpPr>
        <p:spPr>
          <a:xfrm>
            <a:off x="13223144" y="1532731"/>
            <a:ext cx="5388932" cy="954107"/>
          </a:xfrm>
          <a:prstGeom prst="rect">
            <a:avLst/>
          </a:prstGeom>
          <a:noFill/>
        </p:spPr>
        <p:txBody>
          <a:bodyPr wrap="square" rtlCol="0">
            <a:spAutoFit/>
          </a:bodyPr>
          <a:lstStyle/>
          <a:p>
            <a:r>
              <a:rPr lang="fr-FR" sz="3600" dirty="0">
                <a:solidFill>
                  <a:schemeClr val="bg1"/>
                </a:solidFill>
                <a:latin typeface="Arial Black" panose="020B0A04020102020204" pitchFamily="34" charset="0"/>
              </a:rPr>
              <a:t>2. </a:t>
            </a:r>
            <a:r>
              <a:rPr lang="fr-FR" sz="2000" dirty="0">
                <a:solidFill>
                  <a:schemeClr val="bg1"/>
                </a:solidFill>
                <a:latin typeface="Aptos Display" panose="020B0004020202020204" pitchFamily="34" charset="0"/>
              </a:rPr>
              <a:t>Principe de fonctionnement des lucioles</a:t>
            </a:r>
          </a:p>
          <a:p>
            <a:r>
              <a:rPr lang="fr-FR" sz="2000" dirty="0">
                <a:solidFill>
                  <a:schemeClr val="bg1"/>
                </a:solidFill>
                <a:latin typeface="Aptos Display" panose="020B0004020202020204" pitchFamily="34" charset="0"/>
              </a:rPr>
              <a:t>             dans la nature  </a:t>
            </a:r>
          </a:p>
        </p:txBody>
      </p:sp>
    </p:spTree>
    <p:extLst>
      <p:ext uri="{BB962C8B-B14F-4D97-AF65-F5344CB8AC3E}">
        <p14:creationId xmlns:p14="http://schemas.microsoft.com/office/powerpoint/2010/main" val="22206364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F82168C2-0F23-5CBB-3E13-38AC4D337D7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3DC20C0-0CC4-1B07-5449-0BADB236DF80}"/>
              </a:ext>
            </a:extLst>
          </p:cNvPr>
          <p:cNvSpPr/>
          <p:nvPr/>
        </p:nvSpPr>
        <p:spPr>
          <a:xfrm>
            <a:off x="0" y="0"/>
            <a:ext cx="1219200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7B93655A-ECD5-DB70-4EFF-2A0296ED866D}"/>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A805B564-42EB-0602-2C97-D7C0B2F33103}"/>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3D33C9BB-7C6C-CF09-DEEA-940030CAA735}"/>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7297BF8B-E726-D7DF-4090-A33CA18B3315}"/>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F96CE218-1138-7F96-BD5F-77C551616B89}"/>
              </a:ext>
            </a:extLst>
          </p:cNvPr>
          <p:cNvSpPr txBox="1"/>
          <p:nvPr/>
        </p:nvSpPr>
        <p:spPr>
          <a:xfrm>
            <a:off x="-298773" y="2828833"/>
            <a:ext cx="5882640" cy="1200329"/>
          </a:xfrm>
          <a:prstGeom prst="rect">
            <a:avLst/>
          </a:prstGeom>
          <a:noFill/>
        </p:spPr>
        <p:txBody>
          <a:bodyPr wrap="square" rtlCol="0">
            <a:spAutoFit/>
          </a:bodyPr>
          <a:lstStyle/>
          <a:p>
            <a:pPr algn="r"/>
            <a:r>
              <a:rPr lang="fr-FR" sz="4800" dirty="0">
                <a:solidFill>
                  <a:schemeClr val="bg1"/>
                </a:solidFill>
                <a:latin typeface="Aharoni" panose="02010803020104030203" pitchFamily="2" charset="-79"/>
                <a:cs typeface="Aharoni" panose="02010803020104030203" pitchFamily="2" charset="-79"/>
              </a:rPr>
              <a:t>Aperçu</a:t>
            </a:r>
          </a:p>
          <a:p>
            <a:pPr algn="r"/>
            <a:r>
              <a:rPr lang="fr-FR" sz="2400" dirty="0">
                <a:solidFill>
                  <a:schemeClr val="bg1"/>
                </a:solidFill>
                <a:latin typeface="Aptos Display" panose="020B0004020202020204" pitchFamily="34" charset="0"/>
                <a:cs typeface="Aharoni" panose="02010803020104030203" pitchFamily="2" charset="-79"/>
              </a:rPr>
              <a:t>Que trouve t’on dans cette présentation ?  </a:t>
            </a:r>
          </a:p>
        </p:txBody>
      </p:sp>
      <p:pic>
        <p:nvPicPr>
          <p:cNvPr id="6" name="Image 5">
            <a:extLst>
              <a:ext uri="{FF2B5EF4-FFF2-40B4-BE49-F238E27FC236}">
                <a16:creationId xmlns:a16="http://schemas.microsoft.com/office/drawing/2014/main" id="{AFB211B8-9AF3-E8AC-6977-3BEFF27066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81172" y="-5480872"/>
            <a:ext cx="4036438" cy="4267869"/>
          </a:xfrm>
          <a:prstGeom prst="rect">
            <a:avLst/>
          </a:prstGeom>
        </p:spPr>
      </p:pic>
      <p:sp>
        <p:nvSpPr>
          <p:cNvPr id="17" name="ZoneTexte 16">
            <a:extLst>
              <a:ext uri="{FF2B5EF4-FFF2-40B4-BE49-F238E27FC236}">
                <a16:creationId xmlns:a16="http://schemas.microsoft.com/office/drawing/2014/main" id="{7A554BB3-0E99-B9CA-C7A9-5C388072A11F}"/>
              </a:ext>
            </a:extLst>
          </p:cNvPr>
          <p:cNvSpPr txBox="1"/>
          <p:nvPr/>
        </p:nvSpPr>
        <p:spPr>
          <a:xfrm>
            <a:off x="-10913627" y="2459504"/>
            <a:ext cx="6801618" cy="1938992"/>
          </a:xfrm>
          <a:prstGeom prst="rect">
            <a:avLst/>
          </a:prstGeom>
          <a:noFill/>
        </p:spPr>
        <p:txBody>
          <a:bodyPr wrap="square" rtlCol="0">
            <a:spAutoFit/>
          </a:bodyPr>
          <a:lstStyle/>
          <a:p>
            <a:r>
              <a:rPr lang="fr-FR" sz="6000" dirty="0">
                <a:solidFill>
                  <a:schemeClr val="bg1"/>
                </a:solidFill>
                <a:latin typeface="Arial Black" panose="020B0A04020102020204" pitchFamily="34" charset="0"/>
              </a:rPr>
              <a:t>Pourquoi Cet Algorithme ?</a:t>
            </a:r>
          </a:p>
        </p:txBody>
      </p:sp>
      <p:sp>
        <p:nvSpPr>
          <p:cNvPr id="11" name="ZoneTexte 10">
            <a:extLst>
              <a:ext uri="{FF2B5EF4-FFF2-40B4-BE49-F238E27FC236}">
                <a16:creationId xmlns:a16="http://schemas.microsoft.com/office/drawing/2014/main" id="{ACE1211A-46F3-6970-6261-9D05E00965DC}"/>
              </a:ext>
            </a:extLst>
          </p:cNvPr>
          <p:cNvSpPr txBox="1"/>
          <p:nvPr/>
        </p:nvSpPr>
        <p:spPr>
          <a:xfrm>
            <a:off x="6435412" y="912357"/>
            <a:ext cx="5388932" cy="646331"/>
          </a:xfrm>
          <a:prstGeom prst="rect">
            <a:avLst/>
          </a:prstGeom>
          <a:noFill/>
        </p:spPr>
        <p:txBody>
          <a:bodyPr wrap="square" rtlCol="0">
            <a:spAutoFit/>
          </a:bodyPr>
          <a:lstStyle/>
          <a:p>
            <a:r>
              <a:rPr lang="fr-FR" sz="3600" dirty="0">
                <a:solidFill>
                  <a:schemeClr val="bg1"/>
                </a:solidFill>
                <a:latin typeface="Arial Black" panose="020B0A04020102020204" pitchFamily="34" charset="0"/>
              </a:rPr>
              <a:t>1. </a:t>
            </a:r>
            <a:r>
              <a:rPr lang="fr-FR" sz="2000" dirty="0">
                <a:solidFill>
                  <a:schemeClr val="bg1"/>
                </a:solidFill>
                <a:latin typeface="Aptos Display" panose="020B0004020202020204" pitchFamily="34" charset="0"/>
              </a:rPr>
              <a:t>Pourquoi cet algorithme ? </a:t>
            </a:r>
          </a:p>
        </p:txBody>
      </p:sp>
      <p:sp>
        <p:nvSpPr>
          <p:cNvPr id="12" name="ZoneTexte 11">
            <a:extLst>
              <a:ext uri="{FF2B5EF4-FFF2-40B4-BE49-F238E27FC236}">
                <a16:creationId xmlns:a16="http://schemas.microsoft.com/office/drawing/2014/main" id="{CFF04596-9FD9-70CF-6C47-F90D38C0A0D8}"/>
              </a:ext>
            </a:extLst>
          </p:cNvPr>
          <p:cNvSpPr txBox="1"/>
          <p:nvPr/>
        </p:nvSpPr>
        <p:spPr>
          <a:xfrm>
            <a:off x="6435412" y="1509328"/>
            <a:ext cx="5388932" cy="954107"/>
          </a:xfrm>
          <a:prstGeom prst="rect">
            <a:avLst/>
          </a:prstGeom>
          <a:noFill/>
        </p:spPr>
        <p:txBody>
          <a:bodyPr wrap="square" rtlCol="0">
            <a:spAutoFit/>
          </a:bodyPr>
          <a:lstStyle/>
          <a:p>
            <a:r>
              <a:rPr lang="fr-FR" sz="3600" dirty="0">
                <a:solidFill>
                  <a:schemeClr val="bg1"/>
                </a:solidFill>
                <a:latin typeface="Arial Black" panose="020B0A04020102020204" pitchFamily="34" charset="0"/>
              </a:rPr>
              <a:t>2. </a:t>
            </a:r>
            <a:r>
              <a:rPr lang="fr-FR" sz="2000" dirty="0">
                <a:solidFill>
                  <a:schemeClr val="bg1"/>
                </a:solidFill>
                <a:latin typeface="Aptos Display" panose="020B0004020202020204" pitchFamily="34" charset="0"/>
              </a:rPr>
              <a:t>Principe de fonctionnement des lucioles</a:t>
            </a:r>
          </a:p>
          <a:p>
            <a:r>
              <a:rPr lang="fr-FR" sz="2000" dirty="0">
                <a:solidFill>
                  <a:schemeClr val="bg1"/>
                </a:solidFill>
                <a:latin typeface="Aptos Display" panose="020B0004020202020204" pitchFamily="34" charset="0"/>
              </a:rPr>
              <a:t>             dans la nature  </a:t>
            </a:r>
          </a:p>
        </p:txBody>
      </p:sp>
      <p:sp>
        <p:nvSpPr>
          <p:cNvPr id="13" name="ZoneTexte 12">
            <a:extLst>
              <a:ext uri="{FF2B5EF4-FFF2-40B4-BE49-F238E27FC236}">
                <a16:creationId xmlns:a16="http://schemas.microsoft.com/office/drawing/2014/main" id="{CAD0B309-654F-31BB-33E7-0FFA651F2105}"/>
              </a:ext>
            </a:extLst>
          </p:cNvPr>
          <p:cNvSpPr txBox="1"/>
          <p:nvPr/>
        </p:nvSpPr>
        <p:spPr>
          <a:xfrm>
            <a:off x="6435412" y="2221288"/>
            <a:ext cx="5388932" cy="646331"/>
          </a:xfrm>
          <a:prstGeom prst="rect">
            <a:avLst/>
          </a:prstGeom>
          <a:noFill/>
        </p:spPr>
        <p:txBody>
          <a:bodyPr wrap="square" rtlCol="0">
            <a:spAutoFit/>
          </a:bodyPr>
          <a:lstStyle/>
          <a:p>
            <a:r>
              <a:rPr lang="fr-FR" sz="3600" dirty="0">
                <a:solidFill>
                  <a:schemeClr val="bg1"/>
                </a:solidFill>
                <a:latin typeface="Arial Black" panose="020B0A04020102020204" pitchFamily="34" charset="0"/>
              </a:rPr>
              <a:t>3. </a:t>
            </a:r>
            <a:r>
              <a:rPr lang="fr-FR" sz="2000" dirty="0">
                <a:solidFill>
                  <a:schemeClr val="bg1"/>
                </a:solidFill>
                <a:latin typeface="Aptos Display" panose="020B0004020202020204" pitchFamily="34" charset="0"/>
              </a:rPr>
              <a:t>Applications dans divers domaines </a:t>
            </a:r>
          </a:p>
        </p:txBody>
      </p:sp>
      <p:sp>
        <p:nvSpPr>
          <p:cNvPr id="14" name="ZoneTexte 13">
            <a:extLst>
              <a:ext uri="{FF2B5EF4-FFF2-40B4-BE49-F238E27FC236}">
                <a16:creationId xmlns:a16="http://schemas.microsoft.com/office/drawing/2014/main" id="{7C263230-7F5F-04E6-F6B1-AC3689C293E3}"/>
              </a:ext>
            </a:extLst>
          </p:cNvPr>
          <p:cNvSpPr txBox="1"/>
          <p:nvPr/>
        </p:nvSpPr>
        <p:spPr>
          <a:xfrm>
            <a:off x="6435412" y="2933248"/>
            <a:ext cx="5388932" cy="646331"/>
          </a:xfrm>
          <a:prstGeom prst="rect">
            <a:avLst/>
          </a:prstGeom>
          <a:noFill/>
        </p:spPr>
        <p:txBody>
          <a:bodyPr wrap="square" rtlCol="0">
            <a:spAutoFit/>
          </a:bodyPr>
          <a:lstStyle/>
          <a:p>
            <a:r>
              <a:rPr lang="fr-FR" sz="3600" dirty="0">
                <a:solidFill>
                  <a:schemeClr val="bg1"/>
                </a:solidFill>
                <a:latin typeface="Arial Black" panose="020B0A04020102020204" pitchFamily="34" charset="0"/>
              </a:rPr>
              <a:t>4. </a:t>
            </a:r>
            <a:r>
              <a:rPr lang="fr-FR" sz="2000" dirty="0">
                <a:solidFill>
                  <a:schemeClr val="bg1"/>
                </a:solidFill>
                <a:latin typeface="Aptos Display" panose="020B0004020202020204" pitchFamily="34" charset="0"/>
              </a:rPr>
              <a:t>Avantages et limites </a:t>
            </a:r>
          </a:p>
        </p:txBody>
      </p:sp>
      <p:sp>
        <p:nvSpPr>
          <p:cNvPr id="15" name="Rectangle 14">
            <a:extLst>
              <a:ext uri="{FF2B5EF4-FFF2-40B4-BE49-F238E27FC236}">
                <a16:creationId xmlns:a16="http://schemas.microsoft.com/office/drawing/2014/main" id="{04CD8ED7-CC10-1C3C-FBDA-CC88DFB3043D}"/>
              </a:ext>
            </a:extLst>
          </p:cNvPr>
          <p:cNvSpPr/>
          <p:nvPr/>
        </p:nvSpPr>
        <p:spPr>
          <a:xfrm flipH="1">
            <a:off x="5986780" y="499489"/>
            <a:ext cx="45719" cy="58590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DE4F1C22-FFA0-33E6-9D96-5EBA9C436C4A}"/>
              </a:ext>
            </a:extLst>
          </p:cNvPr>
          <p:cNvSpPr txBox="1"/>
          <p:nvPr/>
        </p:nvSpPr>
        <p:spPr>
          <a:xfrm>
            <a:off x="6435412" y="3641325"/>
            <a:ext cx="5388932" cy="646331"/>
          </a:xfrm>
          <a:prstGeom prst="rect">
            <a:avLst/>
          </a:prstGeom>
          <a:noFill/>
        </p:spPr>
        <p:txBody>
          <a:bodyPr wrap="square" rtlCol="0">
            <a:spAutoFit/>
          </a:bodyPr>
          <a:lstStyle/>
          <a:p>
            <a:r>
              <a:rPr lang="fr-FR" sz="3600" dirty="0">
                <a:solidFill>
                  <a:schemeClr val="bg1"/>
                </a:solidFill>
                <a:latin typeface="Arial Black" panose="020B0A04020102020204" pitchFamily="34" charset="0"/>
              </a:rPr>
              <a:t>5. </a:t>
            </a:r>
            <a:r>
              <a:rPr lang="fr-FR" sz="2000" dirty="0">
                <a:solidFill>
                  <a:schemeClr val="bg1"/>
                </a:solidFill>
                <a:latin typeface="Aptos Display" panose="020B0004020202020204" pitchFamily="34" charset="0"/>
              </a:rPr>
              <a:t>Algorithme des lucioles</a:t>
            </a:r>
          </a:p>
        </p:txBody>
      </p:sp>
      <p:sp>
        <p:nvSpPr>
          <p:cNvPr id="18" name="ZoneTexte 17">
            <a:extLst>
              <a:ext uri="{FF2B5EF4-FFF2-40B4-BE49-F238E27FC236}">
                <a16:creationId xmlns:a16="http://schemas.microsoft.com/office/drawing/2014/main" id="{66D06085-4D62-303E-C68A-F434F3D251AB}"/>
              </a:ext>
            </a:extLst>
          </p:cNvPr>
          <p:cNvSpPr txBox="1"/>
          <p:nvPr/>
        </p:nvSpPr>
        <p:spPr>
          <a:xfrm>
            <a:off x="6435412" y="4380699"/>
            <a:ext cx="5388932" cy="646331"/>
          </a:xfrm>
          <a:prstGeom prst="rect">
            <a:avLst/>
          </a:prstGeom>
          <a:noFill/>
        </p:spPr>
        <p:txBody>
          <a:bodyPr wrap="square" rtlCol="0">
            <a:spAutoFit/>
          </a:bodyPr>
          <a:lstStyle/>
          <a:p>
            <a:r>
              <a:rPr lang="fr-FR" sz="3600" dirty="0">
                <a:solidFill>
                  <a:schemeClr val="bg1"/>
                </a:solidFill>
                <a:latin typeface="Arial Black" panose="020B0A04020102020204" pitchFamily="34" charset="0"/>
              </a:rPr>
              <a:t>6. </a:t>
            </a:r>
            <a:r>
              <a:rPr lang="fr-FR" sz="2000" dirty="0">
                <a:solidFill>
                  <a:schemeClr val="bg1"/>
                </a:solidFill>
                <a:latin typeface="Aptos Display" panose="020B0004020202020204" pitchFamily="34" charset="0"/>
              </a:rPr>
              <a:t>Trois applications Algorithme des lucioles</a:t>
            </a:r>
          </a:p>
        </p:txBody>
      </p:sp>
      <p:sp>
        <p:nvSpPr>
          <p:cNvPr id="19" name="ZoneTexte 18">
            <a:extLst>
              <a:ext uri="{FF2B5EF4-FFF2-40B4-BE49-F238E27FC236}">
                <a16:creationId xmlns:a16="http://schemas.microsoft.com/office/drawing/2014/main" id="{3D5795E9-C3B2-2CFF-D971-CE7E4F5F23E9}"/>
              </a:ext>
            </a:extLst>
          </p:cNvPr>
          <p:cNvSpPr txBox="1"/>
          <p:nvPr/>
        </p:nvSpPr>
        <p:spPr>
          <a:xfrm>
            <a:off x="6435412" y="5085036"/>
            <a:ext cx="5388932" cy="954107"/>
          </a:xfrm>
          <a:prstGeom prst="rect">
            <a:avLst/>
          </a:prstGeom>
          <a:noFill/>
        </p:spPr>
        <p:txBody>
          <a:bodyPr wrap="square" rtlCol="0">
            <a:spAutoFit/>
          </a:bodyPr>
          <a:lstStyle/>
          <a:p>
            <a:r>
              <a:rPr lang="fr-FR" sz="3600" dirty="0">
                <a:solidFill>
                  <a:schemeClr val="bg1"/>
                </a:solidFill>
                <a:latin typeface="Arial Black" panose="020B0A04020102020204" pitchFamily="34" charset="0"/>
              </a:rPr>
              <a:t>7. </a:t>
            </a:r>
            <a:r>
              <a:rPr lang="fr-FR" sz="2000" dirty="0">
                <a:solidFill>
                  <a:schemeClr val="bg1"/>
                </a:solidFill>
                <a:latin typeface="Aptos Display" panose="020B0004020202020204" pitchFamily="34" charset="0"/>
              </a:rPr>
              <a:t>Comparaison de l’Algorithme des lucioles avec les autres algos bio-inspirés</a:t>
            </a:r>
          </a:p>
        </p:txBody>
      </p:sp>
      <p:pic>
        <p:nvPicPr>
          <p:cNvPr id="21" name="Picture 2" descr="Premium AI Image | Abstract and magical image of Firefly flying in the ...">
            <a:extLst>
              <a:ext uri="{FF2B5EF4-FFF2-40B4-BE49-F238E27FC236}">
                <a16:creationId xmlns:a16="http://schemas.microsoft.com/office/drawing/2014/main" id="{4380326C-A906-2721-3B5D-1525C07C37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00" r="7778"/>
          <a:stretch/>
        </p:blipFill>
        <p:spPr bwMode="auto">
          <a:xfrm>
            <a:off x="6766560" y="12297070"/>
            <a:ext cx="5490532" cy="6858000"/>
          </a:xfrm>
          <a:prstGeom prst="rect">
            <a:avLst/>
          </a:prstGeom>
          <a:noFill/>
          <a:extLst>
            <a:ext uri="{909E8E84-426E-40DD-AFC4-6F175D3DCCD1}">
              <a14:hiddenFill xmlns:a14="http://schemas.microsoft.com/office/drawing/2010/main">
                <a:solidFill>
                  <a:srgbClr val="FFFFFF"/>
                </a:solidFill>
              </a14:hiddenFill>
            </a:ext>
          </a:extLst>
        </p:spPr>
      </p:pic>
      <p:sp>
        <p:nvSpPr>
          <p:cNvPr id="22" name="ZoneTexte 21">
            <a:extLst>
              <a:ext uri="{FF2B5EF4-FFF2-40B4-BE49-F238E27FC236}">
                <a16:creationId xmlns:a16="http://schemas.microsoft.com/office/drawing/2014/main" id="{2FB19789-60E4-191E-514E-33B25895A42B}"/>
              </a:ext>
            </a:extLst>
          </p:cNvPr>
          <p:cNvSpPr txBox="1"/>
          <p:nvPr/>
        </p:nvSpPr>
        <p:spPr>
          <a:xfrm>
            <a:off x="682579" y="13129825"/>
            <a:ext cx="5143233" cy="3719813"/>
          </a:xfrm>
          <a:prstGeom prst="roundRect">
            <a:avLst/>
          </a:prstGeom>
          <a:solidFill>
            <a:schemeClr val="bg2">
              <a:alpha val="13000"/>
            </a:schemeClr>
          </a:solidFill>
        </p:spPr>
        <p:txBody>
          <a:bodyPr wrap="square" rtlCol="0">
            <a:spAutoFit/>
          </a:bodyPr>
          <a:lstStyle/>
          <a:p>
            <a:pPr>
              <a:lnSpc>
                <a:spcPct val="150000"/>
              </a:lnSpc>
            </a:pPr>
            <a:r>
              <a:rPr lang="fr-FR" sz="2400" b="0" dirty="0">
                <a:solidFill>
                  <a:schemeClr val="bg1"/>
                </a:solidFill>
                <a:effectLst/>
                <a:latin typeface="DeepSeek-CJK-patch"/>
              </a:rPr>
              <a:t>Les lucioles utilisent la lumière pour communiquer, se synchroniser et se protéger des prédateurs. Ce phénomène a inspiré des modèles informatiques, notamment l’algorithme des lucioles.</a:t>
            </a:r>
            <a:endParaRPr lang="fr-FR" sz="2400" b="1" dirty="0">
              <a:solidFill>
                <a:schemeClr val="bg1"/>
              </a:solidFill>
              <a:latin typeface="Aptos" panose="020B0004020202020204" pitchFamily="34" charset="0"/>
            </a:endParaRPr>
          </a:p>
        </p:txBody>
      </p:sp>
      <p:sp>
        <p:nvSpPr>
          <p:cNvPr id="23" name="ZoneTexte 22">
            <a:extLst>
              <a:ext uri="{FF2B5EF4-FFF2-40B4-BE49-F238E27FC236}">
                <a16:creationId xmlns:a16="http://schemas.microsoft.com/office/drawing/2014/main" id="{43101408-B517-11C6-E4E0-2FB010C429B6}"/>
              </a:ext>
            </a:extLst>
          </p:cNvPr>
          <p:cNvSpPr txBox="1"/>
          <p:nvPr/>
        </p:nvSpPr>
        <p:spPr>
          <a:xfrm>
            <a:off x="549095" y="11863306"/>
            <a:ext cx="4185920" cy="830997"/>
          </a:xfrm>
          <a:prstGeom prst="rect">
            <a:avLst/>
          </a:prstGeom>
          <a:noFill/>
        </p:spPr>
        <p:txBody>
          <a:bodyPr wrap="square" rtlCol="0">
            <a:spAutoFit/>
          </a:bodyPr>
          <a:lstStyle/>
          <a:p>
            <a:r>
              <a:rPr lang="fr-FR" sz="4800" dirty="0">
                <a:solidFill>
                  <a:schemeClr val="bg1"/>
                </a:solidFill>
                <a:latin typeface="Aharoni" panose="02010803020104030203" pitchFamily="2" charset="-79"/>
                <a:cs typeface="Aharoni" panose="02010803020104030203" pitchFamily="2" charset="-79"/>
              </a:rPr>
              <a:t>Introduction </a:t>
            </a:r>
          </a:p>
        </p:txBody>
      </p:sp>
    </p:spTree>
    <p:extLst>
      <p:ext uri="{BB962C8B-B14F-4D97-AF65-F5344CB8AC3E}">
        <p14:creationId xmlns:p14="http://schemas.microsoft.com/office/powerpoint/2010/main" val="8557938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D4F36F20-091E-913F-0ABE-0EC35398AD2E}"/>
            </a:ext>
          </a:extLst>
        </p:cNvPr>
        <p:cNvGrpSpPr/>
        <p:nvPr/>
      </p:nvGrpSpPr>
      <p:grpSpPr>
        <a:xfrm>
          <a:off x="0" y="0"/>
          <a:ext cx="0" cy="0"/>
          <a:chOff x="0" y="0"/>
          <a:chExt cx="0" cy="0"/>
        </a:xfrm>
      </p:grpSpPr>
      <p:sp>
        <p:nvSpPr>
          <p:cNvPr id="1036" name="Rectangle 1035">
            <a:extLst>
              <a:ext uri="{FF2B5EF4-FFF2-40B4-BE49-F238E27FC236}">
                <a16:creationId xmlns:a16="http://schemas.microsoft.com/office/drawing/2014/main" id="{4E3D3ADE-8B10-F8C8-249B-AF7B59A9B142}"/>
              </a:ext>
            </a:extLst>
          </p:cNvPr>
          <p:cNvSpPr/>
          <p:nvPr/>
        </p:nvSpPr>
        <p:spPr>
          <a:xfrm>
            <a:off x="0" y="0"/>
            <a:ext cx="12212246"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DD7E0455-E44E-1CFB-4289-1C11CAB0D4FA}"/>
              </a:ext>
            </a:extLst>
          </p:cNvPr>
          <p:cNvSpPr txBox="1"/>
          <p:nvPr/>
        </p:nvSpPr>
        <p:spPr>
          <a:xfrm>
            <a:off x="554222" y="2459504"/>
            <a:ext cx="6801618" cy="1938992"/>
          </a:xfrm>
          <a:prstGeom prst="rect">
            <a:avLst/>
          </a:prstGeom>
          <a:noFill/>
        </p:spPr>
        <p:txBody>
          <a:bodyPr wrap="square" rtlCol="0">
            <a:spAutoFit/>
          </a:bodyPr>
          <a:lstStyle/>
          <a:p>
            <a:r>
              <a:rPr lang="fr-FR" sz="6000" dirty="0">
                <a:solidFill>
                  <a:schemeClr val="bg1"/>
                </a:solidFill>
                <a:latin typeface="Arial Black" panose="020B0A04020102020204" pitchFamily="34" charset="0"/>
              </a:rPr>
              <a:t>Pourquoi Cet Algorithme ?</a:t>
            </a:r>
          </a:p>
        </p:txBody>
      </p:sp>
      <p:sp>
        <p:nvSpPr>
          <p:cNvPr id="3" name="Rectangle 2">
            <a:extLst>
              <a:ext uri="{FF2B5EF4-FFF2-40B4-BE49-F238E27FC236}">
                <a16:creationId xmlns:a16="http://schemas.microsoft.com/office/drawing/2014/main" id="{BDF0F723-BA16-9B5E-F915-80DC4E3116DF}"/>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86FDC968-BE9D-4415-43B5-BD3AF70D3466}"/>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B0E85E9A-7E16-4C3C-2406-664FC353E462}"/>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8DC736CA-2505-6570-B4E8-95E8C6DFC880}"/>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38" name="Image 1037">
            <a:extLst>
              <a:ext uri="{FF2B5EF4-FFF2-40B4-BE49-F238E27FC236}">
                <a16:creationId xmlns:a16="http://schemas.microsoft.com/office/drawing/2014/main" id="{3C016E3E-8BB6-650E-5982-28CED2D45E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5840" y="1041065"/>
            <a:ext cx="4036438" cy="4267869"/>
          </a:xfrm>
          <a:prstGeom prst="rect">
            <a:avLst/>
          </a:prstGeom>
        </p:spPr>
      </p:pic>
      <p:pic>
        <p:nvPicPr>
          <p:cNvPr id="2" name="Picture 2" descr="Premium AI Image | Abstract and magical image of Firefly flying in the ...">
            <a:extLst>
              <a:ext uri="{FF2B5EF4-FFF2-40B4-BE49-F238E27FC236}">
                <a16:creationId xmlns:a16="http://schemas.microsoft.com/office/drawing/2014/main" id="{9F0AC5D2-EAD9-363D-FEBE-E6FD3AD924D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00" r="7778"/>
          <a:stretch/>
        </p:blipFill>
        <p:spPr bwMode="auto">
          <a:xfrm>
            <a:off x="6701468" y="7899065"/>
            <a:ext cx="5490532"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F5D5A7E3-911B-E88A-9483-1C5E1BEB3477}"/>
              </a:ext>
            </a:extLst>
          </p:cNvPr>
          <p:cNvSpPr txBox="1"/>
          <p:nvPr/>
        </p:nvSpPr>
        <p:spPr>
          <a:xfrm>
            <a:off x="347300" y="10204937"/>
            <a:ext cx="5143233" cy="3719813"/>
          </a:xfrm>
          <a:prstGeom prst="roundRect">
            <a:avLst/>
          </a:prstGeom>
          <a:solidFill>
            <a:schemeClr val="bg2">
              <a:alpha val="13000"/>
            </a:schemeClr>
          </a:solidFill>
        </p:spPr>
        <p:txBody>
          <a:bodyPr wrap="square" rtlCol="0">
            <a:spAutoFit/>
          </a:bodyPr>
          <a:lstStyle/>
          <a:p>
            <a:pPr>
              <a:lnSpc>
                <a:spcPct val="150000"/>
              </a:lnSpc>
            </a:pPr>
            <a:r>
              <a:rPr lang="fr-FR" sz="2400" b="0" dirty="0">
                <a:solidFill>
                  <a:schemeClr val="bg1"/>
                </a:solidFill>
                <a:effectLst/>
                <a:latin typeface="DeepSeek-CJK-patch"/>
              </a:rPr>
              <a:t>Les lucioles utilisent la lumière pour communiquer, se synchroniser et se protéger des prédateurs. Ce phénomène a inspiré des modèles informatiques, notamment l’algorithme des lucioles.</a:t>
            </a:r>
            <a:endParaRPr lang="fr-FR" sz="2400" b="1" dirty="0">
              <a:solidFill>
                <a:schemeClr val="bg1"/>
              </a:solidFill>
              <a:latin typeface="Aptos" panose="020B0004020202020204" pitchFamily="34" charset="0"/>
            </a:endParaRPr>
          </a:p>
        </p:txBody>
      </p:sp>
      <p:sp>
        <p:nvSpPr>
          <p:cNvPr id="6" name="ZoneTexte 5">
            <a:extLst>
              <a:ext uri="{FF2B5EF4-FFF2-40B4-BE49-F238E27FC236}">
                <a16:creationId xmlns:a16="http://schemas.microsoft.com/office/drawing/2014/main" id="{7F7AFABD-4888-4C61-6518-F9A7E5C2CCBC}"/>
              </a:ext>
            </a:extLst>
          </p:cNvPr>
          <p:cNvSpPr txBox="1"/>
          <p:nvPr/>
        </p:nvSpPr>
        <p:spPr>
          <a:xfrm>
            <a:off x="213816" y="8938418"/>
            <a:ext cx="4185920" cy="830997"/>
          </a:xfrm>
          <a:prstGeom prst="rect">
            <a:avLst/>
          </a:prstGeom>
          <a:noFill/>
        </p:spPr>
        <p:txBody>
          <a:bodyPr wrap="square" rtlCol="0">
            <a:spAutoFit/>
          </a:bodyPr>
          <a:lstStyle/>
          <a:p>
            <a:r>
              <a:rPr lang="fr-FR" sz="4800" dirty="0">
                <a:solidFill>
                  <a:schemeClr val="bg1"/>
                </a:solidFill>
                <a:latin typeface="Aharoni" panose="02010803020104030203" pitchFamily="2" charset="-79"/>
                <a:cs typeface="Aharoni" panose="02010803020104030203" pitchFamily="2" charset="-79"/>
              </a:rPr>
              <a:t>Introduction </a:t>
            </a:r>
          </a:p>
        </p:txBody>
      </p:sp>
    </p:spTree>
    <p:extLst>
      <p:ext uri="{BB962C8B-B14F-4D97-AF65-F5344CB8AC3E}">
        <p14:creationId xmlns:p14="http://schemas.microsoft.com/office/powerpoint/2010/main" val="26704355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9EE38624-CC18-BF9F-CA7E-CF6B9C83822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F4214BF-3BC1-D52F-7EB7-A4A0ECE23353}"/>
              </a:ext>
            </a:extLst>
          </p:cNvPr>
          <p:cNvSpPr/>
          <p:nvPr/>
        </p:nvSpPr>
        <p:spPr>
          <a:xfrm>
            <a:off x="3046910" y="0"/>
            <a:ext cx="2869667" cy="685800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76385D31-5835-BE02-47CF-FE51EEB337D9}"/>
              </a:ext>
            </a:extLst>
          </p:cNvPr>
          <p:cNvSpPr/>
          <p:nvPr/>
        </p:nvSpPr>
        <p:spPr>
          <a:xfrm>
            <a:off x="-20246" y="0"/>
            <a:ext cx="3097298"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ACC4C3ED-54E2-C2E0-2A20-1B4A39220DC3}"/>
              </a:ext>
            </a:extLst>
          </p:cNvPr>
          <p:cNvSpPr/>
          <p:nvPr/>
        </p:nvSpPr>
        <p:spPr>
          <a:xfrm>
            <a:off x="8930903" y="0"/>
            <a:ext cx="3262083" cy="685800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BF18DC70-D291-B25D-711C-304B76C1B993}"/>
              </a:ext>
            </a:extLst>
          </p:cNvPr>
          <p:cNvSpPr/>
          <p:nvPr/>
        </p:nvSpPr>
        <p:spPr>
          <a:xfrm>
            <a:off x="5882903" y="0"/>
            <a:ext cx="3048000" cy="6858000"/>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3EB69F90-819C-C311-38D9-DC1332C022EF}"/>
              </a:ext>
            </a:extLst>
          </p:cNvPr>
          <p:cNvSpPr txBox="1"/>
          <p:nvPr/>
        </p:nvSpPr>
        <p:spPr>
          <a:xfrm>
            <a:off x="3078038" y="3590803"/>
            <a:ext cx="2661920" cy="2062103"/>
          </a:xfrm>
          <a:prstGeom prst="rect">
            <a:avLst/>
          </a:prstGeom>
          <a:noFill/>
        </p:spPr>
        <p:txBody>
          <a:bodyPr wrap="square" rtlCol="0">
            <a:spAutoFit/>
          </a:bodyPr>
          <a:lstStyle/>
          <a:p>
            <a:pPr lvl="0" algn="ctr"/>
            <a:endParaRPr lang="fr-FR" sz="3200" dirty="0">
              <a:solidFill>
                <a:schemeClr val="bg1"/>
              </a:solidFill>
              <a:latin typeface="Aptos Display" panose="020B0004020202020204" pitchFamily="34" charset="0"/>
              <a:cs typeface="Aharoni" panose="02010803020104030203" pitchFamily="2" charset="-79"/>
            </a:endParaRPr>
          </a:p>
          <a:p>
            <a:pPr lvl="0" algn="ctr"/>
            <a:r>
              <a:rPr lang="fr-FR" sz="3200" b="1" dirty="0">
                <a:solidFill>
                  <a:schemeClr val="bg1"/>
                </a:solidFill>
                <a:latin typeface="Aptos Display" panose="020B0004020202020204" pitchFamily="34" charset="0"/>
                <a:cs typeface="Aharoni" panose="02010803020104030203" pitchFamily="2" charset="-79"/>
              </a:rPr>
              <a:t>Optimiser les réseaux </a:t>
            </a:r>
          </a:p>
          <a:p>
            <a:pPr algn="ctr"/>
            <a:endParaRPr lang="fr-FR" sz="3200" dirty="0">
              <a:solidFill>
                <a:schemeClr val="bg1"/>
              </a:solidFill>
              <a:latin typeface="Aptos Display" panose="020B0004020202020204" pitchFamily="34" charset="0"/>
              <a:cs typeface="Aharoni" panose="02010803020104030203" pitchFamily="2" charset="-79"/>
            </a:endParaRPr>
          </a:p>
        </p:txBody>
      </p:sp>
      <p:sp>
        <p:nvSpPr>
          <p:cNvPr id="10" name="ZoneTexte 9">
            <a:extLst>
              <a:ext uri="{FF2B5EF4-FFF2-40B4-BE49-F238E27FC236}">
                <a16:creationId xmlns:a16="http://schemas.microsoft.com/office/drawing/2014/main" id="{2A1560FA-8192-6654-0204-60ACFC111409}"/>
              </a:ext>
            </a:extLst>
          </p:cNvPr>
          <p:cNvSpPr txBox="1"/>
          <p:nvPr/>
        </p:nvSpPr>
        <p:spPr>
          <a:xfrm>
            <a:off x="16519" y="3402241"/>
            <a:ext cx="2942141" cy="2739211"/>
          </a:xfrm>
          <a:prstGeom prst="rect">
            <a:avLst/>
          </a:prstGeom>
          <a:noFill/>
        </p:spPr>
        <p:txBody>
          <a:bodyPr wrap="square" rtlCol="0">
            <a:spAutoFit/>
          </a:bodyPr>
          <a:lstStyle/>
          <a:p>
            <a:pPr algn="ctr"/>
            <a:r>
              <a:rPr lang="fr-FR" sz="3400" b="1" dirty="0">
                <a:solidFill>
                  <a:schemeClr val="bg1"/>
                </a:solidFill>
                <a:latin typeface="Aptos Display" panose="020B0004020202020204" pitchFamily="34" charset="0"/>
                <a:cs typeface="Aharoni" panose="02010803020104030203" pitchFamily="2" charset="-79"/>
              </a:rPr>
              <a:t>Améliorer la </a:t>
            </a:r>
            <a:r>
              <a:rPr lang="fr-FR" sz="3600" b="1" dirty="0">
                <a:solidFill>
                  <a:schemeClr val="bg1"/>
                </a:solidFill>
                <a:latin typeface="Aptos Display" panose="020B0004020202020204" pitchFamily="34" charset="0"/>
                <a:cs typeface="Aharoni" panose="02010803020104030203" pitchFamily="2" charset="-79"/>
              </a:rPr>
              <a:t>logistique</a:t>
            </a:r>
            <a:r>
              <a:rPr lang="fr-FR" sz="3400" b="1" dirty="0">
                <a:solidFill>
                  <a:schemeClr val="bg1"/>
                </a:solidFill>
                <a:latin typeface="Aptos Display" panose="020B0004020202020204" pitchFamily="34" charset="0"/>
                <a:cs typeface="Aharoni" panose="02010803020104030203" pitchFamily="2" charset="-79"/>
              </a:rPr>
              <a:t> </a:t>
            </a:r>
          </a:p>
          <a:p>
            <a:pPr algn="ctr"/>
            <a:r>
              <a:rPr lang="fr-FR" sz="3400" b="1" dirty="0">
                <a:solidFill>
                  <a:schemeClr val="bg1"/>
                </a:solidFill>
                <a:latin typeface="Aptos Display" panose="020B0004020202020204" pitchFamily="34" charset="0"/>
                <a:cs typeface="Aharoni" panose="02010803020104030203" pitchFamily="2" charset="-79"/>
              </a:rPr>
              <a:t>et la production</a:t>
            </a:r>
            <a:r>
              <a:rPr lang="fr-FR" sz="3400" dirty="0">
                <a:solidFill>
                  <a:schemeClr val="bg1"/>
                </a:solidFill>
                <a:latin typeface="Aptos Display" panose="020B0004020202020204" pitchFamily="34" charset="0"/>
                <a:cs typeface="Aharoni" panose="02010803020104030203" pitchFamily="2" charset="-79"/>
              </a:rPr>
              <a:t> </a:t>
            </a:r>
          </a:p>
          <a:p>
            <a:pPr algn="ctr"/>
            <a:endParaRPr lang="fr-FR" sz="3400" b="1" dirty="0">
              <a:solidFill>
                <a:schemeClr val="bg1"/>
              </a:solidFill>
              <a:latin typeface="Aptos Display" panose="020B0004020202020204" pitchFamily="34" charset="0"/>
              <a:cs typeface="Aharoni" panose="02010803020104030203" pitchFamily="2" charset="-79"/>
            </a:endParaRPr>
          </a:p>
        </p:txBody>
      </p:sp>
      <p:sp>
        <p:nvSpPr>
          <p:cNvPr id="11" name="ZoneTexte 10">
            <a:extLst>
              <a:ext uri="{FF2B5EF4-FFF2-40B4-BE49-F238E27FC236}">
                <a16:creationId xmlns:a16="http://schemas.microsoft.com/office/drawing/2014/main" id="{80BB5C16-D74D-3BCC-5B16-070D389AC7FF}"/>
              </a:ext>
            </a:extLst>
          </p:cNvPr>
          <p:cNvSpPr txBox="1"/>
          <p:nvPr/>
        </p:nvSpPr>
        <p:spPr>
          <a:xfrm>
            <a:off x="5754977" y="4114756"/>
            <a:ext cx="3008524" cy="1661993"/>
          </a:xfrm>
          <a:prstGeom prst="rect">
            <a:avLst/>
          </a:prstGeom>
          <a:noFill/>
        </p:spPr>
        <p:txBody>
          <a:bodyPr wrap="square" rtlCol="0">
            <a:spAutoFit/>
          </a:bodyPr>
          <a:lstStyle/>
          <a:p>
            <a:pPr algn="ctr"/>
            <a:r>
              <a:rPr lang="fr-FR" sz="3400" b="1" dirty="0">
                <a:solidFill>
                  <a:schemeClr val="bg1"/>
                </a:solidFill>
                <a:latin typeface="Aptos Display" panose="020B0004020202020204" pitchFamily="34" charset="0"/>
                <a:cs typeface="Aharoni" panose="02010803020104030203" pitchFamily="2" charset="-79"/>
              </a:rPr>
              <a:t>Optimiser les transports </a:t>
            </a:r>
          </a:p>
          <a:p>
            <a:pPr algn="ctr"/>
            <a:endParaRPr lang="fr-FR" sz="3400" dirty="0">
              <a:solidFill>
                <a:schemeClr val="bg1"/>
              </a:solidFill>
              <a:latin typeface="Aptos Display" panose="020B0004020202020204" pitchFamily="34" charset="0"/>
              <a:cs typeface="Aharoni" panose="02010803020104030203" pitchFamily="2" charset="-79"/>
            </a:endParaRPr>
          </a:p>
        </p:txBody>
      </p:sp>
      <p:sp>
        <p:nvSpPr>
          <p:cNvPr id="12" name="ZoneTexte 11">
            <a:extLst>
              <a:ext uri="{FF2B5EF4-FFF2-40B4-BE49-F238E27FC236}">
                <a16:creationId xmlns:a16="http://schemas.microsoft.com/office/drawing/2014/main" id="{2F81F6EE-C71A-03D2-4275-09091315937E}"/>
              </a:ext>
            </a:extLst>
          </p:cNvPr>
          <p:cNvSpPr txBox="1"/>
          <p:nvPr/>
        </p:nvSpPr>
        <p:spPr>
          <a:xfrm>
            <a:off x="8955195" y="2789405"/>
            <a:ext cx="3113314" cy="3416320"/>
          </a:xfrm>
          <a:prstGeom prst="rect">
            <a:avLst/>
          </a:prstGeom>
          <a:noFill/>
        </p:spPr>
        <p:txBody>
          <a:bodyPr wrap="square" rtlCol="0">
            <a:spAutoFit/>
          </a:bodyPr>
          <a:lstStyle/>
          <a:p>
            <a:pPr lvl="0" algn="ctr"/>
            <a:endParaRPr lang="fr-FR" sz="3600" dirty="0">
              <a:solidFill>
                <a:schemeClr val="bg1"/>
              </a:solidFill>
              <a:latin typeface="Aptos Display" panose="020B0004020202020204" pitchFamily="34" charset="0"/>
              <a:cs typeface="Aharoni" panose="02010803020104030203" pitchFamily="2" charset="-79"/>
            </a:endParaRPr>
          </a:p>
          <a:p>
            <a:pPr lvl="0" algn="ctr"/>
            <a:r>
              <a:rPr lang="fr-FR" sz="3600" b="1" dirty="0">
                <a:solidFill>
                  <a:schemeClr val="bg1"/>
                </a:solidFill>
                <a:latin typeface="Aptos Display" panose="020B0004020202020204" pitchFamily="34" charset="0"/>
                <a:cs typeface="Aharoni" panose="02010803020104030203" pitchFamily="2" charset="-79"/>
              </a:rPr>
              <a:t>Piloter l’intelligence artificielle et la robotique </a:t>
            </a:r>
          </a:p>
          <a:p>
            <a:pPr algn="ctr"/>
            <a:endParaRPr lang="fr-FR" sz="3600" dirty="0">
              <a:solidFill>
                <a:schemeClr val="bg1"/>
              </a:solidFill>
              <a:latin typeface="Aptos Display" panose="020B0004020202020204" pitchFamily="34" charset="0"/>
              <a:cs typeface="Aharoni" panose="02010803020104030203" pitchFamily="2" charset="-79"/>
            </a:endParaRPr>
          </a:p>
        </p:txBody>
      </p:sp>
      <p:pic>
        <p:nvPicPr>
          <p:cNvPr id="14" name="Graphique 13" descr="Réseau">
            <a:extLst>
              <a:ext uri="{FF2B5EF4-FFF2-40B4-BE49-F238E27FC236}">
                <a16:creationId xmlns:a16="http://schemas.microsoft.com/office/drawing/2014/main" id="{C7446371-C619-CE2E-BCE9-D61FE333E5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4990" y="1223456"/>
            <a:ext cx="1333506" cy="1333506"/>
          </a:xfrm>
          <a:prstGeom prst="rect">
            <a:avLst/>
          </a:prstGeom>
        </p:spPr>
      </p:pic>
      <p:pic>
        <p:nvPicPr>
          <p:cNvPr id="21" name="Image 20">
            <a:extLst>
              <a:ext uri="{FF2B5EF4-FFF2-40B4-BE49-F238E27FC236}">
                <a16:creationId xmlns:a16="http://schemas.microsoft.com/office/drawing/2014/main" id="{AFC7ABC3-28CD-4006-38EF-A69131902887}"/>
              </a:ext>
            </a:extLst>
          </p:cNvPr>
          <p:cNvPicPr>
            <a:picLocks noChangeAspect="1"/>
          </p:cNvPicPr>
          <p:nvPr/>
        </p:nvPicPr>
        <p:blipFill>
          <a:blip r:embed="rId5">
            <a:duotone>
              <a:schemeClr val="accent3">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86365" y="1208658"/>
            <a:ext cx="1292681" cy="1292681"/>
          </a:xfrm>
          <a:prstGeom prst="rect">
            <a:avLst/>
          </a:prstGeom>
        </p:spPr>
      </p:pic>
      <p:grpSp>
        <p:nvGrpSpPr>
          <p:cNvPr id="27" name="Groupe 26">
            <a:extLst>
              <a:ext uri="{FF2B5EF4-FFF2-40B4-BE49-F238E27FC236}">
                <a16:creationId xmlns:a16="http://schemas.microsoft.com/office/drawing/2014/main" id="{E26E1D03-221E-075F-4D55-568D4F9E17E7}"/>
              </a:ext>
            </a:extLst>
          </p:cNvPr>
          <p:cNvGrpSpPr/>
          <p:nvPr/>
        </p:nvGrpSpPr>
        <p:grpSpPr>
          <a:xfrm>
            <a:off x="6734200" y="1229676"/>
            <a:ext cx="1161861" cy="1590019"/>
            <a:chOff x="6631578" y="1315615"/>
            <a:chExt cx="1443236" cy="1957990"/>
          </a:xfrm>
        </p:grpSpPr>
        <p:pic>
          <p:nvPicPr>
            <p:cNvPr id="24" name="Graphique 23" descr="Monde">
              <a:extLst>
                <a:ext uri="{FF2B5EF4-FFF2-40B4-BE49-F238E27FC236}">
                  <a16:creationId xmlns:a16="http://schemas.microsoft.com/office/drawing/2014/main" id="{612D238C-4CB8-E178-C550-7DC1ED8438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31578" y="1315615"/>
              <a:ext cx="1259633" cy="1259633"/>
            </a:xfrm>
            <a:prstGeom prst="rect">
              <a:avLst/>
            </a:prstGeom>
          </p:spPr>
        </p:pic>
        <p:pic>
          <p:nvPicPr>
            <p:cNvPr id="26" name="Graphique 25" descr="Camion-benne">
              <a:extLst>
                <a:ext uri="{FF2B5EF4-FFF2-40B4-BE49-F238E27FC236}">
                  <a16:creationId xmlns:a16="http://schemas.microsoft.com/office/drawing/2014/main" id="{4DB8D668-7674-C847-B120-48E23563B51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46640" y="1945431"/>
              <a:ext cx="1328174" cy="1328174"/>
            </a:xfrm>
            <a:prstGeom prst="rect">
              <a:avLst/>
            </a:prstGeom>
          </p:spPr>
        </p:pic>
      </p:grpSp>
      <p:pic>
        <p:nvPicPr>
          <p:cNvPr id="29" name="Graphique 28" descr="Robot">
            <a:extLst>
              <a:ext uri="{FF2B5EF4-FFF2-40B4-BE49-F238E27FC236}">
                <a16:creationId xmlns:a16="http://schemas.microsoft.com/office/drawing/2014/main" id="{BBC906C2-A204-3E9C-5800-2977798E173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869695" y="1281845"/>
            <a:ext cx="1370727" cy="1370727"/>
          </a:xfrm>
          <a:prstGeom prst="rect">
            <a:avLst/>
          </a:prstGeom>
        </p:spPr>
      </p:pic>
      <p:sp>
        <p:nvSpPr>
          <p:cNvPr id="34" name="Ellipse 33">
            <a:extLst>
              <a:ext uri="{FF2B5EF4-FFF2-40B4-BE49-F238E27FC236}">
                <a16:creationId xmlns:a16="http://schemas.microsoft.com/office/drawing/2014/main" id="{7EDA436B-98CF-8076-4BED-32C7AD6F9B03}"/>
              </a:ext>
            </a:extLst>
          </p:cNvPr>
          <p:cNvSpPr/>
          <p:nvPr/>
        </p:nvSpPr>
        <p:spPr>
          <a:xfrm>
            <a:off x="522514" y="902712"/>
            <a:ext cx="1855342" cy="1886693"/>
          </a:xfrm>
          <a:prstGeom prst="ellipse">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Ellipse 34">
            <a:extLst>
              <a:ext uri="{FF2B5EF4-FFF2-40B4-BE49-F238E27FC236}">
                <a16:creationId xmlns:a16="http://schemas.microsoft.com/office/drawing/2014/main" id="{A5CF13BE-06E5-6EC9-9F34-0FBB68B75F7B}"/>
              </a:ext>
            </a:extLst>
          </p:cNvPr>
          <p:cNvSpPr/>
          <p:nvPr/>
        </p:nvSpPr>
        <p:spPr>
          <a:xfrm>
            <a:off x="3547366" y="969933"/>
            <a:ext cx="1855342" cy="1886693"/>
          </a:xfrm>
          <a:prstGeom prst="ellipse">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Ellipse 35">
            <a:extLst>
              <a:ext uri="{FF2B5EF4-FFF2-40B4-BE49-F238E27FC236}">
                <a16:creationId xmlns:a16="http://schemas.microsoft.com/office/drawing/2014/main" id="{6CF81B15-7F42-26B5-701A-381182AB5134}"/>
              </a:ext>
            </a:extLst>
          </p:cNvPr>
          <p:cNvSpPr/>
          <p:nvPr/>
        </p:nvSpPr>
        <p:spPr>
          <a:xfrm>
            <a:off x="9627388" y="969933"/>
            <a:ext cx="1855342" cy="1886693"/>
          </a:xfrm>
          <a:prstGeom prst="ellipse">
            <a:avLst/>
          </a:prstGeom>
          <a:noFill/>
          <a:ln w="762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llipse 36">
            <a:extLst>
              <a:ext uri="{FF2B5EF4-FFF2-40B4-BE49-F238E27FC236}">
                <a16:creationId xmlns:a16="http://schemas.microsoft.com/office/drawing/2014/main" id="{BD15E02A-5177-6B8C-9104-F95E19B1B847}"/>
              </a:ext>
            </a:extLst>
          </p:cNvPr>
          <p:cNvSpPr/>
          <p:nvPr/>
        </p:nvSpPr>
        <p:spPr>
          <a:xfrm>
            <a:off x="6334154" y="1030083"/>
            <a:ext cx="1855342" cy="1886693"/>
          </a:xfrm>
          <a:prstGeom prst="ellipse">
            <a:avLst/>
          </a:prstGeom>
          <a:noFill/>
          <a:ln w="762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Image 37">
            <a:extLst>
              <a:ext uri="{FF2B5EF4-FFF2-40B4-BE49-F238E27FC236}">
                <a16:creationId xmlns:a16="http://schemas.microsoft.com/office/drawing/2014/main" id="{C24B0942-790D-0D65-AFBB-9D9EA84A54A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3572256">
            <a:off x="10814782" y="-2735091"/>
            <a:ext cx="3222899" cy="2430100"/>
          </a:xfrm>
          <a:prstGeom prst="rect">
            <a:avLst/>
          </a:prstGeom>
        </p:spPr>
      </p:pic>
    </p:spTree>
    <p:extLst>
      <p:ext uri="{BB962C8B-B14F-4D97-AF65-F5344CB8AC3E}">
        <p14:creationId xmlns:p14="http://schemas.microsoft.com/office/powerpoint/2010/main" val="14033142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244CB024-FC2B-EDD2-0889-BC6582BB9140}"/>
            </a:ext>
          </a:extLst>
        </p:cNvPr>
        <p:cNvGrpSpPr/>
        <p:nvPr/>
      </p:nvGrpSpPr>
      <p:grpSpPr>
        <a:xfrm>
          <a:off x="0" y="0"/>
          <a:ext cx="0" cy="0"/>
          <a:chOff x="0" y="0"/>
          <a:chExt cx="0" cy="0"/>
        </a:xfrm>
      </p:grpSpPr>
      <p:cxnSp>
        <p:nvCxnSpPr>
          <p:cNvPr id="19" name="Connecteur droit 18">
            <a:extLst>
              <a:ext uri="{FF2B5EF4-FFF2-40B4-BE49-F238E27FC236}">
                <a16:creationId xmlns:a16="http://schemas.microsoft.com/office/drawing/2014/main" id="{1B3B424D-B51D-2A65-AFDF-88E01D500EAC}"/>
              </a:ext>
            </a:extLst>
          </p:cNvPr>
          <p:cNvCxnSpPr>
            <a:cxnSpLocks/>
            <a:stCxn id="12" idx="6"/>
            <a:endCxn id="13" idx="2"/>
          </p:cNvCxnSpPr>
          <p:nvPr/>
        </p:nvCxnSpPr>
        <p:spPr>
          <a:xfrm>
            <a:off x="7321222" y="3429000"/>
            <a:ext cx="1635936" cy="1675619"/>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BA13D6E8-1AA4-D326-204E-0BD5C9BD7A7B}"/>
              </a:ext>
            </a:extLst>
          </p:cNvPr>
          <p:cNvCxnSpPr>
            <a:cxnSpLocks/>
            <a:stCxn id="11" idx="7"/>
            <a:endCxn id="12" idx="2"/>
          </p:cNvCxnSpPr>
          <p:nvPr/>
        </p:nvCxnSpPr>
        <p:spPr>
          <a:xfrm>
            <a:off x="2593459" y="1817194"/>
            <a:ext cx="2240807" cy="1611806"/>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CB039B2-05D2-1A28-31B9-3FAA58BB8748}"/>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4C9EB4F1-4E4F-83E4-EBAA-B55D9368904A}"/>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BD0C1F3E-8981-5F38-9EDE-7D0BA33E0D2B}"/>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337A0149-F03D-06C6-3739-292952BFCBA8}"/>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40A95FE5-FDCB-6F1B-BEEF-79657275940F}"/>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E42ADBED-8B09-75F0-4B27-9844A231A44F}"/>
              </a:ext>
            </a:extLst>
          </p:cNvPr>
          <p:cNvSpPr txBox="1"/>
          <p:nvPr/>
        </p:nvSpPr>
        <p:spPr>
          <a:xfrm>
            <a:off x="581361" y="444671"/>
            <a:ext cx="9738073" cy="584775"/>
          </a:xfrm>
          <a:prstGeom prst="rect">
            <a:avLst/>
          </a:prstGeom>
          <a:noFill/>
        </p:spPr>
        <p:txBody>
          <a:bodyPr wrap="square" rtlCol="0">
            <a:spAutoFit/>
          </a:bodyPr>
          <a:lstStyle/>
          <a:p>
            <a:r>
              <a:rPr lang="fr-FR" sz="3200" dirty="0">
                <a:solidFill>
                  <a:schemeClr val="tx2">
                    <a:lumMod val="75000"/>
                  </a:schemeClr>
                </a:solidFill>
                <a:latin typeface="Arial Black" panose="020B0A04020102020204" pitchFamily="34" charset="0"/>
              </a:rPr>
              <a:t>Principe de fonctionnement </a:t>
            </a:r>
          </a:p>
        </p:txBody>
      </p:sp>
      <p:sp>
        <p:nvSpPr>
          <p:cNvPr id="11" name="Ellipse 10">
            <a:extLst>
              <a:ext uri="{FF2B5EF4-FFF2-40B4-BE49-F238E27FC236}">
                <a16:creationId xmlns:a16="http://schemas.microsoft.com/office/drawing/2014/main" id="{77FE6E1C-AD4C-4177-7EC2-224E5F6165E0}"/>
              </a:ext>
            </a:extLst>
          </p:cNvPr>
          <p:cNvSpPr/>
          <p:nvPr/>
        </p:nvSpPr>
        <p:spPr>
          <a:xfrm>
            <a:off x="605639" y="1504736"/>
            <a:ext cx="2328876" cy="21336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2" name="Ellipse 11">
            <a:extLst>
              <a:ext uri="{FF2B5EF4-FFF2-40B4-BE49-F238E27FC236}">
                <a16:creationId xmlns:a16="http://schemas.microsoft.com/office/drawing/2014/main" id="{3AD20821-C9E6-1541-B736-CCA091F12FF0}"/>
              </a:ext>
            </a:extLst>
          </p:cNvPr>
          <p:cNvSpPr/>
          <p:nvPr/>
        </p:nvSpPr>
        <p:spPr>
          <a:xfrm>
            <a:off x="4834266" y="2362200"/>
            <a:ext cx="2486956" cy="21336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3" name="Ellipse 12">
            <a:extLst>
              <a:ext uri="{FF2B5EF4-FFF2-40B4-BE49-F238E27FC236}">
                <a16:creationId xmlns:a16="http://schemas.microsoft.com/office/drawing/2014/main" id="{F76A99E2-BFB5-AB44-E6E5-BF867A00111D}"/>
              </a:ext>
            </a:extLst>
          </p:cNvPr>
          <p:cNvSpPr/>
          <p:nvPr/>
        </p:nvSpPr>
        <p:spPr>
          <a:xfrm>
            <a:off x="8957158" y="4037819"/>
            <a:ext cx="2448560" cy="21336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4" name="ZoneTexte 13">
            <a:extLst>
              <a:ext uri="{FF2B5EF4-FFF2-40B4-BE49-F238E27FC236}">
                <a16:creationId xmlns:a16="http://schemas.microsoft.com/office/drawing/2014/main" id="{3A936FA4-E4A8-A65F-08DB-6EC0AFCCAE0E}"/>
              </a:ext>
            </a:extLst>
          </p:cNvPr>
          <p:cNvSpPr txBox="1"/>
          <p:nvPr/>
        </p:nvSpPr>
        <p:spPr>
          <a:xfrm>
            <a:off x="695010" y="1902329"/>
            <a:ext cx="2150133" cy="1200329"/>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1</a:t>
            </a:r>
          </a:p>
          <a:p>
            <a:pPr algn="ctr"/>
            <a:r>
              <a:rPr lang="fr-FR" sz="2800" dirty="0">
                <a:solidFill>
                  <a:schemeClr val="tx2">
                    <a:lumMod val="50000"/>
                  </a:schemeClr>
                </a:solidFill>
                <a:latin typeface="Aharoni" panose="02010803020104030203" pitchFamily="2" charset="-79"/>
                <a:cs typeface="Aharoni" panose="02010803020104030203" pitchFamily="2" charset="-79"/>
              </a:rPr>
              <a:t>Attraction </a:t>
            </a:r>
          </a:p>
        </p:txBody>
      </p:sp>
      <p:sp>
        <p:nvSpPr>
          <p:cNvPr id="15" name="ZoneTexte 14">
            <a:extLst>
              <a:ext uri="{FF2B5EF4-FFF2-40B4-BE49-F238E27FC236}">
                <a16:creationId xmlns:a16="http://schemas.microsoft.com/office/drawing/2014/main" id="{126D7A6D-0315-5ABD-2E0A-773E16021E0B}"/>
              </a:ext>
            </a:extLst>
          </p:cNvPr>
          <p:cNvSpPr txBox="1"/>
          <p:nvPr/>
        </p:nvSpPr>
        <p:spPr>
          <a:xfrm>
            <a:off x="5002678" y="2776315"/>
            <a:ext cx="2150133" cy="1200329"/>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2</a:t>
            </a:r>
          </a:p>
          <a:p>
            <a:pPr algn="ctr"/>
            <a:r>
              <a:rPr lang="fr-FR" sz="2400" dirty="0">
                <a:solidFill>
                  <a:schemeClr val="tx2">
                    <a:lumMod val="75000"/>
                  </a:schemeClr>
                </a:solidFill>
                <a:latin typeface="Aharoni" panose="02010803020104030203" pitchFamily="2" charset="-79"/>
                <a:cs typeface="Aharoni" panose="02010803020104030203" pitchFamily="2" charset="-79"/>
              </a:rPr>
              <a:t>Déplacement </a:t>
            </a:r>
            <a:r>
              <a:rPr lang="fr-FR" sz="2800" dirty="0">
                <a:solidFill>
                  <a:schemeClr val="tx2">
                    <a:lumMod val="75000"/>
                  </a:schemeClr>
                </a:solidFill>
                <a:latin typeface="Aharoni" panose="02010803020104030203" pitchFamily="2" charset="-79"/>
                <a:cs typeface="Aharoni" panose="02010803020104030203" pitchFamily="2" charset="-79"/>
              </a:rPr>
              <a:t> </a:t>
            </a:r>
          </a:p>
        </p:txBody>
      </p:sp>
      <p:sp>
        <p:nvSpPr>
          <p:cNvPr id="16" name="ZoneTexte 15">
            <a:extLst>
              <a:ext uri="{FF2B5EF4-FFF2-40B4-BE49-F238E27FC236}">
                <a16:creationId xmlns:a16="http://schemas.microsoft.com/office/drawing/2014/main" id="{6228C1AC-A27E-9527-5A8F-66F868C6DE6B}"/>
              </a:ext>
            </a:extLst>
          </p:cNvPr>
          <p:cNvSpPr txBox="1"/>
          <p:nvPr/>
        </p:nvSpPr>
        <p:spPr>
          <a:xfrm>
            <a:off x="9087172" y="4371477"/>
            <a:ext cx="2150133" cy="1200329"/>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3</a:t>
            </a:r>
          </a:p>
          <a:p>
            <a:pPr algn="ctr"/>
            <a:r>
              <a:rPr lang="fr-FR" sz="2400" dirty="0">
                <a:solidFill>
                  <a:schemeClr val="tx2">
                    <a:lumMod val="50000"/>
                  </a:schemeClr>
                </a:solidFill>
                <a:latin typeface="Aharoni" panose="02010803020104030203" pitchFamily="2" charset="-79"/>
                <a:cs typeface="Aharoni" panose="02010803020104030203" pitchFamily="2" charset="-79"/>
              </a:rPr>
              <a:t>Exploration</a:t>
            </a:r>
            <a:r>
              <a:rPr lang="fr-FR" sz="2800" dirty="0">
                <a:solidFill>
                  <a:schemeClr val="tx2">
                    <a:lumMod val="50000"/>
                  </a:schemeClr>
                </a:solidFill>
                <a:latin typeface="Aharoni" panose="02010803020104030203" pitchFamily="2" charset="-79"/>
                <a:cs typeface="Aharoni" panose="02010803020104030203" pitchFamily="2" charset="-79"/>
              </a:rPr>
              <a:t>  </a:t>
            </a:r>
          </a:p>
        </p:txBody>
      </p:sp>
      <p:sp>
        <p:nvSpPr>
          <p:cNvPr id="33" name="ZoneTexte 32">
            <a:extLst>
              <a:ext uri="{FF2B5EF4-FFF2-40B4-BE49-F238E27FC236}">
                <a16:creationId xmlns:a16="http://schemas.microsoft.com/office/drawing/2014/main" id="{1EEC37E2-783E-087F-77D6-D0A176B48F66}"/>
              </a:ext>
            </a:extLst>
          </p:cNvPr>
          <p:cNvSpPr txBox="1"/>
          <p:nvPr/>
        </p:nvSpPr>
        <p:spPr>
          <a:xfrm>
            <a:off x="571026" y="3976644"/>
            <a:ext cx="2486956" cy="1323439"/>
          </a:xfrm>
          <a:prstGeom prst="rect">
            <a:avLst/>
          </a:prstGeom>
          <a:noFill/>
        </p:spPr>
        <p:txBody>
          <a:bodyPr wrap="square" rtlCol="0">
            <a:spAutoFit/>
          </a:bodyPr>
          <a:lstStyle/>
          <a:p>
            <a:pPr algn="ctr"/>
            <a:r>
              <a:rPr lang="fr-FR" sz="2000" dirty="0">
                <a:solidFill>
                  <a:schemeClr val="tx2">
                    <a:lumMod val="50000"/>
                  </a:schemeClr>
                </a:solidFill>
                <a:effectLst/>
                <a:latin typeface="Aptos Display" panose="020B0004020202020204" pitchFamily="34" charset="0"/>
                <a:ea typeface="Times New Roman" panose="02020603050405020304" pitchFamily="18" charset="0"/>
              </a:rPr>
              <a:t>Les lucioles sont attirées par les plus lumineuses.</a:t>
            </a:r>
          </a:p>
          <a:p>
            <a:pPr algn="ctr"/>
            <a:endParaRPr lang="fr-FR" sz="2000" dirty="0">
              <a:solidFill>
                <a:schemeClr val="tx2">
                  <a:lumMod val="50000"/>
                </a:schemeClr>
              </a:solidFill>
              <a:latin typeface="Aptos Display" panose="020B0004020202020204" pitchFamily="34" charset="0"/>
            </a:endParaRPr>
          </a:p>
        </p:txBody>
      </p:sp>
      <p:sp>
        <p:nvSpPr>
          <p:cNvPr id="35" name="ZoneTexte 34">
            <a:extLst>
              <a:ext uri="{FF2B5EF4-FFF2-40B4-BE49-F238E27FC236}">
                <a16:creationId xmlns:a16="http://schemas.microsoft.com/office/drawing/2014/main" id="{6E4F9D65-9424-E466-9A14-FE9652403398}"/>
              </a:ext>
            </a:extLst>
          </p:cNvPr>
          <p:cNvSpPr txBox="1"/>
          <p:nvPr/>
        </p:nvSpPr>
        <p:spPr>
          <a:xfrm>
            <a:off x="4992345" y="4751500"/>
            <a:ext cx="2150133" cy="1477328"/>
          </a:xfrm>
          <a:prstGeom prst="rect">
            <a:avLst/>
          </a:prstGeom>
          <a:noFill/>
        </p:spPr>
        <p:txBody>
          <a:bodyPr wrap="square" rtlCol="0">
            <a:spAutoFit/>
          </a:bodyPr>
          <a:lstStyle/>
          <a:p>
            <a:pPr algn="ctr"/>
            <a:r>
              <a:rPr lang="fr-FR" sz="1800" dirty="0">
                <a:solidFill>
                  <a:schemeClr val="tx2">
                    <a:lumMod val="50000"/>
                  </a:schemeClr>
                </a:solidFill>
                <a:effectLst/>
                <a:latin typeface="Aptos Display" panose="020B0004020202020204" pitchFamily="34" charset="0"/>
                <a:ea typeface="Times New Roman" panose="02020603050405020304" pitchFamily="18" charset="0"/>
              </a:rPr>
              <a:t>Une luciole se déplace vers une plus brillante en ajustant sa position.</a:t>
            </a:r>
          </a:p>
          <a:p>
            <a:pPr algn="ctr"/>
            <a:endParaRPr lang="fr-FR" dirty="0">
              <a:solidFill>
                <a:schemeClr val="tx2">
                  <a:lumMod val="50000"/>
                </a:schemeClr>
              </a:solidFill>
              <a:latin typeface="Aptos Display" panose="020B0004020202020204" pitchFamily="34" charset="0"/>
            </a:endParaRPr>
          </a:p>
        </p:txBody>
      </p:sp>
      <p:sp>
        <p:nvSpPr>
          <p:cNvPr id="36" name="ZoneTexte 35">
            <a:extLst>
              <a:ext uri="{FF2B5EF4-FFF2-40B4-BE49-F238E27FC236}">
                <a16:creationId xmlns:a16="http://schemas.microsoft.com/office/drawing/2014/main" id="{6EADECB7-8B23-A026-5A86-E8C59C6B2AAA}"/>
              </a:ext>
            </a:extLst>
          </p:cNvPr>
          <p:cNvSpPr txBox="1"/>
          <p:nvPr/>
        </p:nvSpPr>
        <p:spPr>
          <a:xfrm>
            <a:off x="8937958" y="2571536"/>
            <a:ext cx="2448560" cy="1200329"/>
          </a:xfrm>
          <a:prstGeom prst="rect">
            <a:avLst/>
          </a:prstGeom>
          <a:noFill/>
        </p:spPr>
        <p:txBody>
          <a:bodyPr wrap="square" rtlCol="0">
            <a:spAutoFit/>
          </a:bodyPr>
          <a:lstStyle/>
          <a:p>
            <a:pPr algn="ctr"/>
            <a:r>
              <a:rPr lang="fr-FR" sz="1800" dirty="0">
                <a:solidFill>
                  <a:schemeClr val="tx2">
                    <a:lumMod val="50000"/>
                  </a:schemeClr>
                </a:solidFill>
                <a:effectLst/>
                <a:latin typeface="Aptos Display" panose="020B0004020202020204" pitchFamily="34" charset="0"/>
                <a:ea typeface="Calibri" panose="020F0502020204030204" pitchFamily="34" charset="0"/>
                <a:cs typeface="Arial" panose="020B0604020202020204" pitchFamily="34" charset="0"/>
              </a:rPr>
              <a:t>Si aucune luciole plus lumineuse n’est détectée, elle explore aléatoirement.</a:t>
            </a:r>
            <a:endParaRPr lang="fr-FR" dirty="0">
              <a:solidFill>
                <a:schemeClr val="tx2">
                  <a:lumMod val="50000"/>
                </a:schemeClr>
              </a:solidFill>
              <a:latin typeface="Aptos Display" panose="020B0004020202020204" pitchFamily="34" charset="0"/>
            </a:endParaRPr>
          </a:p>
        </p:txBody>
      </p:sp>
    </p:spTree>
    <p:extLst>
      <p:ext uri="{BB962C8B-B14F-4D97-AF65-F5344CB8AC3E}">
        <p14:creationId xmlns:p14="http://schemas.microsoft.com/office/powerpoint/2010/main" val="11219297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0048A80-65B9-E605-F858-161A90D20240}"/>
            </a:ext>
          </a:extLst>
        </p:cNvPr>
        <p:cNvGrpSpPr/>
        <p:nvPr/>
      </p:nvGrpSpPr>
      <p:grpSpPr>
        <a:xfrm>
          <a:off x="0" y="0"/>
          <a:ext cx="0" cy="0"/>
          <a:chOff x="0" y="0"/>
          <a:chExt cx="0" cy="0"/>
        </a:xfrm>
      </p:grpSpPr>
      <p:sp>
        <p:nvSpPr>
          <p:cNvPr id="1036" name="Rectangle 1035">
            <a:extLst>
              <a:ext uri="{FF2B5EF4-FFF2-40B4-BE49-F238E27FC236}">
                <a16:creationId xmlns:a16="http://schemas.microsoft.com/office/drawing/2014/main" id="{DA5F807F-2D41-135A-BF91-158B9D981A91}"/>
              </a:ext>
            </a:extLst>
          </p:cNvPr>
          <p:cNvSpPr/>
          <p:nvPr/>
        </p:nvSpPr>
        <p:spPr>
          <a:xfrm>
            <a:off x="1" y="0"/>
            <a:ext cx="7112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39FA9104-DD60-44DE-5EFE-BF94D8915441}"/>
              </a:ext>
            </a:extLst>
          </p:cNvPr>
          <p:cNvSpPr txBox="1"/>
          <p:nvPr/>
        </p:nvSpPr>
        <p:spPr>
          <a:xfrm>
            <a:off x="827594" y="1720840"/>
            <a:ext cx="6801618" cy="3416320"/>
          </a:xfrm>
          <a:prstGeom prst="rect">
            <a:avLst/>
          </a:prstGeom>
          <a:noFill/>
        </p:spPr>
        <p:txBody>
          <a:bodyPr wrap="square" rtlCol="0">
            <a:spAutoFit/>
          </a:bodyPr>
          <a:lstStyle/>
          <a:p>
            <a:r>
              <a:rPr lang="fr-FR" sz="7200" dirty="0">
                <a:solidFill>
                  <a:schemeClr val="tx2">
                    <a:lumMod val="75000"/>
                  </a:schemeClr>
                </a:solidFill>
                <a:latin typeface="Aharoni" panose="02010803020104030203" pitchFamily="2" charset="-79"/>
                <a:cs typeface="Aharoni" panose="02010803020104030203" pitchFamily="2" charset="-79"/>
              </a:rPr>
              <a:t>Applications Dans Divers Domaine </a:t>
            </a:r>
          </a:p>
        </p:txBody>
      </p:sp>
      <p:sp>
        <p:nvSpPr>
          <p:cNvPr id="3" name="Rectangle 2">
            <a:extLst>
              <a:ext uri="{FF2B5EF4-FFF2-40B4-BE49-F238E27FC236}">
                <a16:creationId xmlns:a16="http://schemas.microsoft.com/office/drawing/2014/main" id="{2D4C0C59-D57B-851F-8134-BCA5593F91EE}"/>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C6749DCF-C595-501D-4D3C-C49F0994655C}"/>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9EC44F34-A054-7134-D9F9-9E837557F207}"/>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39" name="Image 1038">
            <a:extLst>
              <a:ext uri="{FF2B5EF4-FFF2-40B4-BE49-F238E27FC236}">
                <a16:creationId xmlns:a16="http://schemas.microsoft.com/office/drawing/2014/main" id="{531074AF-8F9A-665F-31E7-F6E0E68AE0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703995">
            <a:off x="6581094" y="981852"/>
            <a:ext cx="5361115" cy="4042338"/>
          </a:xfrm>
          <a:prstGeom prst="rect">
            <a:avLst/>
          </a:prstGeom>
        </p:spPr>
      </p:pic>
    </p:spTree>
    <p:extLst>
      <p:ext uri="{BB962C8B-B14F-4D97-AF65-F5344CB8AC3E}">
        <p14:creationId xmlns:p14="http://schemas.microsoft.com/office/powerpoint/2010/main" val="28774089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4FDFC71C-D6D6-6B57-CD97-0AFB71049A9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66B73F8-86B7-AA54-48D5-160C6F46B4DC}"/>
              </a:ext>
            </a:extLst>
          </p:cNvPr>
          <p:cNvSpPr/>
          <p:nvPr/>
        </p:nvSpPr>
        <p:spPr>
          <a:xfrm>
            <a:off x="4013200" y="0"/>
            <a:ext cx="4165602" cy="685800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FB9CD6E0-D3CA-0148-8219-6D7200716090}"/>
              </a:ext>
            </a:extLst>
          </p:cNvPr>
          <p:cNvSpPr/>
          <p:nvPr/>
        </p:nvSpPr>
        <p:spPr>
          <a:xfrm>
            <a:off x="-20246" y="0"/>
            <a:ext cx="4033446"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B14C8F97-1FA8-D7C0-BA34-775D8C94C869}"/>
              </a:ext>
            </a:extLst>
          </p:cNvPr>
          <p:cNvSpPr/>
          <p:nvPr/>
        </p:nvSpPr>
        <p:spPr>
          <a:xfrm>
            <a:off x="8199119" y="0"/>
            <a:ext cx="3993867" cy="685800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Image 37">
            <a:extLst>
              <a:ext uri="{FF2B5EF4-FFF2-40B4-BE49-F238E27FC236}">
                <a16:creationId xmlns:a16="http://schemas.microsoft.com/office/drawing/2014/main" id="{3C8747AC-E03B-0DA0-7472-36D61B5F9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3572256">
            <a:off x="10814782" y="-2735091"/>
            <a:ext cx="3222899" cy="2430100"/>
          </a:xfrm>
          <a:prstGeom prst="rect">
            <a:avLst/>
          </a:prstGeom>
        </p:spPr>
      </p:pic>
      <p:sp>
        <p:nvSpPr>
          <p:cNvPr id="2" name="ZoneTexte 1">
            <a:extLst>
              <a:ext uri="{FF2B5EF4-FFF2-40B4-BE49-F238E27FC236}">
                <a16:creationId xmlns:a16="http://schemas.microsoft.com/office/drawing/2014/main" id="{BC73F16E-F10B-101E-6896-6E0B26DA418F}"/>
              </a:ext>
            </a:extLst>
          </p:cNvPr>
          <p:cNvSpPr txBox="1"/>
          <p:nvPr/>
        </p:nvSpPr>
        <p:spPr>
          <a:xfrm>
            <a:off x="177807" y="3255555"/>
            <a:ext cx="3556003" cy="1200329"/>
          </a:xfrm>
          <a:prstGeom prst="rect">
            <a:avLst/>
          </a:prstGeom>
          <a:noFill/>
        </p:spPr>
        <p:txBody>
          <a:bodyPr wrap="square" rtlCol="0">
            <a:spAutoFit/>
          </a:bodyPr>
          <a:lstStyle/>
          <a:p>
            <a:pPr algn="ctr"/>
            <a:r>
              <a:rPr lang="fr-FR" sz="3600" b="1" dirty="0">
                <a:solidFill>
                  <a:schemeClr val="bg1"/>
                </a:solidFill>
                <a:effectLst/>
                <a:latin typeface="Aptos Display" panose="020B0004020202020204" pitchFamily="34" charset="0"/>
                <a:ea typeface="Calibri" panose="020F0502020204030204" pitchFamily="34" charset="0"/>
                <a:cs typeface="Arial" panose="020B0604020202020204" pitchFamily="34" charset="0"/>
              </a:rPr>
              <a:t>Planification et ordonnancement</a:t>
            </a:r>
            <a:r>
              <a:rPr lang="fr-FR" sz="3600" dirty="0">
                <a:solidFill>
                  <a:schemeClr val="bg1"/>
                </a:solidFill>
                <a:effectLst/>
                <a:latin typeface="Aptos Display" panose="020B0004020202020204" pitchFamily="34" charset="0"/>
                <a:ea typeface="Calibri" panose="020F0502020204030204" pitchFamily="34" charset="0"/>
                <a:cs typeface="Arial" panose="020B0604020202020204" pitchFamily="34" charset="0"/>
              </a:rPr>
              <a:t> </a:t>
            </a:r>
            <a:endParaRPr lang="fr-FR" sz="3600" dirty="0">
              <a:solidFill>
                <a:schemeClr val="bg1"/>
              </a:solidFill>
              <a:latin typeface="Aptos Display" panose="020B0004020202020204" pitchFamily="34" charset="0"/>
            </a:endParaRPr>
          </a:p>
        </p:txBody>
      </p:sp>
      <p:sp>
        <p:nvSpPr>
          <p:cNvPr id="4" name="ZoneTexte 3">
            <a:extLst>
              <a:ext uri="{FF2B5EF4-FFF2-40B4-BE49-F238E27FC236}">
                <a16:creationId xmlns:a16="http://schemas.microsoft.com/office/drawing/2014/main" id="{677294EF-EEC6-27CB-068B-E6704B496AF6}"/>
              </a:ext>
            </a:extLst>
          </p:cNvPr>
          <p:cNvSpPr txBox="1"/>
          <p:nvPr/>
        </p:nvSpPr>
        <p:spPr>
          <a:xfrm>
            <a:off x="4211253" y="3255555"/>
            <a:ext cx="3556003" cy="1200329"/>
          </a:xfrm>
          <a:prstGeom prst="rect">
            <a:avLst/>
          </a:prstGeom>
          <a:noFill/>
        </p:spPr>
        <p:txBody>
          <a:bodyPr wrap="square" rtlCol="0">
            <a:spAutoFit/>
          </a:bodyPr>
          <a:lstStyle/>
          <a:p>
            <a:pPr algn="ctr"/>
            <a:r>
              <a:rPr lang="fr-FR" sz="3600" b="1" dirty="0">
                <a:solidFill>
                  <a:schemeClr val="bg1"/>
                </a:solidFill>
                <a:effectLst/>
                <a:latin typeface="Aptos Display" panose="020B0004020202020204" pitchFamily="34" charset="0"/>
                <a:ea typeface="Calibri" panose="020F0502020204030204" pitchFamily="34" charset="0"/>
                <a:cs typeface="Arial" panose="020B0604020202020204" pitchFamily="34" charset="0"/>
              </a:rPr>
              <a:t>Logistique et transport </a:t>
            </a:r>
            <a:endParaRPr lang="fr-FR" sz="3600" dirty="0">
              <a:solidFill>
                <a:schemeClr val="bg1"/>
              </a:solidFill>
              <a:latin typeface="Aptos Display" panose="020B0004020202020204" pitchFamily="34" charset="0"/>
            </a:endParaRPr>
          </a:p>
        </p:txBody>
      </p:sp>
      <p:sp>
        <p:nvSpPr>
          <p:cNvPr id="5" name="ZoneTexte 4">
            <a:extLst>
              <a:ext uri="{FF2B5EF4-FFF2-40B4-BE49-F238E27FC236}">
                <a16:creationId xmlns:a16="http://schemas.microsoft.com/office/drawing/2014/main" id="{1323EF08-69E1-4C49-E061-FC06211EA001}"/>
              </a:ext>
            </a:extLst>
          </p:cNvPr>
          <p:cNvSpPr txBox="1"/>
          <p:nvPr/>
        </p:nvSpPr>
        <p:spPr>
          <a:xfrm>
            <a:off x="8458193" y="3255555"/>
            <a:ext cx="3556003" cy="1200329"/>
          </a:xfrm>
          <a:prstGeom prst="rect">
            <a:avLst/>
          </a:prstGeom>
          <a:noFill/>
        </p:spPr>
        <p:txBody>
          <a:bodyPr wrap="square" rtlCol="0">
            <a:spAutoFit/>
          </a:bodyPr>
          <a:lstStyle/>
          <a:p>
            <a:pPr algn="ctr"/>
            <a:r>
              <a:rPr lang="fr-FR" sz="3600" b="1" dirty="0">
                <a:solidFill>
                  <a:schemeClr val="bg1"/>
                </a:solidFill>
                <a:effectLst/>
                <a:latin typeface="Aptos Display" panose="020B0004020202020204" pitchFamily="34" charset="0"/>
                <a:ea typeface="Calibri" panose="020F0502020204030204" pitchFamily="34" charset="0"/>
                <a:cs typeface="Arial" panose="020B0604020202020204" pitchFamily="34" charset="0"/>
              </a:rPr>
              <a:t>Réseaux intelligents </a:t>
            </a:r>
            <a:endParaRPr lang="fr-FR" sz="3600" dirty="0">
              <a:solidFill>
                <a:schemeClr val="bg1"/>
              </a:solidFill>
              <a:latin typeface="Aptos Display" panose="020B0004020202020204" pitchFamily="34" charset="0"/>
            </a:endParaRPr>
          </a:p>
        </p:txBody>
      </p:sp>
      <p:sp>
        <p:nvSpPr>
          <p:cNvPr id="13" name="ZoneTexte 12">
            <a:extLst>
              <a:ext uri="{FF2B5EF4-FFF2-40B4-BE49-F238E27FC236}">
                <a16:creationId xmlns:a16="http://schemas.microsoft.com/office/drawing/2014/main" id="{111A712B-0F58-B76F-DC85-CC5276DD0056}"/>
              </a:ext>
            </a:extLst>
          </p:cNvPr>
          <p:cNvSpPr txBox="1"/>
          <p:nvPr/>
        </p:nvSpPr>
        <p:spPr>
          <a:xfrm>
            <a:off x="477023" y="4775200"/>
            <a:ext cx="2915920" cy="646331"/>
          </a:xfrm>
          <a:prstGeom prst="rect">
            <a:avLst/>
          </a:prstGeom>
          <a:noFill/>
        </p:spPr>
        <p:txBody>
          <a:bodyPr wrap="square" rtlCol="0">
            <a:spAutoFit/>
          </a:bodyPr>
          <a:lstStyle/>
          <a:p>
            <a:pPr algn="ctr"/>
            <a:r>
              <a:rPr lang="fr-FR"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maintenance prédictive, gestion des ressources</a:t>
            </a:r>
            <a:endParaRPr lang="fr-FR" dirty="0">
              <a:solidFill>
                <a:schemeClr val="bg1"/>
              </a:solidFill>
            </a:endParaRPr>
          </a:p>
        </p:txBody>
      </p:sp>
      <p:sp>
        <p:nvSpPr>
          <p:cNvPr id="15" name="ZoneTexte 14">
            <a:extLst>
              <a:ext uri="{FF2B5EF4-FFF2-40B4-BE49-F238E27FC236}">
                <a16:creationId xmlns:a16="http://schemas.microsoft.com/office/drawing/2014/main" id="{6EF0CAE2-6AE4-121A-1489-8CD785E93261}"/>
              </a:ext>
            </a:extLst>
          </p:cNvPr>
          <p:cNvSpPr txBox="1"/>
          <p:nvPr/>
        </p:nvSpPr>
        <p:spPr>
          <a:xfrm>
            <a:off x="4531294" y="4775199"/>
            <a:ext cx="2915920" cy="646331"/>
          </a:xfrm>
          <a:prstGeom prst="rect">
            <a:avLst/>
          </a:prstGeom>
          <a:noFill/>
        </p:spPr>
        <p:txBody>
          <a:bodyPr wrap="square" rtlCol="0">
            <a:spAutoFit/>
          </a:bodyPr>
          <a:lstStyle/>
          <a:p>
            <a:pPr algn="ctr"/>
            <a:r>
              <a:rPr lang="fr-FR"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optimisation des itinéraires , réduction des coûts</a:t>
            </a:r>
            <a:endParaRPr lang="fr-FR" dirty="0">
              <a:solidFill>
                <a:schemeClr val="bg1"/>
              </a:solidFill>
            </a:endParaRPr>
          </a:p>
        </p:txBody>
      </p:sp>
      <p:sp>
        <p:nvSpPr>
          <p:cNvPr id="16" name="ZoneTexte 15">
            <a:extLst>
              <a:ext uri="{FF2B5EF4-FFF2-40B4-BE49-F238E27FC236}">
                <a16:creationId xmlns:a16="http://schemas.microsoft.com/office/drawing/2014/main" id="{9E7CBCE5-7342-A88C-C806-87D7DC4C575D}"/>
              </a:ext>
            </a:extLst>
          </p:cNvPr>
          <p:cNvSpPr txBox="1"/>
          <p:nvPr/>
        </p:nvSpPr>
        <p:spPr>
          <a:xfrm>
            <a:off x="8757423" y="4791609"/>
            <a:ext cx="3037840" cy="646331"/>
          </a:xfrm>
          <a:prstGeom prst="rect">
            <a:avLst/>
          </a:prstGeom>
          <a:noFill/>
        </p:spPr>
        <p:txBody>
          <a:bodyPr wrap="square" rtlCol="0">
            <a:spAutoFit/>
          </a:bodyPr>
          <a:lstStyle/>
          <a:p>
            <a:pPr algn="ctr"/>
            <a:r>
              <a:rPr lang="fr-FR"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gestion des capteurs, réduction des interférences</a:t>
            </a:r>
            <a:endParaRPr lang="fr-FR" dirty="0">
              <a:solidFill>
                <a:schemeClr val="bg1"/>
              </a:solidFill>
            </a:endParaRPr>
          </a:p>
        </p:txBody>
      </p:sp>
      <p:pic>
        <p:nvPicPr>
          <p:cNvPr id="17" name="Image 16">
            <a:extLst>
              <a:ext uri="{FF2B5EF4-FFF2-40B4-BE49-F238E27FC236}">
                <a16:creationId xmlns:a16="http://schemas.microsoft.com/office/drawing/2014/main" id="{46DBA5F4-8E21-1A35-2915-60D97987B0DD}"/>
              </a:ext>
            </a:extLst>
          </p:cNvPr>
          <p:cNvPicPr>
            <a:picLocks noChangeAspect="1"/>
          </p:cNvPicPr>
          <p:nvPr/>
        </p:nvPicPr>
        <p:blipFill>
          <a:blip r:embed="rId4">
            <a:duotone>
              <a:schemeClr val="accent3">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317418" y="1248088"/>
            <a:ext cx="1292681" cy="1292681"/>
          </a:xfrm>
          <a:prstGeom prst="rect">
            <a:avLst/>
          </a:prstGeom>
        </p:spPr>
      </p:pic>
      <p:sp>
        <p:nvSpPr>
          <p:cNvPr id="18" name="Ellipse 17">
            <a:extLst>
              <a:ext uri="{FF2B5EF4-FFF2-40B4-BE49-F238E27FC236}">
                <a16:creationId xmlns:a16="http://schemas.microsoft.com/office/drawing/2014/main" id="{E81DB258-6B99-3F5D-B2C7-A55289C3AEA8}"/>
              </a:ext>
            </a:extLst>
          </p:cNvPr>
          <p:cNvSpPr/>
          <p:nvPr/>
        </p:nvSpPr>
        <p:spPr>
          <a:xfrm>
            <a:off x="5053567" y="942142"/>
            <a:ext cx="1855342" cy="1886693"/>
          </a:xfrm>
          <a:prstGeom prst="ellipse">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 name="Graphique 19" descr="Antenne relais téléphonique">
            <a:extLst>
              <a:ext uri="{FF2B5EF4-FFF2-40B4-BE49-F238E27FC236}">
                <a16:creationId xmlns:a16="http://schemas.microsoft.com/office/drawing/2014/main" id="{5260F2F5-D21C-4006-403E-BDCF1780F6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84205" y="1248088"/>
            <a:ext cx="1380590" cy="1380590"/>
          </a:xfrm>
          <a:prstGeom prst="rect">
            <a:avLst/>
          </a:prstGeom>
        </p:spPr>
      </p:pic>
      <p:sp>
        <p:nvSpPr>
          <p:cNvPr id="25" name="Ellipse 24">
            <a:extLst>
              <a:ext uri="{FF2B5EF4-FFF2-40B4-BE49-F238E27FC236}">
                <a16:creationId xmlns:a16="http://schemas.microsoft.com/office/drawing/2014/main" id="{27473BF9-6B72-F3CA-FB67-B170C1CC6D6B}"/>
              </a:ext>
            </a:extLst>
          </p:cNvPr>
          <p:cNvSpPr/>
          <p:nvPr/>
        </p:nvSpPr>
        <p:spPr>
          <a:xfrm>
            <a:off x="9346829" y="1055423"/>
            <a:ext cx="1855342" cy="1886693"/>
          </a:xfrm>
          <a:prstGeom prst="ellipse">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Graphique 29" descr="Calendrier quotidien">
            <a:extLst>
              <a:ext uri="{FF2B5EF4-FFF2-40B4-BE49-F238E27FC236}">
                <a16:creationId xmlns:a16="http://schemas.microsoft.com/office/drawing/2014/main" id="{96B1FF7B-33D8-5BF0-3409-675CD0B4AC9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44707" y="1342657"/>
            <a:ext cx="1103541" cy="1103541"/>
          </a:xfrm>
          <a:prstGeom prst="rect">
            <a:avLst/>
          </a:prstGeom>
        </p:spPr>
      </p:pic>
      <p:sp>
        <p:nvSpPr>
          <p:cNvPr id="31" name="Ellipse 30">
            <a:extLst>
              <a:ext uri="{FF2B5EF4-FFF2-40B4-BE49-F238E27FC236}">
                <a16:creationId xmlns:a16="http://schemas.microsoft.com/office/drawing/2014/main" id="{0BB42E09-AE78-712A-A599-7039AFF96F58}"/>
              </a:ext>
            </a:extLst>
          </p:cNvPr>
          <p:cNvSpPr/>
          <p:nvPr/>
        </p:nvSpPr>
        <p:spPr>
          <a:xfrm>
            <a:off x="1068806" y="995036"/>
            <a:ext cx="1855342" cy="1886693"/>
          </a:xfrm>
          <a:prstGeom prst="ellipse">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01F565A2-143B-A6E9-5CD3-C2243039934A}"/>
              </a:ext>
            </a:extLst>
          </p:cNvPr>
          <p:cNvSpPr/>
          <p:nvPr/>
        </p:nvSpPr>
        <p:spPr>
          <a:xfrm flipH="1">
            <a:off x="-15008120" y="0"/>
            <a:ext cx="12238668"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D6F350E3-2582-BDA5-DD1E-8F93F0E1F218}"/>
              </a:ext>
            </a:extLst>
          </p:cNvPr>
          <p:cNvSpPr txBox="1"/>
          <p:nvPr/>
        </p:nvSpPr>
        <p:spPr>
          <a:xfrm>
            <a:off x="-10603759" y="1997841"/>
            <a:ext cx="6801618" cy="2862322"/>
          </a:xfrm>
          <a:prstGeom prst="rect">
            <a:avLst/>
          </a:prstGeom>
          <a:noFill/>
        </p:spPr>
        <p:txBody>
          <a:bodyPr wrap="square" rtlCol="0">
            <a:spAutoFit/>
          </a:bodyPr>
          <a:lstStyle/>
          <a:p>
            <a:pPr algn="ctr"/>
            <a:r>
              <a:rPr lang="fr-FR" sz="6000" dirty="0">
                <a:solidFill>
                  <a:schemeClr val="bg1"/>
                </a:solidFill>
                <a:latin typeface="Arial Black" panose="020B0A04020102020204" pitchFamily="34" charset="0"/>
              </a:rPr>
              <a:t>Avantages </a:t>
            </a:r>
          </a:p>
          <a:p>
            <a:pPr algn="ctr"/>
            <a:r>
              <a:rPr lang="fr-FR" sz="6000" dirty="0">
                <a:solidFill>
                  <a:schemeClr val="bg1"/>
                </a:solidFill>
                <a:latin typeface="Arial Black" panose="020B0A04020102020204" pitchFamily="34" charset="0"/>
              </a:rPr>
              <a:t>Vs</a:t>
            </a:r>
          </a:p>
          <a:p>
            <a:pPr algn="ctr"/>
            <a:r>
              <a:rPr lang="fr-FR" sz="6000" dirty="0">
                <a:solidFill>
                  <a:schemeClr val="bg1"/>
                </a:solidFill>
                <a:latin typeface="Arial Black" panose="020B0A04020102020204" pitchFamily="34" charset="0"/>
              </a:rPr>
              <a:t>Limites </a:t>
            </a:r>
          </a:p>
        </p:txBody>
      </p:sp>
      <p:pic>
        <p:nvPicPr>
          <p:cNvPr id="10" name="Image 9">
            <a:extLst>
              <a:ext uri="{FF2B5EF4-FFF2-40B4-BE49-F238E27FC236}">
                <a16:creationId xmlns:a16="http://schemas.microsoft.com/office/drawing/2014/main" id="{0A5B679D-92F8-DBE4-F6B1-66019EB10D5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90098" y="1295066"/>
            <a:ext cx="4036438" cy="4267869"/>
          </a:xfrm>
          <a:prstGeom prst="rect">
            <a:avLst/>
          </a:prstGeom>
        </p:spPr>
      </p:pic>
    </p:spTree>
    <p:extLst>
      <p:ext uri="{BB962C8B-B14F-4D97-AF65-F5344CB8AC3E}">
        <p14:creationId xmlns:p14="http://schemas.microsoft.com/office/powerpoint/2010/main" val="663454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B9E3E1C1-59CE-2863-0718-05B5AF2C21AC}"/>
            </a:ext>
          </a:extLst>
        </p:cNvPr>
        <p:cNvGrpSpPr/>
        <p:nvPr/>
      </p:nvGrpSpPr>
      <p:grpSpPr>
        <a:xfrm>
          <a:off x="0" y="0"/>
          <a:ext cx="0" cy="0"/>
          <a:chOff x="0" y="0"/>
          <a:chExt cx="0" cy="0"/>
        </a:xfrm>
      </p:grpSpPr>
      <p:sp>
        <p:nvSpPr>
          <p:cNvPr id="1036" name="Rectangle 1035">
            <a:extLst>
              <a:ext uri="{FF2B5EF4-FFF2-40B4-BE49-F238E27FC236}">
                <a16:creationId xmlns:a16="http://schemas.microsoft.com/office/drawing/2014/main" id="{28320BF8-3034-3638-D2A9-3028D53405F0}"/>
              </a:ext>
            </a:extLst>
          </p:cNvPr>
          <p:cNvSpPr/>
          <p:nvPr/>
        </p:nvSpPr>
        <p:spPr>
          <a:xfrm flipH="1">
            <a:off x="-46669" y="-2"/>
            <a:ext cx="12238668"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09E27723-CB09-ECF0-2F6F-32BE7B0F23DA}"/>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384CEEC7-6F5B-357A-9023-40B1FD31ABC8}"/>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06BA8279-ECB5-04EA-3281-289E1161A28E}"/>
              </a:ext>
            </a:extLst>
          </p:cNvPr>
          <p:cNvSpPr txBox="1"/>
          <p:nvPr/>
        </p:nvSpPr>
        <p:spPr>
          <a:xfrm>
            <a:off x="4357692" y="1997839"/>
            <a:ext cx="6801618" cy="2862322"/>
          </a:xfrm>
          <a:prstGeom prst="rect">
            <a:avLst/>
          </a:prstGeom>
          <a:noFill/>
        </p:spPr>
        <p:txBody>
          <a:bodyPr wrap="square" rtlCol="0">
            <a:spAutoFit/>
          </a:bodyPr>
          <a:lstStyle/>
          <a:p>
            <a:pPr algn="ctr"/>
            <a:r>
              <a:rPr lang="fr-FR" sz="6000" dirty="0">
                <a:solidFill>
                  <a:schemeClr val="bg1"/>
                </a:solidFill>
                <a:latin typeface="Arial Black" panose="020B0A04020102020204" pitchFamily="34" charset="0"/>
              </a:rPr>
              <a:t>Avantages </a:t>
            </a:r>
          </a:p>
          <a:p>
            <a:pPr algn="ctr"/>
            <a:r>
              <a:rPr lang="fr-FR" sz="6000" dirty="0">
                <a:solidFill>
                  <a:schemeClr val="bg1"/>
                </a:solidFill>
                <a:latin typeface="Arial Black" panose="020B0A04020102020204" pitchFamily="34" charset="0"/>
              </a:rPr>
              <a:t>Vs</a:t>
            </a:r>
          </a:p>
          <a:p>
            <a:pPr algn="ctr"/>
            <a:r>
              <a:rPr lang="fr-FR" sz="6000" dirty="0">
                <a:solidFill>
                  <a:schemeClr val="bg1"/>
                </a:solidFill>
                <a:latin typeface="Arial Black" panose="020B0A04020102020204" pitchFamily="34" charset="0"/>
              </a:rPr>
              <a:t>Limites </a:t>
            </a:r>
          </a:p>
        </p:txBody>
      </p:sp>
      <p:pic>
        <p:nvPicPr>
          <p:cNvPr id="20" name="Image 19">
            <a:extLst>
              <a:ext uri="{FF2B5EF4-FFF2-40B4-BE49-F238E27FC236}">
                <a16:creationId xmlns:a16="http://schemas.microsoft.com/office/drawing/2014/main" id="{99F89301-EBB5-ACB4-275B-1044FF195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1353" y="1295064"/>
            <a:ext cx="4036438" cy="4267869"/>
          </a:xfrm>
          <a:prstGeom prst="rect">
            <a:avLst/>
          </a:prstGeom>
        </p:spPr>
      </p:pic>
      <p:sp>
        <p:nvSpPr>
          <p:cNvPr id="4" name="Rectangle 3">
            <a:extLst>
              <a:ext uri="{FF2B5EF4-FFF2-40B4-BE49-F238E27FC236}">
                <a16:creationId xmlns:a16="http://schemas.microsoft.com/office/drawing/2014/main" id="{D1D2D4EA-231D-DB0C-A74D-390072E0001F}"/>
              </a:ext>
            </a:extLst>
          </p:cNvPr>
          <p:cNvSpPr/>
          <p:nvPr/>
        </p:nvSpPr>
        <p:spPr>
          <a:xfrm>
            <a:off x="4030414" y="8523007"/>
            <a:ext cx="4165602" cy="685800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E7B786BB-CC1A-6A9D-6FAE-CDD47F9F25DE}"/>
              </a:ext>
            </a:extLst>
          </p:cNvPr>
          <p:cNvSpPr/>
          <p:nvPr/>
        </p:nvSpPr>
        <p:spPr>
          <a:xfrm>
            <a:off x="-3032" y="8523007"/>
            <a:ext cx="4033446"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17882F5F-29DD-605A-6D2E-FB736ED36672}"/>
              </a:ext>
            </a:extLst>
          </p:cNvPr>
          <p:cNvSpPr/>
          <p:nvPr/>
        </p:nvSpPr>
        <p:spPr>
          <a:xfrm>
            <a:off x="8216333" y="8523007"/>
            <a:ext cx="3993867" cy="685800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B86409AB-5D81-E3E1-F791-83A239857D40}"/>
              </a:ext>
            </a:extLst>
          </p:cNvPr>
          <p:cNvSpPr txBox="1"/>
          <p:nvPr/>
        </p:nvSpPr>
        <p:spPr>
          <a:xfrm>
            <a:off x="195021" y="11778562"/>
            <a:ext cx="3556003" cy="1200329"/>
          </a:xfrm>
          <a:prstGeom prst="rect">
            <a:avLst/>
          </a:prstGeom>
          <a:noFill/>
        </p:spPr>
        <p:txBody>
          <a:bodyPr wrap="square" rtlCol="0">
            <a:spAutoFit/>
          </a:bodyPr>
          <a:lstStyle/>
          <a:p>
            <a:pPr algn="ctr"/>
            <a:r>
              <a:rPr lang="fr-FR" sz="3600" b="1" dirty="0">
                <a:solidFill>
                  <a:schemeClr val="bg1"/>
                </a:solidFill>
                <a:effectLst/>
                <a:latin typeface="Aptos Display" panose="020B0004020202020204" pitchFamily="34" charset="0"/>
                <a:ea typeface="Calibri" panose="020F0502020204030204" pitchFamily="34" charset="0"/>
                <a:cs typeface="Arial" panose="020B0604020202020204" pitchFamily="34" charset="0"/>
              </a:rPr>
              <a:t>Planification et ordonnancement</a:t>
            </a:r>
            <a:r>
              <a:rPr lang="fr-FR" sz="3600" dirty="0">
                <a:solidFill>
                  <a:schemeClr val="bg1"/>
                </a:solidFill>
                <a:effectLst/>
                <a:latin typeface="Aptos Display" panose="020B0004020202020204" pitchFamily="34" charset="0"/>
                <a:ea typeface="Calibri" panose="020F0502020204030204" pitchFamily="34" charset="0"/>
                <a:cs typeface="Arial" panose="020B0604020202020204" pitchFamily="34" charset="0"/>
              </a:rPr>
              <a:t> </a:t>
            </a:r>
            <a:endParaRPr lang="fr-FR" sz="3600" dirty="0">
              <a:solidFill>
                <a:schemeClr val="bg1"/>
              </a:solidFill>
              <a:latin typeface="Aptos Display" panose="020B0004020202020204" pitchFamily="34" charset="0"/>
            </a:endParaRPr>
          </a:p>
        </p:txBody>
      </p:sp>
      <p:sp>
        <p:nvSpPr>
          <p:cNvPr id="11" name="ZoneTexte 10">
            <a:extLst>
              <a:ext uri="{FF2B5EF4-FFF2-40B4-BE49-F238E27FC236}">
                <a16:creationId xmlns:a16="http://schemas.microsoft.com/office/drawing/2014/main" id="{D16D717E-D3FE-989E-91DA-A4BD2733E9F5}"/>
              </a:ext>
            </a:extLst>
          </p:cNvPr>
          <p:cNvSpPr txBox="1"/>
          <p:nvPr/>
        </p:nvSpPr>
        <p:spPr>
          <a:xfrm>
            <a:off x="4228467" y="11778562"/>
            <a:ext cx="3556003" cy="1200329"/>
          </a:xfrm>
          <a:prstGeom prst="rect">
            <a:avLst/>
          </a:prstGeom>
          <a:noFill/>
        </p:spPr>
        <p:txBody>
          <a:bodyPr wrap="square" rtlCol="0">
            <a:spAutoFit/>
          </a:bodyPr>
          <a:lstStyle/>
          <a:p>
            <a:pPr algn="ctr"/>
            <a:r>
              <a:rPr lang="fr-FR" sz="3600" b="1" dirty="0">
                <a:solidFill>
                  <a:schemeClr val="bg1"/>
                </a:solidFill>
                <a:effectLst/>
                <a:latin typeface="Aptos Display" panose="020B0004020202020204" pitchFamily="34" charset="0"/>
                <a:ea typeface="Calibri" panose="020F0502020204030204" pitchFamily="34" charset="0"/>
                <a:cs typeface="Arial" panose="020B0604020202020204" pitchFamily="34" charset="0"/>
              </a:rPr>
              <a:t>Logistique et transport </a:t>
            </a:r>
            <a:endParaRPr lang="fr-FR" sz="3600" dirty="0">
              <a:solidFill>
                <a:schemeClr val="bg1"/>
              </a:solidFill>
              <a:latin typeface="Aptos Display" panose="020B0004020202020204" pitchFamily="34" charset="0"/>
            </a:endParaRPr>
          </a:p>
        </p:txBody>
      </p:sp>
      <p:sp>
        <p:nvSpPr>
          <p:cNvPr id="12" name="ZoneTexte 11">
            <a:extLst>
              <a:ext uri="{FF2B5EF4-FFF2-40B4-BE49-F238E27FC236}">
                <a16:creationId xmlns:a16="http://schemas.microsoft.com/office/drawing/2014/main" id="{48F7E0C7-70E3-C7E7-174F-9F8E10FC89CB}"/>
              </a:ext>
            </a:extLst>
          </p:cNvPr>
          <p:cNvSpPr txBox="1"/>
          <p:nvPr/>
        </p:nvSpPr>
        <p:spPr>
          <a:xfrm>
            <a:off x="8475407" y="11778562"/>
            <a:ext cx="3556003" cy="1200329"/>
          </a:xfrm>
          <a:prstGeom prst="rect">
            <a:avLst/>
          </a:prstGeom>
          <a:noFill/>
        </p:spPr>
        <p:txBody>
          <a:bodyPr wrap="square" rtlCol="0">
            <a:spAutoFit/>
          </a:bodyPr>
          <a:lstStyle/>
          <a:p>
            <a:pPr algn="ctr"/>
            <a:r>
              <a:rPr lang="fr-FR" sz="3600" b="1" dirty="0">
                <a:solidFill>
                  <a:schemeClr val="bg1"/>
                </a:solidFill>
                <a:effectLst/>
                <a:latin typeface="Aptos Display" panose="020B0004020202020204" pitchFamily="34" charset="0"/>
                <a:ea typeface="Calibri" panose="020F0502020204030204" pitchFamily="34" charset="0"/>
                <a:cs typeface="Arial" panose="020B0604020202020204" pitchFamily="34" charset="0"/>
              </a:rPr>
              <a:t>Réseaux intelligents </a:t>
            </a:r>
            <a:endParaRPr lang="fr-FR" sz="3600" dirty="0">
              <a:solidFill>
                <a:schemeClr val="bg1"/>
              </a:solidFill>
              <a:latin typeface="Aptos Display" panose="020B0004020202020204" pitchFamily="34" charset="0"/>
            </a:endParaRPr>
          </a:p>
        </p:txBody>
      </p:sp>
      <p:sp>
        <p:nvSpPr>
          <p:cNvPr id="21" name="ZoneTexte 20">
            <a:extLst>
              <a:ext uri="{FF2B5EF4-FFF2-40B4-BE49-F238E27FC236}">
                <a16:creationId xmlns:a16="http://schemas.microsoft.com/office/drawing/2014/main" id="{16596DDD-7A34-786D-D0E6-DE9D0416F77B}"/>
              </a:ext>
            </a:extLst>
          </p:cNvPr>
          <p:cNvSpPr txBox="1"/>
          <p:nvPr/>
        </p:nvSpPr>
        <p:spPr>
          <a:xfrm>
            <a:off x="494237" y="13298207"/>
            <a:ext cx="2915920" cy="646331"/>
          </a:xfrm>
          <a:prstGeom prst="rect">
            <a:avLst/>
          </a:prstGeom>
          <a:noFill/>
        </p:spPr>
        <p:txBody>
          <a:bodyPr wrap="square" rtlCol="0">
            <a:spAutoFit/>
          </a:bodyPr>
          <a:lstStyle/>
          <a:p>
            <a:pPr algn="ctr"/>
            <a:r>
              <a:rPr lang="fr-FR"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maintenance prédictive, gestion des ressources</a:t>
            </a:r>
            <a:endParaRPr lang="fr-FR" dirty="0">
              <a:solidFill>
                <a:schemeClr val="bg1"/>
              </a:solidFill>
            </a:endParaRPr>
          </a:p>
        </p:txBody>
      </p:sp>
      <p:sp>
        <p:nvSpPr>
          <p:cNvPr id="22" name="ZoneTexte 21">
            <a:extLst>
              <a:ext uri="{FF2B5EF4-FFF2-40B4-BE49-F238E27FC236}">
                <a16:creationId xmlns:a16="http://schemas.microsoft.com/office/drawing/2014/main" id="{616A2054-FF50-A491-A0DF-046F68FBD13C}"/>
              </a:ext>
            </a:extLst>
          </p:cNvPr>
          <p:cNvSpPr txBox="1"/>
          <p:nvPr/>
        </p:nvSpPr>
        <p:spPr>
          <a:xfrm>
            <a:off x="4548508" y="13298206"/>
            <a:ext cx="2915920" cy="646331"/>
          </a:xfrm>
          <a:prstGeom prst="rect">
            <a:avLst/>
          </a:prstGeom>
          <a:noFill/>
        </p:spPr>
        <p:txBody>
          <a:bodyPr wrap="square" rtlCol="0">
            <a:spAutoFit/>
          </a:bodyPr>
          <a:lstStyle/>
          <a:p>
            <a:pPr algn="ctr"/>
            <a:r>
              <a:rPr lang="fr-FR"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optimisation des itinéraires , réduction des coûts</a:t>
            </a:r>
            <a:endParaRPr lang="fr-FR" dirty="0">
              <a:solidFill>
                <a:schemeClr val="bg1"/>
              </a:solidFill>
            </a:endParaRPr>
          </a:p>
        </p:txBody>
      </p:sp>
      <p:sp>
        <p:nvSpPr>
          <p:cNvPr id="23" name="ZoneTexte 22">
            <a:extLst>
              <a:ext uri="{FF2B5EF4-FFF2-40B4-BE49-F238E27FC236}">
                <a16:creationId xmlns:a16="http://schemas.microsoft.com/office/drawing/2014/main" id="{6E039541-889A-F018-3E6B-B9C091D74C45}"/>
              </a:ext>
            </a:extLst>
          </p:cNvPr>
          <p:cNvSpPr txBox="1"/>
          <p:nvPr/>
        </p:nvSpPr>
        <p:spPr>
          <a:xfrm>
            <a:off x="8774637" y="13314616"/>
            <a:ext cx="3037840" cy="646331"/>
          </a:xfrm>
          <a:prstGeom prst="rect">
            <a:avLst/>
          </a:prstGeom>
          <a:noFill/>
        </p:spPr>
        <p:txBody>
          <a:bodyPr wrap="square" rtlCol="0">
            <a:spAutoFit/>
          </a:bodyPr>
          <a:lstStyle/>
          <a:p>
            <a:pPr algn="ctr"/>
            <a:r>
              <a:rPr lang="fr-FR"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gestion des capteurs, réduction des interférences</a:t>
            </a:r>
            <a:endParaRPr lang="fr-FR" dirty="0">
              <a:solidFill>
                <a:schemeClr val="bg1"/>
              </a:solidFill>
            </a:endParaRPr>
          </a:p>
        </p:txBody>
      </p:sp>
      <p:pic>
        <p:nvPicPr>
          <p:cNvPr id="24" name="Image 23">
            <a:extLst>
              <a:ext uri="{FF2B5EF4-FFF2-40B4-BE49-F238E27FC236}">
                <a16:creationId xmlns:a16="http://schemas.microsoft.com/office/drawing/2014/main" id="{F44AAC4B-BAC0-BA18-BB74-1B8B01BA9802}"/>
              </a:ext>
            </a:extLst>
          </p:cNvPr>
          <p:cNvPicPr>
            <a:picLocks noChangeAspect="1"/>
          </p:cNvPicPr>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334632" y="9771095"/>
            <a:ext cx="1292681" cy="1292681"/>
          </a:xfrm>
          <a:prstGeom prst="rect">
            <a:avLst/>
          </a:prstGeom>
        </p:spPr>
      </p:pic>
      <p:sp>
        <p:nvSpPr>
          <p:cNvPr id="25" name="Ellipse 24">
            <a:extLst>
              <a:ext uri="{FF2B5EF4-FFF2-40B4-BE49-F238E27FC236}">
                <a16:creationId xmlns:a16="http://schemas.microsoft.com/office/drawing/2014/main" id="{BC614102-F4AF-0009-2FC1-602D7279C423}"/>
              </a:ext>
            </a:extLst>
          </p:cNvPr>
          <p:cNvSpPr/>
          <p:nvPr/>
        </p:nvSpPr>
        <p:spPr>
          <a:xfrm>
            <a:off x="5070781" y="9465149"/>
            <a:ext cx="1855342" cy="1886693"/>
          </a:xfrm>
          <a:prstGeom prst="ellipse">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6" name="Graphique 25" descr="Antenne relais téléphonique">
            <a:extLst>
              <a:ext uri="{FF2B5EF4-FFF2-40B4-BE49-F238E27FC236}">
                <a16:creationId xmlns:a16="http://schemas.microsoft.com/office/drawing/2014/main" id="{7C1AD024-C260-733D-410F-948A0D17444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01419" y="9771095"/>
            <a:ext cx="1380590" cy="1380590"/>
          </a:xfrm>
          <a:prstGeom prst="rect">
            <a:avLst/>
          </a:prstGeom>
        </p:spPr>
      </p:pic>
      <p:sp>
        <p:nvSpPr>
          <p:cNvPr id="27" name="Ellipse 26">
            <a:extLst>
              <a:ext uri="{FF2B5EF4-FFF2-40B4-BE49-F238E27FC236}">
                <a16:creationId xmlns:a16="http://schemas.microsoft.com/office/drawing/2014/main" id="{CB975CBC-4576-3575-8E06-2E4EEADEFDCA}"/>
              </a:ext>
            </a:extLst>
          </p:cNvPr>
          <p:cNvSpPr/>
          <p:nvPr/>
        </p:nvSpPr>
        <p:spPr>
          <a:xfrm>
            <a:off x="9364043" y="9578430"/>
            <a:ext cx="1855342" cy="1886693"/>
          </a:xfrm>
          <a:prstGeom prst="ellipse">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Graphique 27" descr="Calendrier quotidien">
            <a:extLst>
              <a:ext uri="{FF2B5EF4-FFF2-40B4-BE49-F238E27FC236}">
                <a16:creationId xmlns:a16="http://schemas.microsoft.com/office/drawing/2014/main" id="{52842439-6D51-E1BE-1C93-DBBDC344CB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1921" y="9865664"/>
            <a:ext cx="1103541" cy="1103541"/>
          </a:xfrm>
          <a:prstGeom prst="rect">
            <a:avLst/>
          </a:prstGeom>
        </p:spPr>
      </p:pic>
      <p:sp>
        <p:nvSpPr>
          <p:cNvPr id="29" name="Ellipse 28">
            <a:extLst>
              <a:ext uri="{FF2B5EF4-FFF2-40B4-BE49-F238E27FC236}">
                <a16:creationId xmlns:a16="http://schemas.microsoft.com/office/drawing/2014/main" id="{34F3DA45-89C8-81C5-D325-7874927E180C}"/>
              </a:ext>
            </a:extLst>
          </p:cNvPr>
          <p:cNvSpPr/>
          <p:nvPr/>
        </p:nvSpPr>
        <p:spPr>
          <a:xfrm>
            <a:off x="1086020" y="9518043"/>
            <a:ext cx="1855342" cy="1886693"/>
          </a:xfrm>
          <a:prstGeom prst="ellipse">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934044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07D4EC64-73C2-1992-86E3-300C6FBF7920}"/>
            </a:ext>
          </a:extLst>
        </p:cNvPr>
        <p:cNvGrpSpPr/>
        <p:nvPr/>
      </p:nvGrpSpPr>
      <p:grpSpPr>
        <a:xfrm>
          <a:off x="0" y="0"/>
          <a:ext cx="0" cy="0"/>
          <a:chOff x="0" y="0"/>
          <a:chExt cx="0" cy="0"/>
        </a:xfrm>
      </p:grpSpPr>
      <p:sp>
        <p:nvSpPr>
          <p:cNvPr id="1036" name="Rectangle 1035">
            <a:extLst>
              <a:ext uri="{FF2B5EF4-FFF2-40B4-BE49-F238E27FC236}">
                <a16:creationId xmlns:a16="http://schemas.microsoft.com/office/drawing/2014/main" id="{188D8E7B-5E37-A4E3-8188-754218CCB1E2}"/>
              </a:ext>
            </a:extLst>
          </p:cNvPr>
          <p:cNvSpPr/>
          <p:nvPr/>
        </p:nvSpPr>
        <p:spPr>
          <a:xfrm flipH="1">
            <a:off x="-477" y="4665"/>
            <a:ext cx="12192476" cy="6858000"/>
          </a:xfrm>
          <a:prstGeom prst="rect">
            <a:avLst/>
          </a:prstGeom>
          <a:solidFill>
            <a:srgbClr val="FAF6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F7653B12-E507-3A8A-1247-A2C0AA3617A1}"/>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BAA2FC0E-9A25-5FC1-836C-DECF1040B518}"/>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BD433A03-5734-390E-C519-917B714731AC}"/>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A0B3BA08-309F-79C1-BD10-09379A60A413}"/>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39" name="Image 1038">
            <a:extLst>
              <a:ext uri="{FF2B5EF4-FFF2-40B4-BE49-F238E27FC236}">
                <a16:creationId xmlns:a16="http://schemas.microsoft.com/office/drawing/2014/main" id="{C9C675BB-0636-2CB5-6F8D-656B280147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703995">
            <a:off x="671892" y="-1427541"/>
            <a:ext cx="876331" cy="660763"/>
          </a:xfrm>
          <a:prstGeom prst="rect">
            <a:avLst/>
          </a:prstGeom>
        </p:spPr>
      </p:pic>
      <p:sp>
        <p:nvSpPr>
          <p:cNvPr id="4" name="Ellipse 3">
            <a:extLst>
              <a:ext uri="{FF2B5EF4-FFF2-40B4-BE49-F238E27FC236}">
                <a16:creationId xmlns:a16="http://schemas.microsoft.com/office/drawing/2014/main" id="{BD147418-EA13-A4C2-41B6-98EBB3A03D25}"/>
              </a:ext>
            </a:extLst>
          </p:cNvPr>
          <p:cNvSpPr/>
          <p:nvPr/>
        </p:nvSpPr>
        <p:spPr>
          <a:xfrm>
            <a:off x="371494" y="-5231960"/>
            <a:ext cx="2328876" cy="21336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5" name="Ellipse 4">
            <a:extLst>
              <a:ext uri="{FF2B5EF4-FFF2-40B4-BE49-F238E27FC236}">
                <a16:creationId xmlns:a16="http://schemas.microsoft.com/office/drawing/2014/main" id="{01A45FCD-769B-B06C-44CA-8D7F3CEF122D}"/>
              </a:ext>
            </a:extLst>
          </p:cNvPr>
          <p:cNvSpPr/>
          <p:nvPr/>
        </p:nvSpPr>
        <p:spPr>
          <a:xfrm>
            <a:off x="4600121" y="-4374496"/>
            <a:ext cx="2486956" cy="21336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6" name="Ellipse 5">
            <a:extLst>
              <a:ext uri="{FF2B5EF4-FFF2-40B4-BE49-F238E27FC236}">
                <a16:creationId xmlns:a16="http://schemas.microsoft.com/office/drawing/2014/main" id="{B68502B5-ADEE-1FED-04B0-A5EB5A97AB0A}"/>
              </a:ext>
            </a:extLst>
          </p:cNvPr>
          <p:cNvSpPr/>
          <p:nvPr/>
        </p:nvSpPr>
        <p:spPr>
          <a:xfrm>
            <a:off x="8723013" y="-2698877"/>
            <a:ext cx="2448560" cy="21336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0" name="ZoneTexte 9">
            <a:extLst>
              <a:ext uri="{FF2B5EF4-FFF2-40B4-BE49-F238E27FC236}">
                <a16:creationId xmlns:a16="http://schemas.microsoft.com/office/drawing/2014/main" id="{DCDA411C-794D-85A5-5895-B26D2B9931B4}"/>
              </a:ext>
            </a:extLst>
          </p:cNvPr>
          <p:cNvSpPr txBox="1"/>
          <p:nvPr/>
        </p:nvSpPr>
        <p:spPr>
          <a:xfrm>
            <a:off x="460865" y="-4834367"/>
            <a:ext cx="2150133" cy="1200329"/>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1</a:t>
            </a:r>
          </a:p>
          <a:p>
            <a:pPr algn="ctr"/>
            <a:r>
              <a:rPr lang="fr-FR" sz="2800" dirty="0">
                <a:solidFill>
                  <a:schemeClr val="tx2">
                    <a:lumMod val="50000"/>
                  </a:schemeClr>
                </a:solidFill>
                <a:latin typeface="Aharoni" panose="02010803020104030203" pitchFamily="2" charset="-79"/>
                <a:cs typeface="Aharoni" panose="02010803020104030203" pitchFamily="2" charset="-79"/>
              </a:rPr>
              <a:t>Attraction </a:t>
            </a:r>
          </a:p>
        </p:txBody>
      </p:sp>
      <p:sp>
        <p:nvSpPr>
          <p:cNvPr id="11" name="ZoneTexte 10">
            <a:extLst>
              <a:ext uri="{FF2B5EF4-FFF2-40B4-BE49-F238E27FC236}">
                <a16:creationId xmlns:a16="http://schemas.microsoft.com/office/drawing/2014/main" id="{53254CBA-0378-5DAF-8846-DACB86DDEFB9}"/>
              </a:ext>
            </a:extLst>
          </p:cNvPr>
          <p:cNvSpPr txBox="1"/>
          <p:nvPr/>
        </p:nvSpPr>
        <p:spPr>
          <a:xfrm>
            <a:off x="4768533" y="-3960381"/>
            <a:ext cx="2150133" cy="1200329"/>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2</a:t>
            </a:r>
          </a:p>
          <a:p>
            <a:pPr algn="ctr"/>
            <a:r>
              <a:rPr lang="fr-FR" sz="2400" dirty="0">
                <a:solidFill>
                  <a:schemeClr val="tx2">
                    <a:lumMod val="75000"/>
                  </a:schemeClr>
                </a:solidFill>
                <a:latin typeface="Aharoni" panose="02010803020104030203" pitchFamily="2" charset="-79"/>
                <a:cs typeface="Aharoni" panose="02010803020104030203" pitchFamily="2" charset="-79"/>
              </a:rPr>
              <a:t>Déplacement </a:t>
            </a:r>
            <a:r>
              <a:rPr lang="fr-FR" sz="2800" dirty="0">
                <a:solidFill>
                  <a:schemeClr val="tx2">
                    <a:lumMod val="75000"/>
                  </a:schemeClr>
                </a:solidFill>
                <a:latin typeface="Aharoni" panose="02010803020104030203" pitchFamily="2" charset="-79"/>
                <a:cs typeface="Aharoni" panose="02010803020104030203" pitchFamily="2" charset="-79"/>
              </a:rPr>
              <a:t> </a:t>
            </a:r>
          </a:p>
        </p:txBody>
      </p:sp>
      <p:sp>
        <p:nvSpPr>
          <p:cNvPr id="12" name="ZoneTexte 11">
            <a:extLst>
              <a:ext uri="{FF2B5EF4-FFF2-40B4-BE49-F238E27FC236}">
                <a16:creationId xmlns:a16="http://schemas.microsoft.com/office/drawing/2014/main" id="{C02920DE-E27E-0183-B8C8-791D92F41CE8}"/>
              </a:ext>
            </a:extLst>
          </p:cNvPr>
          <p:cNvSpPr txBox="1"/>
          <p:nvPr/>
        </p:nvSpPr>
        <p:spPr>
          <a:xfrm>
            <a:off x="8853027" y="-2365219"/>
            <a:ext cx="2150133" cy="1200329"/>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3</a:t>
            </a:r>
          </a:p>
          <a:p>
            <a:pPr algn="ctr"/>
            <a:r>
              <a:rPr lang="fr-FR" sz="2400" dirty="0">
                <a:solidFill>
                  <a:schemeClr val="tx2">
                    <a:lumMod val="50000"/>
                  </a:schemeClr>
                </a:solidFill>
                <a:latin typeface="Aharoni" panose="02010803020104030203" pitchFamily="2" charset="-79"/>
                <a:cs typeface="Aharoni" panose="02010803020104030203" pitchFamily="2" charset="-79"/>
              </a:rPr>
              <a:t>Exploration</a:t>
            </a:r>
            <a:r>
              <a:rPr lang="fr-FR" sz="2800" dirty="0">
                <a:solidFill>
                  <a:schemeClr val="tx2">
                    <a:lumMod val="50000"/>
                  </a:schemeClr>
                </a:solidFill>
                <a:latin typeface="Aharoni" panose="02010803020104030203" pitchFamily="2" charset="-79"/>
                <a:cs typeface="Aharoni" panose="02010803020104030203" pitchFamily="2" charset="-79"/>
              </a:rPr>
              <a:t>  </a:t>
            </a:r>
          </a:p>
        </p:txBody>
      </p:sp>
      <p:sp>
        <p:nvSpPr>
          <p:cNvPr id="15" name="Ellipse 14">
            <a:extLst>
              <a:ext uri="{FF2B5EF4-FFF2-40B4-BE49-F238E27FC236}">
                <a16:creationId xmlns:a16="http://schemas.microsoft.com/office/drawing/2014/main" id="{485C6038-6755-C827-9BE0-FB3AEBFF68D7}"/>
              </a:ext>
            </a:extLst>
          </p:cNvPr>
          <p:cNvSpPr/>
          <p:nvPr/>
        </p:nvSpPr>
        <p:spPr>
          <a:xfrm>
            <a:off x="7104546" y="432583"/>
            <a:ext cx="6195223" cy="599283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6A6DA8B8-45E9-19F1-7C3B-4F90C92768D9}"/>
              </a:ext>
            </a:extLst>
          </p:cNvPr>
          <p:cNvSpPr/>
          <p:nvPr/>
        </p:nvSpPr>
        <p:spPr>
          <a:xfrm>
            <a:off x="7637801" y="897402"/>
            <a:ext cx="5187569" cy="5047472"/>
          </a:xfrm>
          <a:prstGeom prst="ellipse">
            <a:avLst/>
          </a:prstGeom>
          <a:solidFill>
            <a:srgbClr val="F7F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ZoneTexte 17">
            <a:extLst>
              <a:ext uri="{FF2B5EF4-FFF2-40B4-BE49-F238E27FC236}">
                <a16:creationId xmlns:a16="http://schemas.microsoft.com/office/drawing/2014/main" id="{D9037E06-F546-2C8E-15E9-0207164A6479}"/>
              </a:ext>
            </a:extLst>
          </p:cNvPr>
          <p:cNvSpPr txBox="1"/>
          <p:nvPr/>
        </p:nvSpPr>
        <p:spPr>
          <a:xfrm>
            <a:off x="1563706" y="929974"/>
            <a:ext cx="6195223" cy="713722"/>
          </a:xfrm>
          <a:prstGeom prst="rect">
            <a:avLst/>
          </a:prstGeom>
          <a:noFill/>
        </p:spPr>
        <p:txBody>
          <a:bodyPr wrap="square" rtlCol="0">
            <a:spAutoFit/>
          </a:bodyPr>
          <a:lstStyle/>
          <a:p>
            <a:pPr>
              <a:lnSpc>
                <a:spcPct val="115000"/>
              </a:lnSpc>
              <a:spcAft>
                <a:spcPts val="800"/>
              </a:spcAft>
            </a:pPr>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Optimisation efficace :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Il explore plusieurs zones en même temps pour trouver la meilleure solution.</a:t>
            </a:r>
          </a:p>
        </p:txBody>
      </p:sp>
      <p:sp>
        <p:nvSpPr>
          <p:cNvPr id="19" name="ZoneTexte 18">
            <a:extLst>
              <a:ext uri="{FF2B5EF4-FFF2-40B4-BE49-F238E27FC236}">
                <a16:creationId xmlns:a16="http://schemas.microsoft.com/office/drawing/2014/main" id="{E033385C-FDED-26A5-3632-CA7D3B854284}"/>
              </a:ext>
            </a:extLst>
          </p:cNvPr>
          <p:cNvSpPr txBox="1"/>
          <p:nvPr/>
        </p:nvSpPr>
        <p:spPr>
          <a:xfrm>
            <a:off x="658730" y="1925235"/>
            <a:ext cx="6409569" cy="713722"/>
          </a:xfrm>
          <a:prstGeom prst="rect">
            <a:avLst/>
          </a:prstGeom>
          <a:noFill/>
        </p:spPr>
        <p:txBody>
          <a:bodyPr wrap="square" rtlCol="0">
            <a:spAutoFit/>
          </a:bodyPr>
          <a:lstStyle/>
          <a:p>
            <a:pPr>
              <a:lnSpc>
                <a:spcPct val="115000"/>
              </a:lnSpc>
              <a:spcAft>
                <a:spcPts val="800"/>
              </a:spcAft>
              <a:buNone/>
            </a:pPr>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 Attraction naturelle :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Les lucioles vont automatiquement vers les meilleures solutions.</a:t>
            </a:r>
          </a:p>
        </p:txBody>
      </p:sp>
      <p:sp>
        <p:nvSpPr>
          <p:cNvPr id="20" name="ZoneTexte 19">
            <a:extLst>
              <a:ext uri="{FF2B5EF4-FFF2-40B4-BE49-F238E27FC236}">
                <a16:creationId xmlns:a16="http://schemas.microsoft.com/office/drawing/2014/main" id="{D1ED9DBC-9506-46FD-3933-21C8D78D09A2}"/>
              </a:ext>
            </a:extLst>
          </p:cNvPr>
          <p:cNvSpPr txBox="1"/>
          <p:nvPr/>
        </p:nvSpPr>
        <p:spPr>
          <a:xfrm>
            <a:off x="539475" y="3146353"/>
            <a:ext cx="6409570" cy="646331"/>
          </a:xfrm>
          <a:prstGeom prst="rect">
            <a:avLst/>
          </a:prstGeom>
          <a:noFill/>
        </p:spPr>
        <p:txBody>
          <a:bodyPr wrap="square" rtlCol="0">
            <a:spAutoFit/>
          </a:bodyPr>
          <a:lstStyle/>
          <a:p>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Exécution en parallèle :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Chaque luciole peut être calculée à part, ce qui gagne du temps.</a:t>
            </a:r>
          </a:p>
        </p:txBody>
      </p:sp>
      <p:sp>
        <p:nvSpPr>
          <p:cNvPr id="21" name="ZoneTexte 20">
            <a:extLst>
              <a:ext uri="{FF2B5EF4-FFF2-40B4-BE49-F238E27FC236}">
                <a16:creationId xmlns:a16="http://schemas.microsoft.com/office/drawing/2014/main" id="{F9B4ABD1-4954-5B7B-332B-603BC1CA44EE}"/>
              </a:ext>
            </a:extLst>
          </p:cNvPr>
          <p:cNvSpPr txBox="1"/>
          <p:nvPr/>
        </p:nvSpPr>
        <p:spPr>
          <a:xfrm>
            <a:off x="842504" y="4220602"/>
            <a:ext cx="6600290" cy="646331"/>
          </a:xfrm>
          <a:prstGeom prst="rect">
            <a:avLst/>
          </a:prstGeom>
          <a:noFill/>
        </p:spPr>
        <p:txBody>
          <a:bodyPr wrap="square" rtlCol="0">
            <a:spAutoFit/>
          </a:bodyPr>
          <a:lstStyle/>
          <a:p>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Grande adaptabilité :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Il peut résoudre plusieurs types de problèmes : continus, discrets ou mixtes.</a:t>
            </a:r>
          </a:p>
        </p:txBody>
      </p:sp>
      <p:sp>
        <p:nvSpPr>
          <p:cNvPr id="22" name="ZoneTexte 21">
            <a:extLst>
              <a:ext uri="{FF2B5EF4-FFF2-40B4-BE49-F238E27FC236}">
                <a16:creationId xmlns:a16="http://schemas.microsoft.com/office/drawing/2014/main" id="{D5E8AED4-BF95-B770-935C-AB162E8F7E74}"/>
              </a:ext>
            </a:extLst>
          </p:cNvPr>
          <p:cNvSpPr txBox="1"/>
          <p:nvPr/>
        </p:nvSpPr>
        <p:spPr>
          <a:xfrm>
            <a:off x="1527870" y="5325725"/>
            <a:ext cx="6015104" cy="713722"/>
          </a:xfrm>
          <a:prstGeom prst="rect">
            <a:avLst/>
          </a:prstGeom>
          <a:noFill/>
        </p:spPr>
        <p:txBody>
          <a:bodyPr wrap="square" rtlCol="0">
            <a:spAutoFit/>
          </a:bodyPr>
          <a:lstStyle/>
          <a:p>
            <a:pPr>
              <a:lnSpc>
                <a:spcPct val="115000"/>
              </a:lnSpc>
              <a:spcAft>
                <a:spcPts val="800"/>
              </a:spcAft>
              <a:buNone/>
            </a:pPr>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 Résistance aux erreurs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 Il continue de fonctionner même si les données sont incomplètes ou incorrectes.</a:t>
            </a:r>
          </a:p>
        </p:txBody>
      </p:sp>
      <p:sp>
        <p:nvSpPr>
          <p:cNvPr id="2" name="ZoneTexte 1">
            <a:extLst>
              <a:ext uri="{FF2B5EF4-FFF2-40B4-BE49-F238E27FC236}">
                <a16:creationId xmlns:a16="http://schemas.microsoft.com/office/drawing/2014/main" id="{A8C91987-52F6-125B-DD62-5A9974E52FC3}"/>
              </a:ext>
            </a:extLst>
          </p:cNvPr>
          <p:cNvSpPr txBox="1"/>
          <p:nvPr/>
        </p:nvSpPr>
        <p:spPr>
          <a:xfrm>
            <a:off x="7911247" y="3550845"/>
            <a:ext cx="4285574" cy="923330"/>
          </a:xfrm>
          <a:prstGeom prst="rect">
            <a:avLst/>
          </a:prstGeom>
          <a:noFill/>
        </p:spPr>
        <p:txBody>
          <a:bodyPr wrap="square" rtlCol="0">
            <a:spAutoFit/>
          </a:bodyPr>
          <a:lstStyle/>
          <a:p>
            <a:pPr algn="ctr"/>
            <a:r>
              <a:rPr lang="fr-FR" sz="5400" dirty="0">
                <a:solidFill>
                  <a:schemeClr val="tx2">
                    <a:lumMod val="75000"/>
                  </a:schemeClr>
                </a:solidFill>
                <a:latin typeface="Aharoni" panose="02010803020104030203" pitchFamily="2" charset="-79"/>
                <a:cs typeface="Aharoni" panose="02010803020104030203" pitchFamily="2" charset="-79"/>
              </a:rPr>
              <a:t>Avantages</a:t>
            </a:r>
          </a:p>
        </p:txBody>
      </p:sp>
      <p:pic>
        <p:nvPicPr>
          <p:cNvPr id="23" name="Graphique 22" descr="Ampoule et engrenage">
            <a:extLst>
              <a:ext uri="{FF2B5EF4-FFF2-40B4-BE49-F238E27FC236}">
                <a16:creationId xmlns:a16="http://schemas.microsoft.com/office/drawing/2014/main" id="{1F967CF3-C03D-B66D-32E1-74B156FD1B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25994" y="1765058"/>
            <a:ext cx="1656080" cy="1656080"/>
          </a:xfrm>
          <a:prstGeom prst="rect">
            <a:avLst/>
          </a:prstGeom>
        </p:spPr>
      </p:pic>
      <p:sp>
        <p:nvSpPr>
          <p:cNvPr id="25" name="Rectangle 24">
            <a:extLst>
              <a:ext uri="{FF2B5EF4-FFF2-40B4-BE49-F238E27FC236}">
                <a16:creationId xmlns:a16="http://schemas.microsoft.com/office/drawing/2014/main" id="{FA4CBDB8-D9D4-0459-2490-ABF32150D33D}"/>
              </a:ext>
            </a:extLst>
          </p:cNvPr>
          <p:cNvSpPr/>
          <p:nvPr/>
        </p:nvSpPr>
        <p:spPr>
          <a:xfrm>
            <a:off x="13718157" y="-9893"/>
            <a:ext cx="6195224" cy="6858000"/>
          </a:xfrm>
          <a:prstGeom prst="rect">
            <a:avLst/>
          </a:prstGeom>
          <a:solidFill>
            <a:srgbClr val="F3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198856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DBCC86C2-AAA1-538D-A201-2BABF887FF0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DE8D6717-E261-22C7-83C3-B849EB598EBE}"/>
              </a:ext>
            </a:extLst>
          </p:cNvPr>
          <p:cNvSpPr/>
          <p:nvPr/>
        </p:nvSpPr>
        <p:spPr>
          <a:xfrm>
            <a:off x="-46668" y="0"/>
            <a:ext cx="12238668" cy="6858000"/>
          </a:xfrm>
          <a:prstGeom prst="rect">
            <a:avLst/>
          </a:prstGeom>
          <a:solidFill>
            <a:srgbClr val="F3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6" name="Rectangle 1035">
            <a:extLst>
              <a:ext uri="{FF2B5EF4-FFF2-40B4-BE49-F238E27FC236}">
                <a16:creationId xmlns:a16="http://schemas.microsoft.com/office/drawing/2014/main" id="{78438FF5-27BD-CA80-6D10-86B4A712EA5F}"/>
              </a:ext>
            </a:extLst>
          </p:cNvPr>
          <p:cNvSpPr/>
          <p:nvPr/>
        </p:nvSpPr>
        <p:spPr>
          <a:xfrm>
            <a:off x="-10224048" y="0"/>
            <a:ext cx="7303134" cy="6858000"/>
          </a:xfrm>
          <a:prstGeom prst="rect">
            <a:avLst/>
          </a:prstGeom>
          <a:solidFill>
            <a:srgbClr val="FAF6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9AEAF5E0-51B9-A3CA-95C6-BFCC43382C03}"/>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9F8C591C-41C8-FE11-909F-8395E98B40E8}"/>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3B4CA8AD-1EA3-2DF7-8DA4-FCFC5811D9DF}"/>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161E3416-4379-8C44-D4F0-8077506E2A06}"/>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39" name="Image 1038">
            <a:extLst>
              <a:ext uri="{FF2B5EF4-FFF2-40B4-BE49-F238E27FC236}">
                <a16:creationId xmlns:a16="http://schemas.microsoft.com/office/drawing/2014/main" id="{44C8735C-9720-14FB-7EEE-F9DF66D311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703995">
            <a:off x="671892" y="-1427541"/>
            <a:ext cx="876331" cy="660763"/>
          </a:xfrm>
          <a:prstGeom prst="rect">
            <a:avLst/>
          </a:prstGeom>
        </p:spPr>
      </p:pic>
      <p:sp>
        <p:nvSpPr>
          <p:cNvPr id="4" name="Ellipse 3">
            <a:extLst>
              <a:ext uri="{FF2B5EF4-FFF2-40B4-BE49-F238E27FC236}">
                <a16:creationId xmlns:a16="http://schemas.microsoft.com/office/drawing/2014/main" id="{78A8B15D-9B67-DA8E-7411-B0227363D16A}"/>
              </a:ext>
            </a:extLst>
          </p:cNvPr>
          <p:cNvSpPr/>
          <p:nvPr/>
        </p:nvSpPr>
        <p:spPr>
          <a:xfrm>
            <a:off x="371494" y="-5231960"/>
            <a:ext cx="2328876" cy="21336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5" name="Ellipse 4">
            <a:extLst>
              <a:ext uri="{FF2B5EF4-FFF2-40B4-BE49-F238E27FC236}">
                <a16:creationId xmlns:a16="http://schemas.microsoft.com/office/drawing/2014/main" id="{2DDF6371-004E-41DB-CF2A-9B6FD6579477}"/>
              </a:ext>
            </a:extLst>
          </p:cNvPr>
          <p:cNvSpPr/>
          <p:nvPr/>
        </p:nvSpPr>
        <p:spPr>
          <a:xfrm>
            <a:off x="4600121" y="-4374496"/>
            <a:ext cx="2486956" cy="21336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6" name="Ellipse 5">
            <a:extLst>
              <a:ext uri="{FF2B5EF4-FFF2-40B4-BE49-F238E27FC236}">
                <a16:creationId xmlns:a16="http://schemas.microsoft.com/office/drawing/2014/main" id="{C95ACBC7-C00C-7740-D608-48BBE5A96E9E}"/>
              </a:ext>
            </a:extLst>
          </p:cNvPr>
          <p:cNvSpPr/>
          <p:nvPr/>
        </p:nvSpPr>
        <p:spPr>
          <a:xfrm>
            <a:off x="8723013" y="-2698877"/>
            <a:ext cx="2448560" cy="21336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0" name="ZoneTexte 9">
            <a:extLst>
              <a:ext uri="{FF2B5EF4-FFF2-40B4-BE49-F238E27FC236}">
                <a16:creationId xmlns:a16="http://schemas.microsoft.com/office/drawing/2014/main" id="{95BCB097-0CBF-7929-2491-FE29A02166D5}"/>
              </a:ext>
            </a:extLst>
          </p:cNvPr>
          <p:cNvSpPr txBox="1"/>
          <p:nvPr/>
        </p:nvSpPr>
        <p:spPr>
          <a:xfrm>
            <a:off x="460865" y="-4834367"/>
            <a:ext cx="2150133" cy="1200329"/>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1</a:t>
            </a:r>
          </a:p>
          <a:p>
            <a:pPr algn="ctr"/>
            <a:r>
              <a:rPr lang="fr-FR" sz="2800" dirty="0">
                <a:solidFill>
                  <a:schemeClr val="tx2">
                    <a:lumMod val="50000"/>
                  </a:schemeClr>
                </a:solidFill>
                <a:latin typeface="Aharoni" panose="02010803020104030203" pitchFamily="2" charset="-79"/>
                <a:cs typeface="Aharoni" panose="02010803020104030203" pitchFamily="2" charset="-79"/>
              </a:rPr>
              <a:t>Attraction </a:t>
            </a:r>
          </a:p>
        </p:txBody>
      </p:sp>
      <p:sp>
        <p:nvSpPr>
          <p:cNvPr id="11" name="ZoneTexte 10">
            <a:extLst>
              <a:ext uri="{FF2B5EF4-FFF2-40B4-BE49-F238E27FC236}">
                <a16:creationId xmlns:a16="http://schemas.microsoft.com/office/drawing/2014/main" id="{EC3AEBDB-B270-CE89-DD4D-E997ED18A6B1}"/>
              </a:ext>
            </a:extLst>
          </p:cNvPr>
          <p:cNvSpPr txBox="1"/>
          <p:nvPr/>
        </p:nvSpPr>
        <p:spPr>
          <a:xfrm>
            <a:off x="4768533" y="-3960381"/>
            <a:ext cx="2150133" cy="1200329"/>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2</a:t>
            </a:r>
          </a:p>
          <a:p>
            <a:pPr algn="ctr"/>
            <a:r>
              <a:rPr lang="fr-FR" sz="2400" dirty="0">
                <a:solidFill>
                  <a:schemeClr val="tx2">
                    <a:lumMod val="75000"/>
                  </a:schemeClr>
                </a:solidFill>
                <a:latin typeface="Aharoni" panose="02010803020104030203" pitchFamily="2" charset="-79"/>
                <a:cs typeface="Aharoni" panose="02010803020104030203" pitchFamily="2" charset="-79"/>
              </a:rPr>
              <a:t>Déplacement </a:t>
            </a:r>
            <a:r>
              <a:rPr lang="fr-FR" sz="2800" dirty="0">
                <a:solidFill>
                  <a:schemeClr val="tx2">
                    <a:lumMod val="75000"/>
                  </a:schemeClr>
                </a:solidFill>
                <a:latin typeface="Aharoni" panose="02010803020104030203" pitchFamily="2" charset="-79"/>
                <a:cs typeface="Aharoni" panose="02010803020104030203" pitchFamily="2" charset="-79"/>
              </a:rPr>
              <a:t> </a:t>
            </a:r>
          </a:p>
        </p:txBody>
      </p:sp>
      <p:sp>
        <p:nvSpPr>
          <p:cNvPr id="12" name="ZoneTexte 11">
            <a:extLst>
              <a:ext uri="{FF2B5EF4-FFF2-40B4-BE49-F238E27FC236}">
                <a16:creationId xmlns:a16="http://schemas.microsoft.com/office/drawing/2014/main" id="{206A71C7-A189-AE4A-E391-44BD6EB45266}"/>
              </a:ext>
            </a:extLst>
          </p:cNvPr>
          <p:cNvSpPr txBox="1"/>
          <p:nvPr/>
        </p:nvSpPr>
        <p:spPr>
          <a:xfrm>
            <a:off x="8853027" y="-2365219"/>
            <a:ext cx="2150133" cy="1200329"/>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3</a:t>
            </a:r>
          </a:p>
          <a:p>
            <a:pPr algn="ctr"/>
            <a:r>
              <a:rPr lang="fr-FR" sz="2400" dirty="0">
                <a:solidFill>
                  <a:schemeClr val="tx2">
                    <a:lumMod val="50000"/>
                  </a:schemeClr>
                </a:solidFill>
                <a:latin typeface="Aharoni" panose="02010803020104030203" pitchFamily="2" charset="-79"/>
                <a:cs typeface="Aharoni" panose="02010803020104030203" pitchFamily="2" charset="-79"/>
              </a:rPr>
              <a:t>Exploration</a:t>
            </a:r>
            <a:r>
              <a:rPr lang="fr-FR" sz="2800" dirty="0">
                <a:solidFill>
                  <a:schemeClr val="tx2">
                    <a:lumMod val="50000"/>
                  </a:schemeClr>
                </a:solidFill>
                <a:latin typeface="Aharoni" panose="02010803020104030203" pitchFamily="2" charset="-79"/>
                <a:cs typeface="Aharoni" panose="02010803020104030203" pitchFamily="2" charset="-79"/>
              </a:rPr>
              <a:t>  </a:t>
            </a:r>
          </a:p>
        </p:txBody>
      </p:sp>
      <p:sp>
        <p:nvSpPr>
          <p:cNvPr id="15" name="Ellipse 14">
            <a:extLst>
              <a:ext uri="{FF2B5EF4-FFF2-40B4-BE49-F238E27FC236}">
                <a16:creationId xmlns:a16="http://schemas.microsoft.com/office/drawing/2014/main" id="{A94EACA4-5CD4-30CB-01C1-D74EA67B7FCA}"/>
              </a:ext>
            </a:extLst>
          </p:cNvPr>
          <p:cNvSpPr/>
          <p:nvPr/>
        </p:nvSpPr>
        <p:spPr>
          <a:xfrm>
            <a:off x="-1595102" y="432583"/>
            <a:ext cx="6195223" cy="599283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0A597836-6AFC-FE0F-7A35-7E3192968452}"/>
              </a:ext>
            </a:extLst>
          </p:cNvPr>
          <p:cNvSpPr/>
          <p:nvPr/>
        </p:nvSpPr>
        <p:spPr>
          <a:xfrm>
            <a:off x="-1061847" y="897402"/>
            <a:ext cx="5187569" cy="5047472"/>
          </a:xfrm>
          <a:prstGeom prst="ellipse">
            <a:avLst/>
          </a:prstGeom>
          <a:solidFill>
            <a:srgbClr val="F3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ZoneTexte 17">
            <a:extLst>
              <a:ext uri="{FF2B5EF4-FFF2-40B4-BE49-F238E27FC236}">
                <a16:creationId xmlns:a16="http://schemas.microsoft.com/office/drawing/2014/main" id="{01F49CE3-B9DD-91FB-2329-4CA042CAA787}"/>
              </a:ext>
            </a:extLst>
          </p:cNvPr>
          <p:cNvSpPr txBox="1"/>
          <p:nvPr/>
        </p:nvSpPr>
        <p:spPr>
          <a:xfrm>
            <a:off x="5294103" y="1973408"/>
            <a:ext cx="6195223" cy="713722"/>
          </a:xfrm>
          <a:prstGeom prst="rect">
            <a:avLst/>
          </a:prstGeom>
          <a:noFill/>
        </p:spPr>
        <p:txBody>
          <a:bodyPr wrap="square" rtlCol="0">
            <a:spAutoFit/>
          </a:bodyPr>
          <a:lstStyle/>
          <a:p>
            <a:pPr>
              <a:lnSpc>
                <a:spcPct val="115000"/>
              </a:lnSpc>
              <a:spcAft>
                <a:spcPts val="800"/>
              </a:spcAft>
            </a:pPr>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Convergence trop rapide :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Il peut s’arrêter trop tôt sur une solution moyenne.</a:t>
            </a:r>
          </a:p>
        </p:txBody>
      </p:sp>
      <p:sp>
        <p:nvSpPr>
          <p:cNvPr id="19" name="ZoneTexte 18">
            <a:extLst>
              <a:ext uri="{FF2B5EF4-FFF2-40B4-BE49-F238E27FC236}">
                <a16:creationId xmlns:a16="http://schemas.microsoft.com/office/drawing/2014/main" id="{26042810-3615-E9E8-1EDB-B3ABBCB1162A}"/>
              </a:ext>
            </a:extLst>
          </p:cNvPr>
          <p:cNvSpPr txBox="1"/>
          <p:nvPr/>
        </p:nvSpPr>
        <p:spPr>
          <a:xfrm>
            <a:off x="5518227" y="3140709"/>
            <a:ext cx="6409569" cy="713722"/>
          </a:xfrm>
          <a:prstGeom prst="rect">
            <a:avLst/>
          </a:prstGeom>
          <a:noFill/>
        </p:spPr>
        <p:txBody>
          <a:bodyPr wrap="square" rtlCol="0">
            <a:spAutoFit/>
          </a:bodyPr>
          <a:lstStyle/>
          <a:p>
            <a:pPr>
              <a:lnSpc>
                <a:spcPct val="115000"/>
              </a:lnSpc>
              <a:spcAft>
                <a:spcPts val="800"/>
              </a:spcAft>
              <a:buNone/>
            </a:pPr>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Moins efficace pour les gros problèmes :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Quand il y a trop de variables, il devient lent et confus.</a:t>
            </a:r>
          </a:p>
        </p:txBody>
      </p:sp>
      <p:sp>
        <p:nvSpPr>
          <p:cNvPr id="20" name="ZoneTexte 19">
            <a:extLst>
              <a:ext uri="{FF2B5EF4-FFF2-40B4-BE49-F238E27FC236}">
                <a16:creationId xmlns:a16="http://schemas.microsoft.com/office/drawing/2014/main" id="{480384EB-27F1-BBA6-89CB-D664929D4821}"/>
              </a:ext>
            </a:extLst>
          </p:cNvPr>
          <p:cNvSpPr txBox="1"/>
          <p:nvPr/>
        </p:nvSpPr>
        <p:spPr>
          <a:xfrm>
            <a:off x="5186929" y="4359364"/>
            <a:ext cx="6409570" cy="646331"/>
          </a:xfrm>
          <a:prstGeom prst="rect">
            <a:avLst/>
          </a:prstGeom>
          <a:noFill/>
        </p:spPr>
        <p:txBody>
          <a:bodyPr wrap="square" rtlCol="0">
            <a:spAutoFit/>
          </a:bodyPr>
          <a:lstStyle/>
          <a:p>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Trop de lucioles = lenteur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 Le temps de calcul devient long quand il y a beaucoup de lucioles.</a:t>
            </a:r>
          </a:p>
        </p:txBody>
      </p:sp>
      <p:sp>
        <p:nvSpPr>
          <p:cNvPr id="21" name="ZoneTexte 20">
            <a:extLst>
              <a:ext uri="{FF2B5EF4-FFF2-40B4-BE49-F238E27FC236}">
                <a16:creationId xmlns:a16="http://schemas.microsoft.com/office/drawing/2014/main" id="{46774919-028C-877C-1F4B-6A5DB0C92DEE}"/>
              </a:ext>
            </a:extLst>
          </p:cNvPr>
          <p:cNvSpPr txBox="1"/>
          <p:nvPr/>
        </p:nvSpPr>
        <p:spPr>
          <a:xfrm>
            <a:off x="4632833" y="5461941"/>
            <a:ext cx="6600290" cy="646331"/>
          </a:xfrm>
          <a:prstGeom prst="rect">
            <a:avLst/>
          </a:prstGeom>
          <a:noFill/>
        </p:spPr>
        <p:txBody>
          <a:bodyPr wrap="square" rtlCol="0">
            <a:spAutoFit/>
          </a:bodyPr>
          <a:lstStyle/>
          <a:p>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Ne gère pas bien les règles :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Il faut ajouter des méthodes pour respecter les contraintes du problème.</a:t>
            </a:r>
          </a:p>
        </p:txBody>
      </p:sp>
      <p:sp>
        <p:nvSpPr>
          <p:cNvPr id="22" name="ZoneTexte 21">
            <a:extLst>
              <a:ext uri="{FF2B5EF4-FFF2-40B4-BE49-F238E27FC236}">
                <a16:creationId xmlns:a16="http://schemas.microsoft.com/office/drawing/2014/main" id="{34977551-D812-2188-B7E4-967826FCF2F5}"/>
              </a:ext>
            </a:extLst>
          </p:cNvPr>
          <p:cNvSpPr txBox="1"/>
          <p:nvPr/>
        </p:nvSpPr>
        <p:spPr>
          <a:xfrm>
            <a:off x="4768533" y="897402"/>
            <a:ext cx="6015104" cy="713722"/>
          </a:xfrm>
          <a:prstGeom prst="rect">
            <a:avLst/>
          </a:prstGeom>
          <a:noFill/>
        </p:spPr>
        <p:txBody>
          <a:bodyPr wrap="square" rtlCol="0">
            <a:spAutoFit/>
          </a:bodyPr>
          <a:lstStyle/>
          <a:p>
            <a:pPr>
              <a:lnSpc>
                <a:spcPct val="115000"/>
              </a:lnSpc>
              <a:spcAft>
                <a:spcPts val="800"/>
              </a:spcAft>
              <a:buNone/>
            </a:pPr>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 Dépendance aux paramètres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 Il faut bien choisir les paramètres, sinon les résultats seront mauvais.</a:t>
            </a:r>
          </a:p>
        </p:txBody>
      </p:sp>
      <p:sp>
        <p:nvSpPr>
          <p:cNvPr id="2" name="ZoneTexte 1">
            <a:extLst>
              <a:ext uri="{FF2B5EF4-FFF2-40B4-BE49-F238E27FC236}">
                <a16:creationId xmlns:a16="http://schemas.microsoft.com/office/drawing/2014/main" id="{F2F8C59E-AEFA-6CDD-7B54-968EAA33418C}"/>
              </a:ext>
            </a:extLst>
          </p:cNvPr>
          <p:cNvSpPr txBox="1"/>
          <p:nvPr/>
        </p:nvSpPr>
        <p:spPr>
          <a:xfrm>
            <a:off x="-290690" y="3834705"/>
            <a:ext cx="4285574" cy="923330"/>
          </a:xfrm>
          <a:prstGeom prst="rect">
            <a:avLst/>
          </a:prstGeom>
          <a:noFill/>
        </p:spPr>
        <p:txBody>
          <a:bodyPr wrap="square" rtlCol="0">
            <a:spAutoFit/>
          </a:bodyPr>
          <a:lstStyle/>
          <a:p>
            <a:pPr algn="ctr"/>
            <a:r>
              <a:rPr lang="fr-FR" sz="5400" dirty="0">
                <a:solidFill>
                  <a:schemeClr val="tx2">
                    <a:lumMod val="75000"/>
                  </a:schemeClr>
                </a:solidFill>
                <a:latin typeface="Aharoni" panose="02010803020104030203" pitchFamily="2" charset="-79"/>
                <a:cs typeface="Aharoni" panose="02010803020104030203" pitchFamily="2" charset="-79"/>
              </a:rPr>
              <a:t>Limites </a:t>
            </a:r>
          </a:p>
        </p:txBody>
      </p:sp>
      <p:pic>
        <p:nvPicPr>
          <p:cNvPr id="23" name="Graphique 22" descr="Ampoule et engrenage">
            <a:extLst>
              <a:ext uri="{FF2B5EF4-FFF2-40B4-BE49-F238E27FC236}">
                <a16:creationId xmlns:a16="http://schemas.microsoft.com/office/drawing/2014/main" id="{20DE80BD-36ED-B371-D434-F20F32CE0E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3907" y="1973408"/>
            <a:ext cx="1656080" cy="1656080"/>
          </a:xfrm>
          <a:prstGeom prst="rect">
            <a:avLst/>
          </a:prstGeom>
        </p:spPr>
      </p:pic>
      <p:pic>
        <p:nvPicPr>
          <p:cNvPr id="14" name="Picture 2" descr="Premium AI Image | Abstract and magical image of Firefly flying in the ...">
            <a:extLst>
              <a:ext uri="{FF2B5EF4-FFF2-40B4-BE49-F238E27FC236}">
                <a16:creationId xmlns:a16="http://schemas.microsoft.com/office/drawing/2014/main" id="{3C2DF1D3-43BF-41E9-3BF9-379C68C461F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000" r="7778"/>
          <a:stretch/>
        </p:blipFill>
        <p:spPr bwMode="auto">
          <a:xfrm>
            <a:off x="6240306" y="8831408"/>
            <a:ext cx="549053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3971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FCA7966A-EEBC-6F96-0865-4ADB9ECA03B9}"/>
            </a:ext>
          </a:extLst>
        </p:cNvPr>
        <p:cNvGrpSpPr/>
        <p:nvPr/>
      </p:nvGrpSpPr>
      <p:grpSpPr>
        <a:xfrm>
          <a:off x="0" y="0"/>
          <a:ext cx="0" cy="0"/>
          <a:chOff x="0" y="0"/>
          <a:chExt cx="0" cy="0"/>
        </a:xfrm>
      </p:grpSpPr>
      <p:sp>
        <p:nvSpPr>
          <p:cNvPr id="1036" name="Rectangle 1035">
            <a:extLst>
              <a:ext uri="{FF2B5EF4-FFF2-40B4-BE49-F238E27FC236}">
                <a16:creationId xmlns:a16="http://schemas.microsoft.com/office/drawing/2014/main" id="{3BE7A24D-EECB-541C-60E2-A87FD7F68AF0}"/>
              </a:ext>
            </a:extLst>
          </p:cNvPr>
          <p:cNvSpPr/>
          <p:nvPr/>
        </p:nvSpPr>
        <p:spPr>
          <a:xfrm>
            <a:off x="0" y="0"/>
            <a:ext cx="12212246"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4BD27E81-858D-6FA6-2639-F864D24753C9}"/>
              </a:ext>
            </a:extLst>
          </p:cNvPr>
          <p:cNvSpPr txBox="1"/>
          <p:nvPr/>
        </p:nvSpPr>
        <p:spPr>
          <a:xfrm>
            <a:off x="665430" y="1914580"/>
            <a:ext cx="4804856" cy="2862322"/>
          </a:xfrm>
          <a:prstGeom prst="rect">
            <a:avLst/>
          </a:prstGeom>
          <a:noFill/>
        </p:spPr>
        <p:txBody>
          <a:bodyPr wrap="square" rtlCol="0">
            <a:spAutoFit/>
          </a:bodyPr>
          <a:lstStyle/>
          <a:p>
            <a:r>
              <a:rPr lang="fr-FR" sz="6000" dirty="0">
                <a:solidFill>
                  <a:schemeClr val="bg1"/>
                </a:solidFill>
                <a:latin typeface="Arial Black" panose="020B0A04020102020204" pitchFamily="34" charset="0"/>
              </a:rPr>
              <a:t>Algorithme des lucioles </a:t>
            </a:r>
          </a:p>
        </p:txBody>
      </p:sp>
      <p:sp>
        <p:nvSpPr>
          <p:cNvPr id="8" name="Rectangle 7">
            <a:extLst>
              <a:ext uri="{FF2B5EF4-FFF2-40B4-BE49-F238E27FC236}">
                <a16:creationId xmlns:a16="http://schemas.microsoft.com/office/drawing/2014/main" id="{A82F5E3E-47E2-C4E4-6178-E8ED4951DDEC}"/>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2F6C76CD-2713-AE2F-6D16-AEDB9AA505F1}"/>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2" descr="Premium AI Image | Abstract and magical image of Firefly flying in the ...">
            <a:extLst>
              <a:ext uri="{FF2B5EF4-FFF2-40B4-BE49-F238E27FC236}">
                <a16:creationId xmlns:a16="http://schemas.microsoft.com/office/drawing/2014/main" id="{E0AD3998-D646-E3C6-7CF4-1393F89175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00" r="7778"/>
          <a:stretch/>
        </p:blipFill>
        <p:spPr bwMode="auto">
          <a:xfrm>
            <a:off x="6096000" y="0"/>
            <a:ext cx="5490532"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7307FC7-3B29-B72B-4A8D-A488209BF920}"/>
              </a:ext>
            </a:extLst>
          </p:cNvPr>
          <p:cNvSpPr/>
          <p:nvPr/>
        </p:nvSpPr>
        <p:spPr>
          <a:xfrm>
            <a:off x="14644692" y="0"/>
            <a:ext cx="12238668" cy="6858000"/>
          </a:xfrm>
          <a:prstGeom prst="rect">
            <a:avLst/>
          </a:prstGeom>
          <a:solidFill>
            <a:srgbClr val="F3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6351C719-BB7A-B103-9279-8634DE0DE0F4}"/>
              </a:ext>
            </a:extLst>
          </p:cNvPr>
          <p:cNvSpPr/>
          <p:nvPr/>
        </p:nvSpPr>
        <p:spPr>
          <a:xfrm>
            <a:off x="13096258" y="432583"/>
            <a:ext cx="6195223" cy="599283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D4FCEF6A-939B-B59D-75E7-E69731422BEB}"/>
              </a:ext>
            </a:extLst>
          </p:cNvPr>
          <p:cNvSpPr/>
          <p:nvPr/>
        </p:nvSpPr>
        <p:spPr>
          <a:xfrm>
            <a:off x="13629513" y="897402"/>
            <a:ext cx="5187569" cy="5047472"/>
          </a:xfrm>
          <a:prstGeom prst="ellipse">
            <a:avLst/>
          </a:prstGeom>
          <a:solidFill>
            <a:srgbClr val="F3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ZoneTexte 12">
            <a:extLst>
              <a:ext uri="{FF2B5EF4-FFF2-40B4-BE49-F238E27FC236}">
                <a16:creationId xmlns:a16="http://schemas.microsoft.com/office/drawing/2014/main" id="{65DE7905-52AE-3C4D-F9C6-502007455F16}"/>
              </a:ext>
            </a:extLst>
          </p:cNvPr>
          <p:cNvSpPr txBox="1"/>
          <p:nvPr/>
        </p:nvSpPr>
        <p:spPr>
          <a:xfrm>
            <a:off x="19985463" y="1973408"/>
            <a:ext cx="6195223" cy="713722"/>
          </a:xfrm>
          <a:prstGeom prst="rect">
            <a:avLst/>
          </a:prstGeom>
          <a:noFill/>
        </p:spPr>
        <p:txBody>
          <a:bodyPr wrap="square" rtlCol="0">
            <a:spAutoFit/>
          </a:bodyPr>
          <a:lstStyle/>
          <a:p>
            <a:pPr>
              <a:lnSpc>
                <a:spcPct val="115000"/>
              </a:lnSpc>
              <a:spcAft>
                <a:spcPts val="800"/>
              </a:spcAft>
            </a:pPr>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Convergence trop rapide :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Il peut s’arrêter trop tôt sur une solution moyenne.</a:t>
            </a:r>
          </a:p>
        </p:txBody>
      </p:sp>
      <p:sp>
        <p:nvSpPr>
          <p:cNvPr id="14" name="ZoneTexte 13">
            <a:extLst>
              <a:ext uri="{FF2B5EF4-FFF2-40B4-BE49-F238E27FC236}">
                <a16:creationId xmlns:a16="http://schemas.microsoft.com/office/drawing/2014/main" id="{6884547A-2C52-0697-37E1-02564E793845}"/>
              </a:ext>
            </a:extLst>
          </p:cNvPr>
          <p:cNvSpPr txBox="1"/>
          <p:nvPr/>
        </p:nvSpPr>
        <p:spPr>
          <a:xfrm>
            <a:off x="20209587" y="3140709"/>
            <a:ext cx="6409569" cy="713722"/>
          </a:xfrm>
          <a:prstGeom prst="rect">
            <a:avLst/>
          </a:prstGeom>
          <a:noFill/>
        </p:spPr>
        <p:txBody>
          <a:bodyPr wrap="square" rtlCol="0">
            <a:spAutoFit/>
          </a:bodyPr>
          <a:lstStyle/>
          <a:p>
            <a:pPr>
              <a:lnSpc>
                <a:spcPct val="115000"/>
              </a:lnSpc>
              <a:spcAft>
                <a:spcPts val="800"/>
              </a:spcAft>
              <a:buNone/>
            </a:pPr>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Moins efficace pour les gros problèmes :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Quand il y a trop de variables, il devient lent et confus.</a:t>
            </a:r>
          </a:p>
        </p:txBody>
      </p:sp>
      <p:sp>
        <p:nvSpPr>
          <p:cNvPr id="15" name="ZoneTexte 14">
            <a:extLst>
              <a:ext uri="{FF2B5EF4-FFF2-40B4-BE49-F238E27FC236}">
                <a16:creationId xmlns:a16="http://schemas.microsoft.com/office/drawing/2014/main" id="{9DA53E9E-6C68-2CE7-4A8B-1E6C76F5594D}"/>
              </a:ext>
            </a:extLst>
          </p:cNvPr>
          <p:cNvSpPr txBox="1"/>
          <p:nvPr/>
        </p:nvSpPr>
        <p:spPr>
          <a:xfrm>
            <a:off x="19878289" y="4359364"/>
            <a:ext cx="6409570" cy="646331"/>
          </a:xfrm>
          <a:prstGeom prst="rect">
            <a:avLst/>
          </a:prstGeom>
          <a:noFill/>
        </p:spPr>
        <p:txBody>
          <a:bodyPr wrap="square" rtlCol="0">
            <a:spAutoFit/>
          </a:bodyPr>
          <a:lstStyle/>
          <a:p>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Trop de lucioles = lenteur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 Le temps de calcul devient long quand il y a beaucoup de lucioles.</a:t>
            </a:r>
          </a:p>
        </p:txBody>
      </p:sp>
      <p:sp>
        <p:nvSpPr>
          <p:cNvPr id="16" name="ZoneTexte 15">
            <a:extLst>
              <a:ext uri="{FF2B5EF4-FFF2-40B4-BE49-F238E27FC236}">
                <a16:creationId xmlns:a16="http://schemas.microsoft.com/office/drawing/2014/main" id="{B17658AE-09FA-8ACF-A6B3-F70297E2DD5D}"/>
              </a:ext>
            </a:extLst>
          </p:cNvPr>
          <p:cNvSpPr txBox="1"/>
          <p:nvPr/>
        </p:nvSpPr>
        <p:spPr>
          <a:xfrm>
            <a:off x="19324193" y="5461941"/>
            <a:ext cx="6600290" cy="646331"/>
          </a:xfrm>
          <a:prstGeom prst="rect">
            <a:avLst/>
          </a:prstGeom>
          <a:noFill/>
        </p:spPr>
        <p:txBody>
          <a:bodyPr wrap="square" rtlCol="0">
            <a:spAutoFit/>
          </a:bodyPr>
          <a:lstStyle/>
          <a:p>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Ne gère pas bien les règles :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Il faut ajouter des méthodes pour respecter les contraintes du problème.</a:t>
            </a:r>
          </a:p>
        </p:txBody>
      </p:sp>
      <p:sp>
        <p:nvSpPr>
          <p:cNvPr id="17" name="ZoneTexte 16">
            <a:extLst>
              <a:ext uri="{FF2B5EF4-FFF2-40B4-BE49-F238E27FC236}">
                <a16:creationId xmlns:a16="http://schemas.microsoft.com/office/drawing/2014/main" id="{71CB985F-DA6B-9A42-C02F-CE86DD7BBEBB}"/>
              </a:ext>
            </a:extLst>
          </p:cNvPr>
          <p:cNvSpPr txBox="1"/>
          <p:nvPr/>
        </p:nvSpPr>
        <p:spPr>
          <a:xfrm>
            <a:off x="19459893" y="897402"/>
            <a:ext cx="6015104" cy="713722"/>
          </a:xfrm>
          <a:prstGeom prst="rect">
            <a:avLst/>
          </a:prstGeom>
          <a:noFill/>
        </p:spPr>
        <p:txBody>
          <a:bodyPr wrap="square" rtlCol="0">
            <a:spAutoFit/>
          </a:bodyPr>
          <a:lstStyle/>
          <a:p>
            <a:pPr>
              <a:lnSpc>
                <a:spcPct val="115000"/>
              </a:lnSpc>
              <a:spcAft>
                <a:spcPts val="800"/>
              </a:spcAft>
              <a:buNone/>
            </a:pPr>
            <a:r>
              <a:rPr lang="fr-FR" sz="1800" kern="100" dirty="0">
                <a:solidFill>
                  <a:schemeClr val="tx2">
                    <a:lumMod val="75000"/>
                  </a:schemeClr>
                </a:solidFill>
                <a:effectLst/>
                <a:latin typeface="Aharoni" panose="02010803020104030203" pitchFamily="2" charset="-79"/>
                <a:ea typeface="Times New Roman" panose="02020603050405020304" pitchFamily="18" charset="0"/>
                <a:cs typeface="Aharoni" panose="02010803020104030203" pitchFamily="2" charset="-79"/>
              </a:rPr>
              <a:t> Dépendance aux paramètres </a:t>
            </a:r>
            <a:r>
              <a:rPr lang="fr-FR" sz="1800" kern="100" dirty="0">
                <a:solidFill>
                  <a:schemeClr val="tx2">
                    <a:lumMod val="75000"/>
                  </a:schemeClr>
                </a:solidFill>
                <a:effectLst/>
                <a:latin typeface="Aptos Display" panose="020B0004020202020204" pitchFamily="34" charset="0"/>
                <a:ea typeface="Times New Roman" panose="02020603050405020304" pitchFamily="18" charset="0"/>
                <a:cs typeface="Aharoni" panose="02010803020104030203" pitchFamily="2" charset="-79"/>
              </a:rPr>
              <a:t>: Il faut bien choisir les paramètres, sinon les résultats seront mauvais.</a:t>
            </a:r>
          </a:p>
        </p:txBody>
      </p:sp>
      <p:sp>
        <p:nvSpPr>
          <p:cNvPr id="18" name="ZoneTexte 17">
            <a:extLst>
              <a:ext uri="{FF2B5EF4-FFF2-40B4-BE49-F238E27FC236}">
                <a16:creationId xmlns:a16="http://schemas.microsoft.com/office/drawing/2014/main" id="{4BF89543-0548-A800-D68E-BB6A8B22B451}"/>
              </a:ext>
            </a:extLst>
          </p:cNvPr>
          <p:cNvSpPr txBox="1"/>
          <p:nvPr/>
        </p:nvSpPr>
        <p:spPr>
          <a:xfrm>
            <a:off x="14400670" y="3834705"/>
            <a:ext cx="4285574" cy="923330"/>
          </a:xfrm>
          <a:prstGeom prst="rect">
            <a:avLst/>
          </a:prstGeom>
          <a:noFill/>
        </p:spPr>
        <p:txBody>
          <a:bodyPr wrap="square" rtlCol="0">
            <a:spAutoFit/>
          </a:bodyPr>
          <a:lstStyle/>
          <a:p>
            <a:pPr algn="ctr"/>
            <a:r>
              <a:rPr lang="fr-FR" sz="5400" dirty="0">
                <a:solidFill>
                  <a:schemeClr val="tx2">
                    <a:lumMod val="75000"/>
                  </a:schemeClr>
                </a:solidFill>
                <a:latin typeface="Aharoni" panose="02010803020104030203" pitchFamily="2" charset="-79"/>
                <a:cs typeface="Aharoni" panose="02010803020104030203" pitchFamily="2" charset="-79"/>
              </a:rPr>
              <a:t>Limites </a:t>
            </a:r>
          </a:p>
        </p:txBody>
      </p:sp>
      <p:pic>
        <p:nvPicPr>
          <p:cNvPr id="19" name="Graphique 18" descr="Ampoule et engrenage">
            <a:extLst>
              <a:ext uri="{FF2B5EF4-FFF2-40B4-BE49-F238E27FC236}">
                <a16:creationId xmlns:a16="http://schemas.microsoft.com/office/drawing/2014/main" id="{C42C81B2-1583-B952-553B-1E3FC5A2B1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655267" y="1973408"/>
            <a:ext cx="1656080" cy="1656080"/>
          </a:xfrm>
          <a:prstGeom prst="rect">
            <a:avLst/>
          </a:prstGeom>
        </p:spPr>
      </p:pic>
      <p:cxnSp>
        <p:nvCxnSpPr>
          <p:cNvPr id="20" name="Connecteur droit 19">
            <a:extLst>
              <a:ext uri="{FF2B5EF4-FFF2-40B4-BE49-F238E27FC236}">
                <a16:creationId xmlns:a16="http://schemas.microsoft.com/office/drawing/2014/main" id="{BBBE511C-D644-A94A-9D4A-7FC9C5D4B0DC}"/>
              </a:ext>
            </a:extLst>
          </p:cNvPr>
          <p:cNvCxnSpPr>
            <a:cxnSpLocks/>
            <a:stCxn id="24" idx="6"/>
            <a:endCxn id="25" idx="2"/>
          </p:cNvCxnSpPr>
          <p:nvPr/>
        </p:nvCxnSpPr>
        <p:spPr>
          <a:xfrm>
            <a:off x="6608846" y="10827110"/>
            <a:ext cx="3095702" cy="217178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2370CBE7-16A9-0622-619D-D1E38850CC84}"/>
              </a:ext>
            </a:extLst>
          </p:cNvPr>
          <p:cNvCxnSpPr>
            <a:cxnSpLocks/>
            <a:stCxn id="23" idx="7"/>
            <a:endCxn id="24" idx="2"/>
          </p:cNvCxnSpPr>
          <p:nvPr/>
        </p:nvCxnSpPr>
        <p:spPr>
          <a:xfrm>
            <a:off x="2168958" y="9414969"/>
            <a:ext cx="3362937" cy="1412141"/>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3" name="Ellipse 22">
            <a:extLst>
              <a:ext uri="{FF2B5EF4-FFF2-40B4-BE49-F238E27FC236}">
                <a16:creationId xmlns:a16="http://schemas.microsoft.com/office/drawing/2014/main" id="{8AB6D2C8-871C-7D10-4557-0B77BC139FDA}"/>
              </a:ext>
            </a:extLst>
          </p:cNvPr>
          <p:cNvSpPr/>
          <p:nvPr/>
        </p:nvSpPr>
        <p:spPr>
          <a:xfrm>
            <a:off x="1249723" y="9258740"/>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24" name="Ellipse 23">
            <a:extLst>
              <a:ext uri="{FF2B5EF4-FFF2-40B4-BE49-F238E27FC236}">
                <a16:creationId xmlns:a16="http://schemas.microsoft.com/office/drawing/2014/main" id="{646E12A4-3144-BD09-19E8-F6E8D873F9C0}"/>
              </a:ext>
            </a:extLst>
          </p:cNvPr>
          <p:cNvSpPr/>
          <p:nvPr/>
        </p:nvSpPr>
        <p:spPr>
          <a:xfrm>
            <a:off x="5531895" y="10293710"/>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25" name="Ellipse 24">
            <a:extLst>
              <a:ext uri="{FF2B5EF4-FFF2-40B4-BE49-F238E27FC236}">
                <a16:creationId xmlns:a16="http://schemas.microsoft.com/office/drawing/2014/main" id="{DF53A359-37FA-0083-8883-A273B3EF8ECC}"/>
              </a:ext>
            </a:extLst>
          </p:cNvPr>
          <p:cNvSpPr/>
          <p:nvPr/>
        </p:nvSpPr>
        <p:spPr>
          <a:xfrm>
            <a:off x="9704548" y="12521724"/>
            <a:ext cx="1076961" cy="95434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26" name="ZoneTexte 25">
            <a:extLst>
              <a:ext uri="{FF2B5EF4-FFF2-40B4-BE49-F238E27FC236}">
                <a16:creationId xmlns:a16="http://schemas.microsoft.com/office/drawing/2014/main" id="{9D0E41D7-359D-6141-D68F-6E1912854CE2}"/>
              </a:ext>
            </a:extLst>
          </p:cNvPr>
          <p:cNvSpPr txBox="1"/>
          <p:nvPr/>
        </p:nvSpPr>
        <p:spPr>
          <a:xfrm>
            <a:off x="713133" y="9407420"/>
            <a:ext cx="2150133" cy="769441"/>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1</a:t>
            </a:r>
            <a:endParaRPr lang="fr-FR" sz="2800" dirty="0">
              <a:solidFill>
                <a:schemeClr val="tx2">
                  <a:lumMod val="50000"/>
                </a:schemeClr>
              </a:solidFill>
              <a:latin typeface="Aharoni" panose="02010803020104030203" pitchFamily="2" charset="-79"/>
              <a:cs typeface="Aharoni" panose="02010803020104030203" pitchFamily="2" charset="-79"/>
            </a:endParaRPr>
          </a:p>
        </p:txBody>
      </p:sp>
      <p:sp>
        <p:nvSpPr>
          <p:cNvPr id="27" name="ZoneTexte 26">
            <a:extLst>
              <a:ext uri="{FF2B5EF4-FFF2-40B4-BE49-F238E27FC236}">
                <a16:creationId xmlns:a16="http://schemas.microsoft.com/office/drawing/2014/main" id="{9A5B971E-97E4-5F67-1A50-CF16F431DFA8}"/>
              </a:ext>
            </a:extLst>
          </p:cNvPr>
          <p:cNvSpPr txBox="1"/>
          <p:nvPr/>
        </p:nvSpPr>
        <p:spPr>
          <a:xfrm>
            <a:off x="4995304" y="10449938"/>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2</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sp>
        <p:nvSpPr>
          <p:cNvPr id="28" name="ZoneTexte 27">
            <a:extLst>
              <a:ext uri="{FF2B5EF4-FFF2-40B4-BE49-F238E27FC236}">
                <a16:creationId xmlns:a16="http://schemas.microsoft.com/office/drawing/2014/main" id="{C9038467-227D-5E81-500B-E8B86F2ECBD1}"/>
              </a:ext>
            </a:extLst>
          </p:cNvPr>
          <p:cNvSpPr txBox="1"/>
          <p:nvPr/>
        </p:nvSpPr>
        <p:spPr>
          <a:xfrm>
            <a:off x="9973641" y="12614173"/>
            <a:ext cx="533738" cy="769441"/>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3</a:t>
            </a:r>
            <a:endParaRPr lang="fr-FR" sz="2800" dirty="0">
              <a:solidFill>
                <a:schemeClr val="tx2">
                  <a:lumMod val="50000"/>
                </a:schemeClr>
              </a:solidFill>
              <a:latin typeface="Aharoni" panose="02010803020104030203" pitchFamily="2" charset="-79"/>
              <a:cs typeface="Aharoni" panose="02010803020104030203" pitchFamily="2" charset="-79"/>
            </a:endParaRPr>
          </a:p>
        </p:txBody>
      </p:sp>
      <p:sp>
        <p:nvSpPr>
          <p:cNvPr id="29" name="ZoneTexte 28">
            <a:extLst>
              <a:ext uri="{FF2B5EF4-FFF2-40B4-BE49-F238E27FC236}">
                <a16:creationId xmlns:a16="http://schemas.microsoft.com/office/drawing/2014/main" id="{DA311858-D466-6F65-847C-DA0D8E7E9CC0}"/>
              </a:ext>
            </a:extLst>
          </p:cNvPr>
          <p:cNvSpPr txBox="1"/>
          <p:nvPr/>
        </p:nvSpPr>
        <p:spPr>
          <a:xfrm>
            <a:off x="665430" y="10794101"/>
            <a:ext cx="2486956" cy="1938992"/>
          </a:xfrm>
          <a:prstGeom prst="rect">
            <a:avLst/>
          </a:prstGeom>
          <a:noFill/>
        </p:spPr>
        <p:txBody>
          <a:bodyPr wrap="square" rtlCol="0">
            <a:spAutoFit/>
          </a:bodyPr>
          <a:lstStyle/>
          <a:p>
            <a:pPr algn="ctr"/>
            <a:r>
              <a:rPr lang="fr-FR" sz="2400" dirty="0">
                <a:solidFill>
                  <a:schemeClr val="tx2">
                    <a:lumMod val="50000"/>
                  </a:schemeClr>
                </a:solidFill>
                <a:effectLst/>
                <a:latin typeface="Aptos Display" panose="020B0004020202020204" pitchFamily="34" charset="0"/>
                <a:ea typeface="Times New Roman" panose="02020603050405020304" pitchFamily="18" charset="0"/>
              </a:rPr>
              <a:t>Toutes les lucioles s’attirent les unes aux autres, indépendamment de leur sexe ;</a:t>
            </a:r>
            <a:endParaRPr lang="fr-FR" sz="2400" dirty="0">
              <a:solidFill>
                <a:schemeClr val="tx2">
                  <a:lumMod val="50000"/>
                </a:schemeClr>
              </a:solidFill>
              <a:latin typeface="Aptos Display" panose="020B0004020202020204" pitchFamily="34" charset="0"/>
            </a:endParaRPr>
          </a:p>
        </p:txBody>
      </p:sp>
      <p:sp>
        <p:nvSpPr>
          <p:cNvPr id="30" name="ZoneTexte 29">
            <a:extLst>
              <a:ext uri="{FF2B5EF4-FFF2-40B4-BE49-F238E27FC236}">
                <a16:creationId xmlns:a16="http://schemas.microsoft.com/office/drawing/2014/main" id="{D5782689-882C-EF61-CC9F-C0BEA72C5D61}"/>
              </a:ext>
            </a:extLst>
          </p:cNvPr>
          <p:cNvSpPr txBox="1"/>
          <p:nvPr/>
        </p:nvSpPr>
        <p:spPr>
          <a:xfrm>
            <a:off x="4738053" y="11862079"/>
            <a:ext cx="2718914" cy="1384995"/>
          </a:xfrm>
          <a:prstGeom prst="rect">
            <a:avLst/>
          </a:prstGeom>
          <a:noFill/>
        </p:spPr>
        <p:txBody>
          <a:bodyPr wrap="square" rtlCol="0">
            <a:spAutoFit/>
          </a:bodyPr>
          <a:lstStyle/>
          <a:p>
            <a:pPr algn="ctr"/>
            <a:r>
              <a:rPr lang="fr-FR" sz="2800" dirty="0">
                <a:solidFill>
                  <a:schemeClr val="tx2">
                    <a:lumMod val="50000"/>
                  </a:schemeClr>
                </a:solidFill>
                <a:latin typeface="Aptos Display" panose="020B0004020202020204" pitchFamily="34" charset="0"/>
              </a:rPr>
              <a:t>L’attractivité est proportionnelle à la luminosité</a:t>
            </a:r>
          </a:p>
        </p:txBody>
      </p:sp>
      <p:sp>
        <p:nvSpPr>
          <p:cNvPr id="31" name="ZoneTexte 30">
            <a:extLst>
              <a:ext uri="{FF2B5EF4-FFF2-40B4-BE49-F238E27FC236}">
                <a16:creationId xmlns:a16="http://schemas.microsoft.com/office/drawing/2014/main" id="{81443B2C-B62B-75B6-52B9-1233487FF004}"/>
              </a:ext>
            </a:extLst>
          </p:cNvPr>
          <p:cNvSpPr txBox="1"/>
          <p:nvPr/>
        </p:nvSpPr>
        <p:spPr>
          <a:xfrm>
            <a:off x="8735462" y="9948655"/>
            <a:ext cx="3095702" cy="2308324"/>
          </a:xfrm>
          <a:prstGeom prst="rect">
            <a:avLst/>
          </a:prstGeom>
          <a:noFill/>
        </p:spPr>
        <p:txBody>
          <a:bodyPr wrap="square" rtlCol="0">
            <a:spAutoFit/>
          </a:bodyPr>
          <a:lstStyle/>
          <a:p>
            <a:pPr algn="ctr"/>
            <a:r>
              <a:rPr lang="fr-FR" sz="2400" dirty="0">
                <a:solidFill>
                  <a:schemeClr val="tx2">
                    <a:lumMod val="50000"/>
                  </a:schemeClr>
                </a:solidFill>
                <a:effectLst/>
                <a:latin typeface="Aptos Display" panose="020B0004020202020204" pitchFamily="34" charset="0"/>
                <a:ea typeface="Calibri" panose="020F0502020204030204" pitchFamily="34" charset="0"/>
                <a:cs typeface="Arial" panose="020B0604020202020204" pitchFamily="34" charset="0"/>
              </a:rPr>
              <a:t>S’il n’existe pas de luciole plus brillante qu’une luciole donnée, celle-ci se déplacera aléatoirement dans l’espace.</a:t>
            </a:r>
            <a:endParaRPr lang="fr-FR" sz="2400" dirty="0">
              <a:solidFill>
                <a:schemeClr val="tx2">
                  <a:lumMod val="50000"/>
                </a:schemeClr>
              </a:solidFill>
              <a:latin typeface="Aptos Display" panose="020B0004020202020204" pitchFamily="34" charset="0"/>
            </a:endParaRPr>
          </a:p>
        </p:txBody>
      </p:sp>
    </p:spTree>
    <p:extLst>
      <p:ext uri="{BB962C8B-B14F-4D97-AF65-F5344CB8AC3E}">
        <p14:creationId xmlns:p14="http://schemas.microsoft.com/office/powerpoint/2010/main" val="5194441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DB6F81-9CD8-A65C-C6A6-4D854F3C1A57}"/>
            </a:ext>
          </a:extLst>
        </p:cNvPr>
        <p:cNvGrpSpPr/>
        <p:nvPr/>
      </p:nvGrpSpPr>
      <p:grpSpPr>
        <a:xfrm>
          <a:off x="0" y="0"/>
          <a:ext cx="0" cy="0"/>
          <a:chOff x="0" y="0"/>
          <a:chExt cx="0" cy="0"/>
        </a:xfrm>
      </p:grpSpPr>
      <p:cxnSp>
        <p:nvCxnSpPr>
          <p:cNvPr id="19" name="Connecteur droit 18">
            <a:extLst>
              <a:ext uri="{FF2B5EF4-FFF2-40B4-BE49-F238E27FC236}">
                <a16:creationId xmlns:a16="http://schemas.microsoft.com/office/drawing/2014/main" id="{A8FD241B-61B8-41AF-C1E3-57385F91603B}"/>
              </a:ext>
            </a:extLst>
          </p:cNvPr>
          <p:cNvCxnSpPr>
            <a:cxnSpLocks/>
            <a:stCxn id="12" idx="6"/>
            <a:endCxn id="13" idx="2"/>
          </p:cNvCxnSpPr>
          <p:nvPr/>
        </p:nvCxnSpPr>
        <p:spPr>
          <a:xfrm>
            <a:off x="6476046" y="3153293"/>
            <a:ext cx="3095702" cy="217178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6CF064CE-8348-8E82-F589-5E864E0DB10F}"/>
              </a:ext>
            </a:extLst>
          </p:cNvPr>
          <p:cNvCxnSpPr>
            <a:cxnSpLocks/>
            <a:stCxn id="11" idx="7"/>
            <a:endCxn id="12" idx="2"/>
          </p:cNvCxnSpPr>
          <p:nvPr/>
        </p:nvCxnSpPr>
        <p:spPr>
          <a:xfrm>
            <a:off x="2036158" y="1741152"/>
            <a:ext cx="3362937" cy="1412141"/>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97D0EA0-4B41-0CC5-D57F-CFBE811A2EC2}"/>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77D0E272-88A4-6DA5-0D23-DAC0CFACD1A9}"/>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52C15D41-D6C7-5876-5622-468DF818741F}"/>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32DC31C0-B812-A4EE-979B-E7F155AC69E0}"/>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F6C61BA3-5544-FA43-5AA3-ED1FEBA5A434}"/>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76706063-721E-22EE-FB4A-726360DE4B94}"/>
              </a:ext>
            </a:extLst>
          </p:cNvPr>
          <p:cNvSpPr txBox="1"/>
          <p:nvPr/>
        </p:nvSpPr>
        <p:spPr>
          <a:xfrm>
            <a:off x="695010" y="444671"/>
            <a:ext cx="9738073" cy="584775"/>
          </a:xfrm>
          <a:prstGeom prst="rect">
            <a:avLst/>
          </a:prstGeom>
          <a:noFill/>
        </p:spPr>
        <p:txBody>
          <a:bodyPr wrap="square" rtlCol="0">
            <a:spAutoFit/>
          </a:bodyPr>
          <a:lstStyle/>
          <a:p>
            <a:r>
              <a:rPr lang="fr-FR" sz="3200" dirty="0">
                <a:solidFill>
                  <a:schemeClr val="tx2">
                    <a:lumMod val="75000"/>
                  </a:schemeClr>
                </a:solidFill>
                <a:latin typeface="Arial Black" panose="020B0A04020102020204" pitchFamily="34" charset="0"/>
              </a:rPr>
              <a:t>Les règles de base de l’algorithme</a:t>
            </a:r>
          </a:p>
        </p:txBody>
      </p:sp>
      <p:sp>
        <p:nvSpPr>
          <p:cNvPr id="11" name="Ellipse 10">
            <a:extLst>
              <a:ext uri="{FF2B5EF4-FFF2-40B4-BE49-F238E27FC236}">
                <a16:creationId xmlns:a16="http://schemas.microsoft.com/office/drawing/2014/main" id="{A53B331B-884C-B2BD-F9A4-7C3B360C0ED5}"/>
              </a:ext>
            </a:extLst>
          </p:cNvPr>
          <p:cNvSpPr/>
          <p:nvPr/>
        </p:nvSpPr>
        <p:spPr>
          <a:xfrm>
            <a:off x="1116923" y="1584923"/>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2" name="Ellipse 11">
            <a:extLst>
              <a:ext uri="{FF2B5EF4-FFF2-40B4-BE49-F238E27FC236}">
                <a16:creationId xmlns:a16="http://schemas.microsoft.com/office/drawing/2014/main" id="{703E386A-637C-9B80-B597-FC907454C9ED}"/>
              </a:ext>
            </a:extLst>
          </p:cNvPr>
          <p:cNvSpPr/>
          <p:nvPr/>
        </p:nvSpPr>
        <p:spPr>
          <a:xfrm>
            <a:off x="5399095" y="2619893"/>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3" name="Ellipse 12">
            <a:extLst>
              <a:ext uri="{FF2B5EF4-FFF2-40B4-BE49-F238E27FC236}">
                <a16:creationId xmlns:a16="http://schemas.microsoft.com/office/drawing/2014/main" id="{B002E7DC-CF64-16B9-27C7-1A3A01FEF31E}"/>
              </a:ext>
            </a:extLst>
          </p:cNvPr>
          <p:cNvSpPr/>
          <p:nvPr/>
        </p:nvSpPr>
        <p:spPr>
          <a:xfrm>
            <a:off x="9571748" y="4847907"/>
            <a:ext cx="1076961" cy="95434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4" name="ZoneTexte 13">
            <a:extLst>
              <a:ext uri="{FF2B5EF4-FFF2-40B4-BE49-F238E27FC236}">
                <a16:creationId xmlns:a16="http://schemas.microsoft.com/office/drawing/2014/main" id="{82102AA5-3583-CBF3-9DEF-45E2FD8EA9DA}"/>
              </a:ext>
            </a:extLst>
          </p:cNvPr>
          <p:cNvSpPr txBox="1"/>
          <p:nvPr/>
        </p:nvSpPr>
        <p:spPr>
          <a:xfrm>
            <a:off x="580333" y="1733603"/>
            <a:ext cx="2150133" cy="769441"/>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1</a:t>
            </a:r>
            <a:endParaRPr lang="fr-FR" sz="2800" dirty="0">
              <a:solidFill>
                <a:schemeClr val="tx2">
                  <a:lumMod val="50000"/>
                </a:schemeClr>
              </a:solidFill>
              <a:latin typeface="Aharoni" panose="02010803020104030203" pitchFamily="2" charset="-79"/>
              <a:cs typeface="Aharoni" panose="02010803020104030203" pitchFamily="2" charset="-79"/>
            </a:endParaRPr>
          </a:p>
        </p:txBody>
      </p:sp>
      <p:sp>
        <p:nvSpPr>
          <p:cNvPr id="15" name="ZoneTexte 14">
            <a:extLst>
              <a:ext uri="{FF2B5EF4-FFF2-40B4-BE49-F238E27FC236}">
                <a16:creationId xmlns:a16="http://schemas.microsoft.com/office/drawing/2014/main" id="{A8C3AEBB-E585-BD8A-D5D8-686F6275D08B}"/>
              </a:ext>
            </a:extLst>
          </p:cNvPr>
          <p:cNvSpPr txBox="1"/>
          <p:nvPr/>
        </p:nvSpPr>
        <p:spPr>
          <a:xfrm>
            <a:off x="4862504" y="2776121"/>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2</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sp>
        <p:nvSpPr>
          <p:cNvPr id="16" name="ZoneTexte 15">
            <a:extLst>
              <a:ext uri="{FF2B5EF4-FFF2-40B4-BE49-F238E27FC236}">
                <a16:creationId xmlns:a16="http://schemas.microsoft.com/office/drawing/2014/main" id="{58C52416-6EC2-AF56-680E-F991E455D3C3}"/>
              </a:ext>
            </a:extLst>
          </p:cNvPr>
          <p:cNvSpPr txBox="1"/>
          <p:nvPr/>
        </p:nvSpPr>
        <p:spPr>
          <a:xfrm>
            <a:off x="9840841" y="4940356"/>
            <a:ext cx="533738" cy="769441"/>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3</a:t>
            </a:r>
            <a:endParaRPr lang="fr-FR" sz="2800" dirty="0">
              <a:solidFill>
                <a:schemeClr val="tx2">
                  <a:lumMod val="50000"/>
                </a:schemeClr>
              </a:solidFill>
              <a:latin typeface="Aharoni" panose="02010803020104030203" pitchFamily="2" charset="-79"/>
              <a:cs typeface="Aharoni" panose="02010803020104030203" pitchFamily="2" charset="-79"/>
            </a:endParaRPr>
          </a:p>
        </p:txBody>
      </p:sp>
      <p:sp>
        <p:nvSpPr>
          <p:cNvPr id="33" name="ZoneTexte 32">
            <a:extLst>
              <a:ext uri="{FF2B5EF4-FFF2-40B4-BE49-F238E27FC236}">
                <a16:creationId xmlns:a16="http://schemas.microsoft.com/office/drawing/2014/main" id="{941CF0FB-7C66-F92F-CA31-E5F3E25387A7}"/>
              </a:ext>
            </a:extLst>
          </p:cNvPr>
          <p:cNvSpPr txBox="1"/>
          <p:nvPr/>
        </p:nvSpPr>
        <p:spPr>
          <a:xfrm>
            <a:off x="532630" y="3120284"/>
            <a:ext cx="2486956" cy="1938992"/>
          </a:xfrm>
          <a:prstGeom prst="rect">
            <a:avLst/>
          </a:prstGeom>
          <a:noFill/>
        </p:spPr>
        <p:txBody>
          <a:bodyPr wrap="square" rtlCol="0">
            <a:spAutoFit/>
          </a:bodyPr>
          <a:lstStyle/>
          <a:p>
            <a:pPr algn="ctr"/>
            <a:r>
              <a:rPr lang="fr-FR" sz="2400" dirty="0">
                <a:solidFill>
                  <a:schemeClr val="tx2">
                    <a:lumMod val="50000"/>
                  </a:schemeClr>
                </a:solidFill>
                <a:effectLst/>
                <a:latin typeface="Aptos Display" panose="020B0004020202020204" pitchFamily="34" charset="0"/>
                <a:ea typeface="Times New Roman" panose="02020603050405020304" pitchFamily="18" charset="0"/>
              </a:rPr>
              <a:t>Toutes les lucioles s’attirent les unes aux autres, indépendamment de leur sexe ;</a:t>
            </a:r>
            <a:endParaRPr lang="fr-FR" sz="2400" dirty="0">
              <a:solidFill>
                <a:schemeClr val="tx2">
                  <a:lumMod val="50000"/>
                </a:schemeClr>
              </a:solidFill>
              <a:latin typeface="Aptos Display" panose="020B0004020202020204" pitchFamily="34" charset="0"/>
            </a:endParaRPr>
          </a:p>
        </p:txBody>
      </p:sp>
      <p:sp>
        <p:nvSpPr>
          <p:cNvPr id="35" name="ZoneTexte 34">
            <a:extLst>
              <a:ext uri="{FF2B5EF4-FFF2-40B4-BE49-F238E27FC236}">
                <a16:creationId xmlns:a16="http://schemas.microsoft.com/office/drawing/2014/main" id="{6DB83B01-3143-A0A2-64DF-AD049BC08914}"/>
              </a:ext>
            </a:extLst>
          </p:cNvPr>
          <p:cNvSpPr txBox="1"/>
          <p:nvPr/>
        </p:nvSpPr>
        <p:spPr>
          <a:xfrm>
            <a:off x="4605253" y="4188262"/>
            <a:ext cx="2718914" cy="1384995"/>
          </a:xfrm>
          <a:prstGeom prst="rect">
            <a:avLst/>
          </a:prstGeom>
          <a:noFill/>
        </p:spPr>
        <p:txBody>
          <a:bodyPr wrap="square" rtlCol="0">
            <a:spAutoFit/>
          </a:bodyPr>
          <a:lstStyle/>
          <a:p>
            <a:pPr algn="ctr"/>
            <a:r>
              <a:rPr lang="fr-FR" sz="2800" dirty="0">
                <a:solidFill>
                  <a:schemeClr val="tx2">
                    <a:lumMod val="50000"/>
                  </a:schemeClr>
                </a:solidFill>
                <a:latin typeface="Aptos Display" panose="020B0004020202020204" pitchFamily="34" charset="0"/>
              </a:rPr>
              <a:t>L’attractivité est proportionnelle à la luminosité</a:t>
            </a:r>
          </a:p>
        </p:txBody>
      </p:sp>
      <p:sp>
        <p:nvSpPr>
          <p:cNvPr id="36" name="ZoneTexte 35">
            <a:extLst>
              <a:ext uri="{FF2B5EF4-FFF2-40B4-BE49-F238E27FC236}">
                <a16:creationId xmlns:a16="http://schemas.microsoft.com/office/drawing/2014/main" id="{642A8B57-0583-B6AA-64E8-7340DFAAE89A}"/>
              </a:ext>
            </a:extLst>
          </p:cNvPr>
          <p:cNvSpPr txBox="1"/>
          <p:nvPr/>
        </p:nvSpPr>
        <p:spPr>
          <a:xfrm>
            <a:off x="8602662" y="2274838"/>
            <a:ext cx="3095702" cy="2308324"/>
          </a:xfrm>
          <a:prstGeom prst="rect">
            <a:avLst/>
          </a:prstGeom>
          <a:noFill/>
        </p:spPr>
        <p:txBody>
          <a:bodyPr wrap="square" rtlCol="0">
            <a:spAutoFit/>
          </a:bodyPr>
          <a:lstStyle/>
          <a:p>
            <a:pPr algn="ctr"/>
            <a:r>
              <a:rPr lang="fr-FR" sz="2400" dirty="0">
                <a:solidFill>
                  <a:schemeClr val="tx2">
                    <a:lumMod val="50000"/>
                  </a:schemeClr>
                </a:solidFill>
                <a:effectLst/>
                <a:latin typeface="Aptos Display" panose="020B0004020202020204" pitchFamily="34" charset="0"/>
                <a:ea typeface="Calibri" panose="020F0502020204030204" pitchFamily="34" charset="0"/>
                <a:cs typeface="Arial" panose="020B0604020202020204" pitchFamily="34" charset="0"/>
              </a:rPr>
              <a:t>S’il n’existe pas de luciole plus brillante qu’une luciole donnée, celle-ci se déplacera aléatoirement dans l’espace.</a:t>
            </a:r>
            <a:endParaRPr lang="fr-FR" sz="2400" dirty="0">
              <a:solidFill>
                <a:schemeClr val="tx2">
                  <a:lumMod val="50000"/>
                </a:schemeClr>
              </a:solidFill>
              <a:latin typeface="Aptos Display" panose="020B0004020202020204" pitchFamily="34" charset="0"/>
            </a:endParaRPr>
          </a:p>
        </p:txBody>
      </p:sp>
      <p:graphicFrame>
        <p:nvGraphicFramePr>
          <p:cNvPr id="32" name="Tableau 31">
            <a:extLst>
              <a:ext uri="{FF2B5EF4-FFF2-40B4-BE49-F238E27FC236}">
                <a16:creationId xmlns:a16="http://schemas.microsoft.com/office/drawing/2014/main" id="{D5216386-B072-403A-3E8D-EC55B3096487}"/>
              </a:ext>
            </a:extLst>
          </p:cNvPr>
          <p:cNvGraphicFramePr>
            <a:graphicFrameLocks noGrp="1"/>
          </p:cNvGraphicFramePr>
          <p:nvPr>
            <p:extLst>
              <p:ext uri="{D42A27DB-BD31-4B8C-83A1-F6EECF244321}">
                <p14:modId xmlns:p14="http://schemas.microsoft.com/office/powerpoint/2010/main" val="4018212624"/>
              </p:ext>
            </p:extLst>
          </p:nvPr>
        </p:nvGraphicFramePr>
        <p:xfrm>
          <a:off x="1218246" y="7738636"/>
          <a:ext cx="10515600" cy="2196000"/>
        </p:xfrm>
        <a:graphic>
          <a:graphicData uri="http://schemas.openxmlformats.org/drawingml/2006/table">
            <a:tbl>
              <a:tblPr/>
              <a:tblGrid>
                <a:gridCol w="3505200">
                  <a:extLst>
                    <a:ext uri="{9D8B030D-6E8A-4147-A177-3AD203B41FA5}">
                      <a16:colId xmlns:a16="http://schemas.microsoft.com/office/drawing/2014/main" val="277060681"/>
                    </a:ext>
                  </a:extLst>
                </a:gridCol>
                <a:gridCol w="3520440">
                  <a:extLst>
                    <a:ext uri="{9D8B030D-6E8A-4147-A177-3AD203B41FA5}">
                      <a16:colId xmlns:a16="http://schemas.microsoft.com/office/drawing/2014/main" val="2737481069"/>
                    </a:ext>
                  </a:extLst>
                </a:gridCol>
                <a:gridCol w="3489960">
                  <a:extLst>
                    <a:ext uri="{9D8B030D-6E8A-4147-A177-3AD203B41FA5}">
                      <a16:colId xmlns:a16="http://schemas.microsoft.com/office/drawing/2014/main" val="2517885918"/>
                    </a:ext>
                  </a:extLst>
                </a:gridCol>
              </a:tblGrid>
              <a:tr h="732000">
                <a:tc>
                  <a:txBody>
                    <a:bodyPr/>
                    <a:lstStyle/>
                    <a:p>
                      <a:pPr algn="ctr"/>
                      <a:r>
                        <a:rPr lang="fr-FR" sz="2400" b="1" dirty="0">
                          <a:latin typeface="Aptos Display" panose="020B0004020202020204" pitchFamily="34" charset="0"/>
                        </a:rPr>
                        <a:t>Type d’optimisation</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fr-FR" sz="2400" b="1" dirty="0">
                          <a:latin typeface="Aptos Display" panose="020B0004020202020204" pitchFamily="34" charset="0"/>
                        </a:rPr>
                        <a:t>Fonction objectif f(x)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it-IT" sz="2400" b="1" dirty="0">
                          <a:latin typeface="Aptos Display" panose="020B0004020202020204" pitchFamily="34" charset="0"/>
                        </a:rPr>
                        <a:t>Luminosité I(x)</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1797625"/>
                  </a:ext>
                </a:extLst>
              </a:tr>
              <a:tr h="732000">
                <a:tc>
                  <a:txBody>
                    <a:bodyPr/>
                    <a:lstStyle/>
                    <a:p>
                      <a:pPr algn="ctr"/>
                      <a:r>
                        <a:rPr lang="fr-FR" sz="2400">
                          <a:latin typeface="Aptos Display" panose="020B0004020202020204" pitchFamily="34" charset="0"/>
                        </a:rPr>
                        <a:t>Minimisation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400" dirty="0">
                          <a:latin typeface="Aptos Display" panose="020B0004020202020204" pitchFamily="34" charset="0"/>
                        </a:rPr>
                        <a:t>À rendre la plus petite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n-NO" sz="2400" dirty="0">
                          <a:latin typeface="Andalus" panose="02020603050405020304" pitchFamily="18" charset="-78"/>
                          <a:cs typeface="Andalus" panose="02020603050405020304" pitchFamily="18" charset="-78"/>
                        </a:rPr>
                        <a:t>I(x)=1 / ( f(x) +</a:t>
                      </a:r>
                      <a:r>
                        <a:rPr lang="el-GR" sz="2400" dirty="0"/>
                        <a:t>ϵ</a:t>
                      </a:r>
                      <a:r>
                        <a:rPr lang="fr-FR" sz="2400" dirty="0"/>
                        <a:t> )</a:t>
                      </a:r>
                      <a:endParaRPr lang="nn-NO" sz="2400" dirty="0">
                        <a:latin typeface="Andalus" panose="02020603050405020304" pitchFamily="18" charset="-78"/>
                        <a:cs typeface="Andalus" panose="02020603050405020304" pitchFamily="18" charset="-78"/>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1183320"/>
                  </a:ext>
                </a:extLst>
              </a:tr>
              <a:tr h="732000">
                <a:tc>
                  <a:txBody>
                    <a:bodyPr/>
                    <a:lstStyle/>
                    <a:p>
                      <a:pPr algn="ctr"/>
                      <a:r>
                        <a:rPr lang="fr-FR" sz="2400" dirty="0">
                          <a:latin typeface="Aptos Display" panose="020B0004020202020204" pitchFamily="34" charset="0"/>
                        </a:rPr>
                        <a:t>Maximisation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fr-FR" sz="2400">
                          <a:latin typeface="Aptos Display" panose="020B0004020202020204" pitchFamily="34" charset="0"/>
                        </a:rPr>
                        <a:t>À rendre la plus grande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nn-NO" sz="2400" dirty="0">
                          <a:latin typeface="Andalus" panose="02020603050405020304" pitchFamily="18" charset="-78"/>
                          <a:cs typeface="Andalus" panose="02020603050405020304" pitchFamily="18" charset="-78"/>
                        </a:rPr>
                        <a:t>I(x) = f(x)</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810564160"/>
                  </a:ext>
                </a:extLst>
              </a:tr>
            </a:tbl>
          </a:graphicData>
        </a:graphic>
      </p:graphicFrame>
      <p:cxnSp>
        <p:nvCxnSpPr>
          <p:cNvPr id="34" name="Connecteur droit avec flèche 33">
            <a:extLst>
              <a:ext uri="{FF2B5EF4-FFF2-40B4-BE49-F238E27FC236}">
                <a16:creationId xmlns:a16="http://schemas.microsoft.com/office/drawing/2014/main" id="{362D5553-A884-1955-9E6B-A9127B745561}"/>
              </a:ext>
            </a:extLst>
          </p:cNvPr>
          <p:cNvCxnSpPr>
            <a:cxnSpLocks/>
          </p:cNvCxnSpPr>
          <p:nvPr/>
        </p:nvCxnSpPr>
        <p:spPr>
          <a:xfrm flipV="1">
            <a:off x="10823498" y="9077874"/>
            <a:ext cx="0" cy="15036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ZoneTexte 36">
            <a:extLst>
              <a:ext uri="{FF2B5EF4-FFF2-40B4-BE49-F238E27FC236}">
                <a16:creationId xmlns:a16="http://schemas.microsoft.com/office/drawing/2014/main" id="{D85CF7AC-C9CE-E174-6409-93A7B278D117}"/>
              </a:ext>
            </a:extLst>
          </p:cNvPr>
          <p:cNvSpPr txBox="1"/>
          <p:nvPr/>
        </p:nvSpPr>
        <p:spPr>
          <a:xfrm>
            <a:off x="9538398" y="10651002"/>
            <a:ext cx="2570200" cy="646331"/>
          </a:xfrm>
          <a:prstGeom prst="rect">
            <a:avLst/>
          </a:prstGeom>
          <a:noFill/>
        </p:spPr>
        <p:txBody>
          <a:bodyPr wrap="square" rtlCol="0">
            <a:spAutoFit/>
          </a:bodyPr>
          <a:lstStyle/>
          <a:p>
            <a:pPr algn="ctr"/>
            <a:r>
              <a:rPr lang="fr-FR" dirty="0"/>
              <a:t>petit nombre pour éviter la division par zéro.</a:t>
            </a:r>
          </a:p>
        </p:txBody>
      </p:sp>
      <p:sp>
        <p:nvSpPr>
          <p:cNvPr id="4" name="Rectangle 3">
            <a:extLst>
              <a:ext uri="{FF2B5EF4-FFF2-40B4-BE49-F238E27FC236}">
                <a16:creationId xmlns:a16="http://schemas.microsoft.com/office/drawing/2014/main" id="{6ABFD973-B220-EC93-817F-C9721E3A6B49}"/>
              </a:ext>
            </a:extLst>
          </p:cNvPr>
          <p:cNvSpPr/>
          <p:nvPr/>
        </p:nvSpPr>
        <p:spPr>
          <a:xfrm>
            <a:off x="-216547" y="-9677006"/>
            <a:ext cx="12212246"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1E0C06E-8F5F-FDF2-EBA6-F0DD303DF0AC}"/>
              </a:ext>
            </a:extLst>
          </p:cNvPr>
          <p:cNvSpPr txBox="1"/>
          <p:nvPr/>
        </p:nvSpPr>
        <p:spPr>
          <a:xfrm>
            <a:off x="448883" y="-7762426"/>
            <a:ext cx="4804856" cy="2862322"/>
          </a:xfrm>
          <a:prstGeom prst="rect">
            <a:avLst/>
          </a:prstGeom>
          <a:noFill/>
        </p:spPr>
        <p:txBody>
          <a:bodyPr wrap="square" rtlCol="0">
            <a:spAutoFit/>
          </a:bodyPr>
          <a:lstStyle/>
          <a:p>
            <a:r>
              <a:rPr lang="fr-FR" sz="6000" dirty="0">
                <a:solidFill>
                  <a:schemeClr val="bg1"/>
                </a:solidFill>
                <a:latin typeface="Arial Black" panose="020B0A04020102020204" pitchFamily="34" charset="0"/>
              </a:rPr>
              <a:t>Algorithme des lucioles </a:t>
            </a:r>
          </a:p>
        </p:txBody>
      </p:sp>
      <p:pic>
        <p:nvPicPr>
          <p:cNvPr id="6" name="Picture 2" descr="Premium AI Image | Abstract and magical image of Firefly flying in the ...">
            <a:extLst>
              <a:ext uri="{FF2B5EF4-FFF2-40B4-BE49-F238E27FC236}">
                <a16:creationId xmlns:a16="http://schemas.microsoft.com/office/drawing/2014/main" id="{7F90DA8F-D192-76C2-536D-1256385BB1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00" r="7778"/>
          <a:stretch/>
        </p:blipFill>
        <p:spPr bwMode="auto">
          <a:xfrm>
            <a:off x="5879453" y="-9677006"/>
            <a:ext cx="549053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9388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8D90105-67CB-2DB8-EF98-2FE76EFD995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76724A9-6D48-DE34-1A31-2CF92F7920F2}"/>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39799FF5-24D0-B64F-6C56-98B39E6D8C53}"/>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C50A8D0D-B279-2939-4CEF-044A9DD44819}"/>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8A5A755A-6350-8698-E932-8978B614350C}"/>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FFF1D322-31D6-AF4A-965D-9E19FD8C9118}"/>
              </a:ext>
            </a:extLst>
          </p:cNvPr>
          <p:cNvSpPr txBox="1"/>
          <p:nvPr/>
        </p:nvSpPr>
        <p:spPr>
          <a:xfrm>
            <a:off x="695010" y="871440"/>
            <a:ext cx="9738073" cy="584775"/>
          </a:xfrm>
          <a:prstGeom prst="rect">
            <a:avLst/>
          </a:prstGeom>
          <a:noFill/>
        </p:spPr>
        <p:txBody>
          <a:bodyPr wrap="square" rtlCol="0">
            <a:spAutoFit/>
          </a:bodyPr>
          <a:lstStyle/>
          <a:p>
            <a:r>
              <a:rPr lang="fr-FR" sz="3200" dirty="0">
                <a:solidFill>
                  <a:schemeClr val="tx2">
                    <a:lumMod val="75000"/>
                  </a:schemeClr>
                </a:solidFill>
                <a:latin typeface="Arial Black" panose="020B0A04020102020204" pitchFamily="34" charset="0"/>
              </a:rPr>
              <a:t>1. La fonction objectif et la luminosité </a:t>
            </a:r>
          </a:p>
        </p:txBody>
      </p:sp>
      <p:graphicFrame>
        <p:nvGraphicFramePr>
          <p:cNvPr id="4" name="Tableau 3">
            <a:extLst>
              <a:ext uri="{FF2B5EF4-FFF2-40B4-BE49-F238E27FC236}">
                <a16:creationId xmlns:a16="http://schemas.microsoft.com/office/drawing/2014/main" id="{61F538E7-CE11-B3EF-3617-F6ABDFEED803}"/>
              </a:ext>
            </a:extLst>
          </p:cNvPr>
          <p:cNvGraphicFramePr>
            <a:graphicFrameLocks noGrp="1"/>
          </p:cNvGraphicFramePr>
          <p:nvPr>
            <p:extLst>
              <p:ext uri="{D42A27DB-BD31-4B8C-83A1-F6EECF244321}">
                <p14:modId xmlns:p14="http://schemas.microsoft.com/office/powerpoint/2010/main" val="1435620846"/>
              </p:ext>
            </p:extLst>
          </p:nvPr>
        </p:nvGraphicFramePr>
        <p:xfrm>
          <a:off x="679772" y="2477960"/>
          <a:ext cx="10515600" cy="2088000"/>
        </p:xfrm>
        <a:graphic>
          <a:graphicData uri="http://schemas.openxmlformats.org/drawingml/2006/table">
            <a:tbl>
              <a:tblPr/>
              <a:tblGrid>
                <a:gridCol w="3505200">
                  <a:extLst>
                    <a:ext uri="{9D8B030D-6E8A-4147-A177-3AD203B41FA5}">
                      <a16:colId xmlns:a16="http://schemas.microsoft.com/office/drawing/2014/main" val="277060681"/>
                    </a:ext>
                  </a:extLst>
                </a:gridCol>
                <a:gridCol w="3520440">
                  <a:extLst>
                    <a:ext uri="{9D8B030D-6E8A-4147-A177-3AD203B41FA5}">
                      <a16:colId xmlns:a16="http://schemas.microsoft.com/office/drawing/2014/main" val="2737481069"/>
                    </a:ext>
                  </a:extLst>
                </a:gridCol>
                <a:gridCol w="3489960">
                  <a:extLst>
                    <a:ext uri="{9D8B030D-6E8A-4147-A177-3AD203B41FA5}">
                      <a16:colId xmlns:a16="http://schemas.microsoft.com/office/drawing/2014/main" val="2517885918"/>
                    </a:ext>
                  </a:extLst>
                </a:gridCol>
              </a:tblGrid>
              <a:tr h="696000">
                <a:tc>
                  <a:txBody>
                    <a:bodyPr/>
                    <a:lstStyle/>
                    <a:p>
                      <a:pPr algn="ctr"/>
                      <a:r>
                        <a:rPr lang="fr-FR" sz="2800" b="1" dirty="0">
                          <a:latin typeface="Aptos Display" panose="020B0004020202020204" pitchFamily="34" charset="0"/>
                        </a:rPr>
                        <a:t>Type d’optimisation</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fr-FR" sz="2800" b="1" dirty="0">
                          <a:latin typeface="Aptos Display" panose="020B0004020202020204" pitchFamily="34" charset="0"/>
                        </a:rPr>
                        <a:t>Fonction objectif f(x)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it-IT" sz="2800" b="1" dirty="0">
                          <a:latin typeface="Aptos Display" panose="020B0004020202020204" pitchFamily="34" charset="0"/>
                        </a:rPr>
                        <a:t>Luminosité I(x)</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1797625"/>
                  </a:ext>
                </a:extLst>
              </a:tr>
              <a:tr h="696000">
                <a:tc>
                  <a:txBody>
                    <a:bodyPr/>
                    <a:lstStyle/>
                    <a:p>
                      <a:pPr algn="ctr"/>
                      <a:r>
                        <a:rPr lang="fr-FR" sz="2800">
                          <a:latin typeface="Aptos Display" panose="020B0004020202020204" pitchFamily="34" charset="0"/>
                        </a:rPr>
                        <a:t>Minimisation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800" dirty="0">
                          <a:latin typeface="Aptos Display" panose="020B0004020202020204" pitchFamily="34" charset="0"/>
                        </a:rPr>
                        <a:t>À rendre la plus petite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n-NO" sz="2800" dirty="0">
                          <a:latin typeface="Andalus" panose="02020603050405020304" pitchFamily="18" charset="-78"/>
                          <a:cs typeface="Andalus" panose="02020603050405020304" pitchFamily="18" charset="-78"/>
                        </a:rPr>
                        <a:t>I(x)=1 / ( f(x) +</a:t>
                      </a:r>
                      <a:r>
                        <a:rPr lang="el-GR" sz="2800" dirty="0"/>
                        <a:t>ϵ</a:t>
                      </a:r>
                      <a:r>
                        <a:rPr lang="fr-FR" sz="2800" dirty="0"/>
                        <a:t> )</a:t>
                      </a:r>
                      <a:endParaRPr lang="nn-NO" sz="2800" dirty="0">
                        <a:latin typeface="Andalus" panose="02020603050405020304" pitchFamily="18" charset="-78"/>
                        <a:cs typeface="Andalus" panose="02020603050405020304" pitchFamily="18" charset="-78"/>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1183320"/>
                  </a:ext>
                </a:extLst>
              </a:tr>
              <a:tr h="696000">
                <a:tc>
                  <a:txBody>
                    <a:bodyPr/>
                    <a:lstStyle/>
                    <a:p>
                      <a:pPr algn="ctr"/>
                      <a:r>
                        <a:rPr lang="fr-FR" sz="2800" dirty="0">
                          <a:latin typeface="Aptos Display" panose="020B0004020202020204" pitchFamily="34" charset="0"/>
                        </a:rPr>
                        <a:t>Maximisation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fr-FR" sz="2800">
                          <a:latin typeface="Aptos Display" panose="020B0004020202020204" pitchFamily="34" charset="0"/>
                        </a:rPr>
                        <a:t>À rendre la plus grande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nn-NO" sz="2800" dirty="0">
                          <a:latin typeface="Andalus" panose="02020603050405020304" pitchFamily="18" charset="-78"/>
                          <a:cs typeface="Andalus" panose="02020603050405020304" pitchFamily="18" charset="-78"/>
                        </a:rPr>
                        <a:t>I(x) = f(x)</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810564160"/>
                  </a:ext>
                </a:extLst>
              </a:tr>
            </a:tbl>
          </a:graphicData>
        </a:graphic>
      </p:graphicFrame>
      <p:cxnSp>
        <p:nvCxnSpPr>
          <p:cNvPr id="23" name="Connecteur droit avec flèche 22">
            <a:extLst>
              <a:ext uri="{FF2B5EF4-FFF2-40B4-BE49-F238E27FC236}">
                <a16:creationId xmlns:a16="http://schemas.microsoft.com/office/drawing/2014/main" id="{B8119A41-80E8-3D0D-2E2A-1123B1A2C9FE}"/>
              </a:ext>
            </a:extLst>
          </p:cNvPr>
          <p:cNvCxnSpPr>
            <a:cxnSpLocks/>
          </p:cNvCxnSpPr>
          <p:nvPr/>
        </p:nvCxnSpPr>
        <p:spPr>
          <a:xfrm flipV="1">
            <a:off x="10433083" y="3723476"/>
            <a:ext cx="0" cy="15036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ZoneTexte 23">
            <a:extLst>
              <a:ext uri="{FF2B5EF4-FFF2-40B4-BE49-F238E27FC236}">
                <a16:creationId xmlns:a16="http://schemas.microsoft.com/office/drawing/2014/main" id="{CFB31DB1-7DC3-540A-F08E-C22D317BBF5B}"/>
              </a:ext>
            </a:extLst>
          </p:cNvPr>
          <p:cNvSpPr txBox="1"/>
          <p:nvPr/>
        </p:nvSpPr>
        <p:spPr>
          <a:xfrm>
            <a:off x="8275320" y="5227156"/>
            <a:ext cx="3143795" cy="707886"/>
          </a:xfrm>
          <a:prstGeom prst="rect">
            <a:avLst/>
          </a:prstGeom>
          <a:noFill/>
        </p:spPr>
        <p:txBody>
          <a:bodyPr wrap="square" rtlCol="0">
            <a:spAutoFit/>
          </a:bodyPr>
          <a:lstStyle/>
          <a:p>
            <a:pPr algn="ctr"/>
            <a:r>
              <a:rPr lang="fr-FR" sz="2000" dirty="0"/>
              <a:t>petit nombre pour éviter la division par zéro.</a:t>
            </a:r>
          </a:p>
        </p:txBody>
      </p:sp>
      <p:graphicFrame>
        <p:nvGraphicFramePr>
          <p:cNvPr id="27" name="Tableau 26">
            <a:extLst>
              <a:ext uri="{FF2B5EF4-FFF2-40B4-BE49-F238E27FC236}">
                <a16:creationId xmlns:a16="http://schemas.microsoft.com/office/drawing/2014/main" id="{7B06B6B2-1FF1-EA1D-3F76-B92A11948F8A}"/>
              </a:ext>
            </a:extLst>
          </p:cNvPr>
          <p:cNvGraphicFramePr>
            <a:graphicFrameLocks noGrp="1"/>
          </p:cNvGraphicFramePr>
          <p:nvPr>
            <p:extLst>
              <p:ext uri="{D42A27DB-BD31-4B8C-83A1-F6EECF244321}">
                <p14:modId xmlns:p14="http://schemas.microsoft.com/office/powerpoint/2010/main" val="1196592439"/>
              </p:ext>
            </p:extLst>
          </p:nvPr>
        </p:nvGraphicFramePr>
        <p:xfrm>
          <a:off x="1244551" y="12631893"/>
          <a:ext cx="10515600" cy="3566160"/>
        </p:xfrm>
        <a:graphic>
          <a:graphicData uri="http://schemas.openxmlformats.org/drawingml/2006/table">
            <a:tbl>
              <a:tblPr/>
              <a:tblGrid>
                <a:gridCol w="3154680">
                  <a:extLst>
                    <a:ext uri="{9D8B030D-6E8A-4147-A177-3AD203B41FA5}">
                      <a16:colId xmlns:a16="http://schemas.microsoft.com/office/drawing/2014/main" val="2541401735"/>
                    </a:ext>
                  </a:extLst>
                </a:gridCol>
                <a:gridCol w="2062480">
                  <a:extLst>
                    <a:ext uri="{9D8B030D-6E8A-4147-A177-3AD203B41FA5}">
                      <a16:colId xmlns:a16="http://schemas.microsoft.com/office/drawing/2014/main" val="3788555945"/>
                    </a:ext>
                  </a:extLst>
                </a:gridCol>
                <a:gridCol w="5298440">
                  <a:extLst>
                    <a:ext uri="{9D8B030D-6E8A-4147-A177-3AD203B41FA5}">
                      <a16:colId xmlns:a16="http://schemas.microsoft.com/office/drawing/2014/main" val="2207769888"/>
                    </a:ext>
                  </a:extLst>
                </a:gridCol>
              </a:tblGrid>
              <a:tr h="0">
                <a:tc>
                  <a:txBody>
                    <a:bodyPr/>
                    <a:lstStyle/>
                    <a:p>
                      <a:pPr algn="ctr"/>
                      <a:r>
                        <a:rPr lang="fr-FR" b="1" dirty="0"/>
                        <a:t>Paramètre</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fr-FR" b="1" dirty="0"/>
                        <a:t>Symbole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fr-FR" b="1" dirty="0"/>
                        <a:t>Rôle</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189263"/>
                  </a:ext>
                </a:extLst>
              </a:tr>
              <a:tr h="0">
                <a:tc>
                  <a:txBody>
                    <a:bodyPr/>
                    <a:lstStyle/>
                    <a:p>
                      <a:pPr algn="ctr"/>
                      <a:r>
                        <a:rPr lang="fr-FR"/>
                        <a:t>Nombre de lucioles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Nombre total de solutions (ou individus) dans la population.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5164930"/>
                  </a:ext>
                </a:extLst>
              </a:tr>
              <a:tr h="0">
                <a:tc>
                  <a:txBody>
                    <a:bodyPr/>
                    <a:lstStyle/>
                    <a:p>
                      <a:pPr algn="ctr"/>
                      <a:r>
                        <a:rPr lang="fr-FR" dirty="0"/>
                        <a:t>Attractivité initiale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dirty="0"/>
                        <a:t>β0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a:t>Détermine la capacité d'une luciole à attirer une autre au départ.</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1329361"/>
                  </a:ext>
                </a:extLst>
              </a:tr>
              <a:tr h="0">
                <a:tc>
                  <a:txBody>
                    <a:bodyPr/>
                    <a:lstStyle/>
                    <a:p>
                      <a:pPr algn="ctr"/>
                      <a:r>
                        <a:rPr lang="fr-FR"/>
                        <a:t>Facteur d’absorption de lumière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dirty="0"/>
                        <a:t>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Contrôle la diminution de l’attractivité avec la distance. Plus γ est grand, plus la lumière s’atténue vite.</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3961101"/>
                  </a:ext>
                </a:extLst>
              </a:tr>
              <a:tr h="0">
                <a:tc>
                  <a:txBody>
                    <a:bodyPr/>
                    <a:lstStyle/>
                    <a:p>
                      <a:pPr algn="ctr"/>
                      <a:r>
                        <a:rPr lang="fr-FR"/>
                        <a:t>Coefficient aléatoire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dirty="0"/>
                        <a:t>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a:t>Intensité du mouvement aléatoire (exploration de nouvelles zones).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5184230"/>
                  </a:ext>
                </a:extLst>
              </a:tr>
              <a:tr h="0">
                <a:tc>
                  <a:txBody>
                    <a:bodyPr/>
                    <a:lstStyle/>
                    <a:p>
                      <a:pPr algn="ctr"/>
                      <a:r>
                        <a:rPr lang="fr-FR"/>
                        <a:t>Distance entre lucioles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fr-FR" dirty="0" err="1"/>
                        <a:t>rij</a:t>
                      </a:r>
                      <a:r>
                        <a:rPr lang="fr-FR"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fr-FR" dirty="0"/>
                        <a:t>Mesure la distance euclidienne entre deux lucioles xi et </a:t>
                      </a:r>
                      <a:r>
                        <a:rPr lang="fr-FR" dirty="0" err="1"/>
                        <a:t>xj</a:t>
                      </a:r>
                      <a:r>
                        <a:rPr lang="fr-FR" dirty="0"/>
                        <a:t>​.</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975402783"/>
                  </a:ext>
                </a:extLst>
              </a:tr>
            </a:tbl>
          </a:graphicData>
        </a:graphic>
      </p:graphicFrame>
      <p:sp>
        <p:nvSpPr>
          <p:cNvPr id="28" name="Ellipse 27">
            <a:extLst>
              <a:ext uri="{FF2B5EF4-FFF2-40B4-BE49-F238E27FC236}">
                <a16:creationId xmlns:a16="http://schemas.microsoft.com/office/drawing/2014/main" id="{C9C37283-F5EB-577A-3680-E50E4988F4FD}"/>
              </a:ext>
            </a:extLst>
          </p:cNvPr>
          <p:cNvSpPr/>
          <p:nvPr/>
        </p:nvSpPr>
        <p:spPr>
          <a:xfrm>
            <a:off x="1143228" y="7934815"/>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29" name="Ellipse 28">
            <a:extLst>
              <a:ext uri="{FF2B5EF4-FFF2-40B4-BE49-F238E27FC236}">
                <a16:creationId xmlns:a16="http://schemas.microsoft.com/office/drawing/2014/main" id="{BF446A6E-6EF2-CC25-EC14-B3F8772F354C}"/>
              </a:ext>
            </a:extLst>
          </p:cNvPr>
          <p:cNvSpPr/>
          <p:nvPr/>
        </p:nvSpPr>
        <p:spPr>
          <a:xfrm>
            <a:off x="5425400" y="8969785"/>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30" name="Ellipse 29">
            <a:extLst>
              <a:ext uri="{FF2B5EF4-FFF2-40B4-BE49-F238E27FC236}">
                <a16:creationId xmlns:a16="http://schemas.microsoft.com/office/drawing/2014/main" id="{33EAFB51-8453-42CE-861D-59415F6B0F3F}"/>
              </a:ext>
            </a:extLst>
          </p:cNvPr>
          <p:cNvSpPr/>
          <p:nvPr/>
        </p:nvSpPr>
        <p:spPr>
          <a:xfrm>
            <a:off x="9598053" y="11197799"/>
            <a:ext cx="1076961" cy="95434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31" name="ZoneTexte 30">
            <a:extLst>
              <a:ext uri="{FF2B5EF4-FFF2-40B4-BE49-F238E27FC236}">
                <a16:creationId xmlns:a16="http://schemas.microsoft.com/office/drawing/2014/main" id="{5EAC9C8F-8929-0115-7065-23263BCF5CC9}"/>
              </a:ext>
            </a:extLst>
          </p:cNvPr>
          <p:cNvSpPr txBox="1"/>
          <p:nvPr/>
        </p:nvSpPr>
        <p:spPr>
          <a:xfrm>
            <a:off x="606638" y="8083495"/>
            <a:ext cx="2150133" cy="769441"/>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1</a:t>
            </a:r>
            <a:endParaRPr lang="fr-FR" sz="2800" dirty="0">
              <a:solidFill>
                <a:schemeClr val="tx2">
                  <a:lumMod val="50000"/>
                </a:schemeClr>
              </a:solidFill>
              <a:latin typeface="Aharoni" panose="02010803020104030203" pitchFamily="2" charset="-79"/>
              <a:cs typeface="Aharoni" panose="02010803020104030203" pitchFamily="2" charset="-79"/>
            </a:endParaRPr>
          </a:p>
        </p:txBody>
      </p:sp>
      <p:sp>
        <p:nvSpPr>
          <p:cNvPr id="32" name="ZoneTexte 31">
            <a:extLst>
              <a:ext uri="{FF2B5EF4-FFF2-40B4-BE49-F238E27FC236}">
                <a16:creationId xmlns:a16="http://schemas.microsoft.com/office/drawing/2014/main" id="{A16ED170-8B55-B37E-2D67-9ADF2009737A}"/>
              </a:ext>
            </a:extLst>
          </p:cNvPr>
          <p:cNvSpPr txBox="1"/>
          <p:nvPr/>
        </p:nvSpPr>
        <p:spPr>
          <a:xfrm>
            <a:off x="4888809" y="9126013"/>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2</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sp>
        <p:nvSpPr>
          <p:cNvPr id="34" name="ZoneTexte 33">
            <a:extLst>
              <a:ext uri="{FF2B5EF4-FFF2-40B4-BE49-F238E27FC236}">
                <a16:creationId xmlns:a16="http://schemas.microsoft.com/office/drawing/2014/main" id="{E4105E2F-17B8-0D47-A298-2E0C631F4739}"/>
              </a:ext>
            </a:extLst>
          </p:cNvPr>
          <p:cNvSpPr txBox="1"/>
          <p:nvPr/>
        </p:nvSpPr>
        <p:spPr>
          <a:xfrm>
            <a:off x="9867146" y="11290248"/>
            <a:ext cx="533738" cy="769441"/>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3</a:t>
            </a:r>
            <a:endParaRPr lang="fr-FR" sz="2800" dirty="0">
              <a:solidFill>
                <a:schemeClr val="tx2">
                  <a:lumMod val="50000"/>
                </a:schemeClr>
              </a:solidFill>
              <a:latin typeface="Aharoni" panose="02010803020104030203" pitchFamily="2" charset="-79"/>
              <a:cs typeface="Aharoni" panose="02010803020104030203" pitchFamily="2" charset="-79"/>
            </a:endParaRPr>
          </a:p>
        </p:txBody>
      </p:sp>
      <p:sp>
        <p:nvSpPr>
          <p:cNvPr id="40" name="Rectangle 2">
            <a:extLst>
              <a:ext uri="{FF2B5EF4-FFF2-40B4-BE49-F238E27FC236}">
                <a16:creationId xmlns:a16="http://schemas.microsoft.com/office/drawing/2014/main" id="{E3DDF86B-7161-F042-2843-9B29E2B575F2}"/>
              </a:ext>
            </a:extLst>
          </p:cNvPr>
          <p:cNvSpPr>
            <a:spLocks noChangeArrowheads="1"/>
          </p:cNvSpPr>
          <p:nvPr/>
        </p:nvSpPr>
        <p:spPr bwMode="auto">
          <a:xfrm>
            <a:off x="13487690" y="2164433"/>
            <a:ext cx="4945350" cy="3054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fr-FR" altLang="fr-FR" sz="3200" b="1" dirty="0">
                <a:solidFill>
                  <a:schemeClr val="tx2">
                    <a:lumMod val="60000"/>
                    <a:lumOff val="40000"/>
                  </a:schemeClr>
                </a:solidFill>
                <a:latin typeface="Aharoni" panose="02010803020104030203" pitchFamily="2" charset="-79"/>
                <a:cs typeface="Aharoni" panose="02010803020104030203" pitchFamily="2" charset="-79"/>
              </a:rPr>
              <a:t>Meilleure fitness globale </a:t>
            </a:r>
            <a:endParaRPr lang="fr-FR" altLang="fr-FR" sz="3200" dirty="0">
              <a:latin typeface="Arial" panose="020B0604020202020204" pitchFamily="34" charset="0"/>
              <a:cs typeface="Aharoni" panose="02010803020104030203" pitchFamily="2" charset="-79"/>
            </a:endParaRPr>
          </a:p>
          <a:p>
            <a:pPr algn="ctr" eaLnBrk="0" fontAlgn="base" hangingPunct="0">
              <a:lnSpc>
                <a:spcPct val="200000"/>
              </a:lnSpc>
              <a:spcBef>
                <a:spcPct val="0"/>
              </a:spcBef>
              <a:spcAft>
                <a:spcPct val="0"/>
              </a:spcAft>
            </a:pPr>
            <a:r>
              <a:rPr kumimoji="0" lang="fr-FR" altLang="fr-FR" sz="2800" b="0" i="0" u="none" strike="noStrike" cap="none" normalizeH="0" baseline="0" dirty="0">
                <a:ln>
                  <a:noFill/>
                </a:ln>
                <a:solidFill>
                  <a:schemeClr val="tx1"/>
                </a:solidFill>
                <a:effectLst/>
                <a:latin typeface="Aptos Display" panose="020B0004020202020204" pitchFamily="34" charset="0"/>
              </a:rPr>
              <a:t> la meilleure solution trouvée par toutes les lucioles à travers toutes les itérations.</a:t>
            </a:r>
          </a:p>
        </p:txBody>
      </p:sp>
      <p:sp>
        <p:nvSpPr>
          <p:cNvPr id="41" name="ZoneTexte 40">
            <a:extLst>
              <a:ext uri="{FF2B5EF4-FFF2-40B4-BE49-F238E27FC236}">
                <a16:creationId xmlns:a16="http://schemas.microsoft.com/office/drawing/2014/main" id="{969AAB07-8E8B-3478-6C86-8E67FC1817D4}"/>
              </a:ext>
            </a:extLst>
          </p:cNvPr>
          <p:cNvSpPr txBox="1"/>
          <p:nvPr/>
        </p:nvSpPr>
        <p:spPr>
          <a:xfrm>
            <a:off x="-7255220" y="1785693"/>
            <a:ext cx="4777512" cy="4408323"/>
          </a:xfrm>
          <a:prstGeom prst="rect">
            <a:avLst/>
          </a:prstGeom>
          <a:noFill/>
        </p:spPr>
        <p:txBody>
          <a:bodyPr wrap="square" rtlCol="0">
            <a:spAutoFit/>
          </a:bodyPr>
          <a:lstStyle/>
          <a:p>
            <a:pPr algn="ctr">
              <a:lnSpc>
                <a:spcPct val="200000"/>
              </a:lnSpc>
            </a:pPr>
            <a:r>
              <a:rPr kumimoji="0" lang="fr-FR" altLang="fr-FR" sz="3200" b="1" i="0" u="none" strike="noStrike" cap="none" normalizeH="0" baseline="0" dirty="0">
                <a:ln>
                  <a:noFill/>
                </a:ln>
                <a:solidFill>
                  <a:schemeClr val="tx2">
                    <a:lumMod val="60000"/>
                    <a:lumOff val="40000"/>
                  </a:schemeClr>
                </a:solidFill>
                <a:effectLst/>
                <a:latin typeface="Aharoni" panose="02010803020104030203" pitchFamily="2" charset="-79"/>
                <a:cs typeface="Aharoni" panose="02010803020104030203" pitchFamily="2" charset="-79"/>
              </a:rPr>
              <a:t>Meilleure fitness locale</a:t>
            </a:r>
            <a:r>
              <a:rPr kumimoji="0" lang="fr-FR" altLang="fr-FR" sz="3200" b="0" i="0" u="none" strike="noStrike" cap="none" normalizeH="0" baseline="0" dirty="0">
                <a:ln>
                  <a:noFill/>
                </a:ln>
                <a:solidFill>
                  <a:schemeClr val="tx2">
                    <a:lumMod val="60000"/>
                    <a:lumOff val="40000"/>
                  </a:schemeClr>
                </a:solidFill>
                <a:effectLst/>
                <a:latin typeface="Aharoni" panose="02010803020104030203" pitchFamily="2" charset="-79"/>
                <a:cs typeface="Aharoni" panose="02010803020104030203" pitchFamily="2" charset="-79"/>
              </a:rPr>
              <a:t> </a:t>
            </a:r>
          </a:p>
          <a:p>
            <a:pPr algn="ctr">
              <a:lnSpc>
                <a:spcPct val="200000"/>
              </a:lnSpc>
            </a:pPr>
            <a:r>
              <a:rPr kumimoji="0" lang="fr-FR" altLang="fr-FR" sz="2800" b="0" i="0" u="none" strike="noStrike" cap="none" normalizeH="0" baseline="0" dirty="0">
                <a:ln>
                  <a:noFill/>
                </a:ln>
                <a:solidFill>
                  <a:schemeClr val="tx1"/>
                </a:solidFill>
                <a:effectLst/>
                <a:latin typeface="Aptos Display" panose="020B0004020202020204" pitchFamily="34" charset="0"/>
              </a:rPr>
              <a:t>la meilleure solution qu'une luciole a trouvée jusqu’à un point.</a:t>
            </a:r>
          </a:p>
          <a:p>
            <a:pPr algn="ctr">
              <a:lnSpc>
                <a:spcPct val="200000"/>
              </a:lnSpc>
            </a:pPr>
            <a:endParaRPr lang="fr-FR" sz="2800" dirty="0">
              <a:latin typeface="Aptos Display" panose="020B0004020202020204" pitchFamily="34" charset="0"/>
            </a:endParaRPr>
          </a:p>
        </p:txBody>
      </p:sp>
    </p:spTree>
    <p:extLst>
      <p:ext uri="{BB962C8B-B14F-4D97-AF65-F5344CB8AC3E}">
        <p14:creationId xmlns:p14="http://schemas.microsoft.com/office/powerpoint/2010/main" val="7827314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CC4C08C-E466-143F-BC93-B6BCD32599D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B0E3A2B-26A4-51F8-2BFB-0C051E48E595}"/>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81632693-2246-5777-0FB5-4E93E9B6CAF9}"/>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D4059D0A-AB81-2180-EA07-94E879390437}"/>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F34DEB6D-D084-A83A-A8C3-0E0F5974C61B}"/>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C8BFC18D-27FE-88E2-E16D-D17F579EBA94}"/>
              </a:ext>
            </a:extLst>
          </p:cNvPr>
          <p:cNvSpPr txBox="1"/>
          <p:nvPr/>
        </p:nvSpPr>
        <p:spPr>
          <a:xfrm>
            <a:off x="3176209" y="1141747"/>
            <a:ext cx="6449637" cy="707886"/>
          </a:xfrm>
          <a:prstGeom prst="rect">
            <a:avLst/>
          </a:prstGeom>
          <a:noFill/>
        </p:spPr>
        <p:txBody>
          <a:bodyPr wrap="square" rtlCol="0">
            <a:spAutoFit/>
          </a:bodyPr>
          <a:lstStyle/>
          <a:p>
            <a:r>
              <a:rPr lang="fr-FR" sz="4000" dirty="0">
                <a:solidFill>
                  <a:schemeClr val="tx2">
                    <a:lumMod val="75000"/>
                  </a:schemeClr>
                </a:solidFill>
                <a:latin typeface="Arial Black" panose="020B0A04020102020204" pitchFamily="34" charset="0"/>
              </a:rPr>
              <a:t>Fonction de fitness</a:t>
            </a:r>
          </a:p>
        </p:txBody>
      </p:sp>
      <p:graphicFrame>
        <p:nvGraphicFramePr>
          <p:cNvPr id="4" name="Tableau 3">
            <a:extLst>
              <a:ext uri="{FF2B5EF4-FFF2-40B4-BE49-F238E27FC236}">
                <a16:creationId xmlns:a16="http://schemas.microsoft.com/office/drawing/2014/main" id="{D3C5D337-E1EA-D006-3177-20BF08BF95EA}"/>
              </a:ext>
            </a:extLst>
          </p:cNvPr>
          <p:cNvGraphicFramePr>
            <a:graphicFrameLocks noGrp="1"/>
          </p:cNvGraphicFramePr>
          <p:nvPr>
            <p:extLst>
              <p:ext uri="{D42A27DB-BD31-4B8C-83A1-F6EECF244321}">
                <p14:modId xmlns:p14="http://schemas.microsoft.com/office/powerpoint/2010/main" val="4235257026"/>
              </p:ext>
            </p:extLst>
          </p:nvPr>
        </p:nvGraphicFramePr>
        <p:xfrm>
          <a:off x="1143228" y="7419592"/>
          <a:ext cx="10515600" cy="1728000"/>
        </p:xfrm>
        <a:graphic>
          <a:graphicData uri="http://schemas.openxmlformats.org/drawingml/2006/table">
            <a:tbl>
              <a:tblPr/>
              <a:tblGrid>
                <a:gridCol w="3505200">
                  <a:extLst>
                    <a:ext uri="{9D8B030D-6E8A-4147-A177-3AD203B41FA5}">
                      <a16:colId xmlns:a16="http://schemas.microsoft.com/office/drawing/2014/main" val="277060681"/>
                    </a:ext>
                  </a:extLst>
                </a:gridCol>
                <a:gridCol w="3520440">
                  <a:extLst>
                    <a:ext uri="{9D8B030D-6E8A-4147-A177-3AD203B41FA5}">
                      <a16:colId xmlns:a16="http://schemas.microsoft.com/office/drawing/2014/main" val="2737481069"/>
                    </a:ext>
                  </a:extLst>
                </a:gridCol>
                <a:gridCol w="3489960">
                  <a:extLst>
                    <a:ext uri="{9D8B030D-6E8A-4147-A177-3AD203B41FA5}">
                      <a16:colId xmlns:a16="http://schemas.microsoft.com/office/drawing/2014/main" val="2517885918"/>
                    </a:ext>
                  </a:extLst>
                </a:gridCol>
              </a:tblGrid>
              <a:tr h="576000">
                <a:tc>
                  <a:txBody>
                    <a:bodyPr/>
                    <a:lstStyle/>
                    <a:p>
                      <a:pPr algn="ctr"/>
                      <a:r>
                        <a:rPr lang="fr-FR" sz="1800" b="1" dirty="0">
                          <a:latin typeface="Aptos Display" panose="020B0004020202020204" pitchFamily="34" charset="0"/>
                        </a:rPr>
                        <a:t>Type d’optimisation</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fr-FR" sz="1800" b="1" dirty="0">
                          <a:latin typeface="Aptos Display" panose="020B0004020202020204" pitchFamily="34" charset="0"/>
                        </a:rPr>
                        <a:t>Fonction objectif f(x)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it-IT" sz="1800" b="1" dirty="0">
                          <a:latin typeface="Aptos Display" panose="020B0004020202020204" pitchFamily="34" charset="0"/>
                        </a:rPr>
                        <a:t>Luminosité I(x)</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1797625"/>
                  </a:ext>
                </a:extLst>
              </a:tr>
              <a:tr h="576000">
                <a:tc>
                  <a:txBody>
                    <a:bodyPr/>
                    <a:lstStyle/>
                    <a:p>
                      <a:pPr algn="ctr"/>
                      <a:r>
                        <a:rPr lang="fr-FR" sz="1800">
                          <a:latin typeface="Aptos Display" panose="020B0004020202020204" pitchFamily="34" charset="0"/>
                        </a:rPr>
                        <a:t>Minimisation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800" dirty="0">
                          <a:latin typeface="Aptos Display" panose="020B0004020202020204" pitchFamily="34" charset="0"/>
                        </a:rPr>
                        <a:t>À rendre la plus petite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n-NO" sz="1800" dirty="0">
                          <a:latin typeface="Andalus" panose="02020603050405020304" pitchFamily="18" charset="-78"/>
                          <a:cs typeface="Andalus" panose="02020603050405020304" pitchFamily="18" charset="-78"/>
                        </a:rPr>
                        <a:t>I(x)=1 / ( f(x) +</a:t>
                      </a:r>
                      <a:r>
                        <a:rPr lang="el-GR" sz="1800" dirty="0"/>
                        <a:t>ϵ</a:t>
                      </a:r>
                      <a:r>
                        <a:rPr lang="fr-FR" sz="1800" dirty="0"/>
                        <a:t> )</a:t>
                      </a:r>
                      <a:endParaRPr lang="nn-NO" sz="1800" dirty="0">
                        <a:latin typeface="Andalus" panose="02020603050405020304" pitchFamily="18" charset="-78"/>
                        <a:cs typeface="Andalus" panose="02020603050405020304" pitchFamily="18" charset="-78"/>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1183320"/>
                  </a:ext>
                </a:extLst>
              </a:tr>
              <a:tr h="576000">
                <a:tc>
                  <a:txBody>
                    <a:bodyPr/>
                    <a:lstStyle/>
                    <a:p>
                      <a:pPr algn="ctr"/>
                      <a:r>
                        <a:rPr lang="fr-FR" sz="1800" dirty="0">
                          <a:latin typeface="Aptos Display" panose="020B0004020202020204" pitchFamily="34" charset="0"/>
                        </a:rPr>
                        <a:t>Maximisation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fr-FR" sz="1800" dirty="0">
                          <a:latin typeface="Aptos Display" panose="020B0004020202020204" pitchFamily="34" charset="0"/>
                        </a:rPr>
                        <a:t>À rendre la plus grande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nn-NO" sz="1800" dirty="0">
                          <a:latin typeface="Andalus" panose="02020603050405020304" pitchFamily="18" charset="-78"/>
                          <a:cs typeface="Andalus" panose="02020603050405020304" pitchFamily="18" charset="-78"/>
                        </a:rPr>
                        <a:t>I(x) = f(x)</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810564160"/>
                  </a:ext>
                </a:extLst>
              </a:tr>
            </a:tbl>
          </a:graphicData>
        </a:graphic>
      </p:graphicFrame>
      <p:cxnSp>
        <p:nvCxnSpPr>
          <p:cNvPr id="23" name="Connecteur droit avec flèche 22">
            <a:extLst>
              <a:ext uri="{FF2B5EF4-FFF2-40B4-BE49-F238E27FC236}">
                <a16:creationId xmlns:a16="http://schemas.microsoft.com/office/drawing/2014/main" id="{684928F9-4721-1E65-9378-D89D0C9A6F6B}"/>
              </a:ext>
            </a:extLst>
          </p:cNvPr>
          <p:cNvCxnSpPr>
            <a:cxnSpLocks/>
          </p:cNvCxnSpPr>
          <p:nvPr/>
        </p:nvCxnSpPr>
        <p:spPr>
          <a:xfrm flipV="1">
            <a:off x="10593554" y="8538345"/>
            <a:ext cx="0" cy="15036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ZoneTexte 23">
            <a:extLst>
              <a:ext uri="{FF2B5EF4-FFF2-40B4-BE49-F238E27FC236}">
                <a16:creationId xmlns:a16="http://schemas.microsoft.com/office/drawing/2014/main" id="{0F9DB852-F2D5-7A91-907E-97903CB31B5E}"/>
              </a:ext>
            </a:extLst>
          </p:cNvPr>
          <p:cNvSpPr txBox="1"/>
          <p:nvPr/>
        </p:nvSpPr>
        <p:spPr>
          <a:xfrm>
            <a:off x="9412795" y="10112478"/>
            <a:ext cx="2570200" cy="523220"/>
          </a:xfrm>
          <a:prstGeom prst="rect">
            <a:avLst/>
          </a:prstGeom>
          <a:noFill/>
        </p:spPr>
        <p:txBody>
          <a:bodyPr wrap="square" rtlCol="0">
            <a:spAutoFit/>
          </a:bodyPr>
          <a:lstStyle/>
          <a:p>
            <a:pPr algn="ctr"/>
            <a:r>
              <a:rPr lang="fr-FR" sz="1400" dirty="0"/>
              <a:t>petit nombre pour éviter la division par zéro.</a:t>
            </a:r>
          </a:p>
        </p:txBody>
      </p:sp>
      <p:graphicFrame>
        <p:nvGraphicFramePr>
          <p:cNvPr id="27" name="Tableau 26">
            <a:extLst>
              <a:ext uri="{FF2B5EF4-FFF2-40B4-BE49-F238E27FC236}">
                <a16:creationId xmlns:a16="http://schemas.microsoft.com/office/drawing/2014/main" id="{BEC52487-5849-C227-D15C-0F54FE8B4D7E}"/>
              </a:ext>
            </a:extLst>
          </p:cNvPr>
          <p:cNvGraphicFramePr>
            <a:graphicFrameLocks noGrp="1"/>
          </p:cNvGraphicFramePr>
          <p:nvPr/>
        </p:nvGraphicFramePr>
        <p:xfrm>
          <a:off x="1244551" y="12631893"/>
          <a:ext cx="10515600" cy="3566160"/>
        </p:xfrm>
        <a:graphic>
          <a:graphicData uri="http://schemas.openxmlformats.org/drawingml/2006/table">
            <a:tbl>
              <a:tblPr/>
              <a:tblGrid>
                <a:gridCol w="3154680">
                  <a:extLst>
                    <a:ext uri="{9D8B030D-6E8A-4147-A177-3AD203B41FA5}">
                      <a16:colId xmlns:a16="http://schemas.microsoft.com/office/drawing/2014/main" val="2541401735"/>
                    </a:ext>
                  </a:extLst>
                </a:gridCol>
                <a:gridCol w="2062480">
                  <a:extLst>
                    <a:ext uri="{9D8B030D-6E8A-4147-A177-3AD203B41FA5}">
                      <a16:colId xmlns:a16="http://schemas.microsoft.com/office/drawing/2014/main" val="3788555945"/>
                    </a:ext>
                  </a:extLst>
                </a:gridCol>
                <a:gridCol w="5298440">
                  <a:extLst>
                    <a:ext uri="{9D8B030D-6E8A-4147-A177-3AD203B41FA5}">
                      <a16:colId xmlns:a16="http://schemas.microsoft.com/office/drawing/2014/main" val="2207769888"/>
                    </a:ext>
                  </a:extLst>
                </a:gridCol>
              </a:tblGrid>
              <a:tr h="0">
                <a:tc>
                  <a:txBody>
                    <a:bodyPr/>
                    <a:lstStyle/>
                    <a:p>
                      <a:pPr algn="ctr"/>
                      <a:r>
                        <a:rPr lang="fr-FR" b="1" dirty="0"/>
                        <a:t>Paramètre</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fr-FR" b="1" dirty="0"/>
                        <a:t>Symbole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fr-FR" b="1" dirty="0"/>
                        <a:t>Rôle</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189263"/>
                  </a:ext>
                </a:extLst>
              </a:tr>
              <a:tr h="0">
                <a:tc>
                  <a:txBody>
                    <a:bodyPr/>
                    <a:lstStyle/>
                    <a:p>
                      <a:pPr algn="ctr"/>
                      <a:r>
                        <a:rPr lang="fr-FR"/>
                        <a:t>Nombre de lucioles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Nombre total de solutions (ou individus) dans la population.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5164930"/>
                  </a:ext>
                </a:extLst>
              </a:tr>
              <a:tr h="0">
                <a:tc>
                  <a:txBody>
                    <a:bodyPr/>
                    <a:lstStyle/>
                    <a:p>
                      <a:pPr algn="ctr"/>
                      <a:r>
                        <a:rPr lang="fr-FR" dirty="0"/>
                        <a:t>Attractivité initiale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dirty="0"/>
                        <a:t>β0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a:t>Détermine la capacité d'une luciole à attirer une autre au départ.</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1329361"/>
                  </a:ext>
                </a:extLst>
              </a:tr>
              <a:tr h="0">
                <a:tc>
                  <a:txBody>
                    <a:bodyPr/>
                    <a:lstStyle/>
                    <a:p>
                      <a:pPr algn="ctr"/>
                      <a:r>
                        <a:rPr lang="fr-FR"/>
                        <a:t>Facteur d’absorption de lumière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dirty="0"/>
                        <a:t>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Contrôle la diminution de l’attractivité avec la distance. Plus γ est grand, plus la lumière s’atténue vite.</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3961101"/>
                  </a:ext>
                </a:extLst>
              </a:tr>
              <a:tr h="0">
                <a:tc>
                  <a:txBody>
                    <a:bodyPr/>
                    <a:lstStyle/>
                    <a:p>
                      <a:pPr algn="ctr"/>
                      <a:r>
                        <a:rPr lang="fr-FR"/>
                        <a:t>Coefficient aléatoire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dirty="0"/>
                        <a:t>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a:t>Intensité du mouvement aléatoire (exploration de nouvelles zones).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5184230"/>
                  </a:ext>
                </a:extLst>
              </a:tr>
              <a:tr h="0">
                <a:tc>
                  <a:txBody>
                    <a:bodyPr/>
                    <a:lstStyle/>
                    <a:p>
                      <a:pPr algn="ctr"/>
                      <a:r>
                        <a:rPr lang="fr-FR"/>
                        <a:t>Distance entre lucioles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fr-FR" dirty="0" err="1"/>
                        <a:t>rij</a:t>
                      </a:r>
                      <a:r>
                        <a:rPr lang="fr-FR"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fr-FR" dirty="0"/>
                        <a:t>Mesure la distance euclidienne entre deux lucioles xi et </a:t>
                      </a:r>
                      <a:r>
                        <a:rPr lang="fr-FR" dirty="0" err="1"/>
                        <a:t>xj</a:t>
                      </a:r>
                      <a:r>
                        <a:rPr lang="fr-FR" dirty="0"/>
                        <a:t>​.</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975402783"/>
                  </a:ext>
                </a:extLst>
              </a:tr>
            </a:tbl>
          </a:graphicData>
        </a:graphic>
      </p:graphicFrame>
      <p:sp>
        <p:nvSpPr>
          <p:cNvPr id="39" name="Rectangle 2">
            <a:extLst>
              <a:ext uri="{FF2B5EF4-FFF2-40B4-BE49-F238E27FC236}">
                <a16:creationId xmlns:a16="http://schemas.microsoft.com/office/drawing/2014/main" id="{8F2BE28E-05BE-4C76-9F5D-7E403B1D2E6F}"/>
              </a:ext>
            </a:extLst>
          </p:cNvPr>
          <p:cNvSpPr>
            <a:spLocks noChangeArrowheads="1"/>
          </p:cNvSpPr>
          <p:nvPr/>
        </p:nvSpPr>
        <p:spPr bwMode="auto">
          <a:xfrm>
            <a:off x="6401028" y="2576464"/>
            <a:ext cx="4945350" cy="3054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fr-FR" altLang="fr-FR" sz="3200" b="1" dirty="0">
                <a:solidFill>
                  <a:schemeClr val="tx2">
                    <a:lumMod val="60000"/>
                    <a:lumOff val="40000"/>
                  </a:schemeClr>
                </a:solidFill>
                <a:latin typeface="Aharoni" panose="02010803020104030203" pitchFamily="2" charset="-79"/>
                <a:cs typeface="Aharoni" panose="02010803020104030203" pitchFamily="2" charset="-79"/>
              </a:rPr>
              <a:t>Meilleure fitness globale </a:t>
            </a:r>
            <a:endParaRPr lang="fr-FR" altLang="fr-FR" sz="3200" dirty="0">
              <a:latin typeface="Arial" panose="020B0604020202020204" pitchFamily="34" charset="0"/>
              <a:cs typeface="Aharoni" panose="02010803020104030203" pitchFamily="2" charset="-79"/>
            </a:endParaRPr>
          </a:p>
          <a:p>
            <a:pPr algn="ctr" eaLnBrk="0" fontAlgn="base" hangingPunct="0">
              <a:lnSpc>
                <a:spcPct val="200000"/>
              </a:lnSpc>
              <a:spcBef>
                <a:spcPct val="0"/>
              </a:spcBef>
              <a:spcAft>
                <a:spcPct val="0"/>
              </a:spcAft>
            </a:pPr>
            <a:r>
              <a:rPr kumimoji="0" lang="fr-FR" altLang="fr-FR" sz="2800" b="0" i="0" u="none" strike="noStrike" cap="none" normalizeH="0" baseline="0" dirty="0">
                <a:ln>
                  <a:noFill/>
                </a:ln>
                <a:solidFill>
                  <a:schemeClr val="tx1"/>
                </a:solidFill>
                <a:effectLst/>
                <a:latin typeface="Aptos Display" panose="020B0004020202020204" pitchFamily="34" charset="0"/>
              </a:rPr>
              <a:t> la meilleure solution trouvée par toutes les lucioles à travers toutes les itérations.</a:t>
            </a:r>
          </a:p>
        </p:txBody>
      </p:sp>
      <p:sp>
        <p:nvSpPr>
          <p:cNvPr id="3" name="ZoneTexte 2">
            <a:extLst>
              <a:ext uri="{FF2B5EF4-FFF2-40B4-BE49-F238E27FC236}">
                <a16:creationId xmlns:a16="http://schemas.microsoft.com/office/drawing/2014/main" id="{4B6517C5-EBBC-F756-44AC-744ED9292458}"/>
              </a:ext>
            </a:extLst>
          </p:cNvPr>
          <p:cNvSpPr txBox="1"/>
          <p:nvPr/>
        </p:nvSpPr>
        <p:spPr>
          <a:xfrm>
            <a:off x="852398" y="2238802"/>
            <a:ext cx="4777512" cy="4408323"/>
          </a:xfrm>
          <a:prstGeom prst="rect">
            <a:avLst/>
          </a:prstGeom>
          <a:noFill/>
        </p:spPr>
        <p:txBody>
          <a:bodyPr wrap="square" rtlCol="0">
            <a:spAutoFit/>
          </a:bodyPr>
          <a:lstStyle/>
          <a:p>
            <a:pPr algn="ctr">
              <a:lnSpc>
                <a:spcPct val="200000"/>
              </a:lnSpc>
            </a:pPr>
            <a:r>
              <a:rPr kumimoji="0" lang="fr-FR" altLang="fr-FR" sz="3200" b="1" i="0" u="none" strike="noStrike" cap="none" normalizeH="0" baseline="0" dirty="0">
                <a:ln>
                  <a:noFill/>
                </a:ln>
                <a:solidFill>
                  <a:schemeClr val="tx2">
                    <a:lumMod val="60000"/>
                    <a:lumOff val="40000"/>
                  </a:schemeClr>
                </a:solidFill>
                <a:effectLst/>
                <a:latin typeface="Aharoni" panose="02010803020104030203" pitchFamily="2" charset="-79"/>
                <a:cs typeface="Aharoni" panose="02010803020104030203" pitchFamily="2" charset="-79"/>
              </a:rPr>
              <a:t>Meilleure fitness locale</a:t>
            </a:r>
            <a:r>
              <a:rPr kumimoji="0" lang="fr-FR" altLang="fr-FR" sz="3200" b="0" i="0" u="none" strike="noStrike" cap="none" normalizeH="0" baseline="0" dirty="0">
                <a:ln>
                  <a:noFill/>
                </a:ln>
                <a:solidFill>
                  <a:schemeClr val="tx2">
                    <a:lumMod val="60000"/>
                    <a:lumOff val="40000"/>
                  </a:schemeClr>
                </a:solidFill>
                <a:effectLst/>
                <a:latin typeface="Aharoni" panose="02010803020104030203" pitchFamily="2" charset="-79"/>
                <a:cs typeface="Aharoni" panose="02010803020104030203" pitchFamily="2" charset="-79"/>
              </a:rPr>
              <a:t> </a:t>
            </a:r>
          </a:p>
          <a:p>
            <a:pPr algn="ctr">
              <a:lnSpc>
                <a:spcPct val="200000"/>
              </a:lnSpc>
            </a:pPr>
            <a:r>
              <a:rPr kumimoji="0" lang="fr-FR" altLang="fr-FR" sz="2800" b="0" i="0" u="none" strike="noStrike" cap="none" normalizeH="0" baseline="0" dirty="0">
                <a:ln>
                  <a:noFill/>
                </a:ln>
                <a:solidFill>
                  <a:schemeClr val="tx1"/>
                </a:solidFill>
                <a:effectLst/>
                <a:latin typeface="Aptos Display" panose="020B0004020202020204" pitchFamily="34" charset="0"/>
              </a:rPr>
              <a:t>la meilleure solution qu'une luciole a trouvée jusqu’à un point.</a:t>
            </a:r>
          </a:p>
          <a:p>
            <a:pPr algn="ctr">
              <a:lnSpc>
                <a:spcPct val="200000"/>
              </a:lnSpc>
            </a:pPr>
            <a:endParaRPr lang="fr-FR" sz="2800" dirty="0">
              <a:latin typeface="Aptos Display" panose="020B0004020202020204" pitchFamily="34" charset="0"/>
            </a:endParaRPr>
          </a:p>
        </p:txBody>
      </p:sp>
    </p:spTree>
    <p:extLst>
      <p:ext uri="{BB962C8B-B14F-4D97-AF65-F5344CB8AC3E}">
        <p14:creationId xmlns:p14="http://schemas.microsoft.com/office/powerpoint/2010/main" val="8529547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19377E8-63E4-DE4A-32CB-2DA2E932126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111C198-326F-A367-DBB7-1732EA4E69AD}"/>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0B9267F-A0F1-9147-572F-4309D41B7FEC}"/>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E9EBFA1B-E8D3-A2E8-A6CC-3D75E00AC878}"/>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33A03860-BC92-AE20-1C8D-3EA6CDD773C9}"/>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F7F883CD-26B6-4F89-E96B-EE1986647F22}"/>
              </a:ext>
            </a:extLst>
          </p:cNvPr>
          <p:cNvSpPr txBox="1"/>
          <p:nvPr/>
        </p:nvSpPr>
        <p:spPr>
          <a:xfrm>
            <a:off x="695010" y="444671"/>
            <a:ext cx="9738073" cy="1077218"/>
          </a:xfrm>
          <a:prstGeom prst="rect">
            <a:avLst/>
          </a:prstGeom>
          <a:noFill/>
        </p:spPr>
        <p:txBody>
          <a:bodyPr wrap="square" rtlCol="0">
            <a:spAutoFit/>
          </a:bodyPr>
          <a:lstStyle/>
          <a:p>
            <a:r>
              <a:rPr lang="fr-FR" sz="3200" dirty="0">
                <a:solidFill>
                  <a:schemeClr val="tx2">
                    <a:lumMod val="75000"/>
                  </a:schemeClr>
                </a:solidFill>
                <a:latin typeface="Arial Black" panose="020B0A04020102020204" pitchFamily="34" charset="0"/>
              </a:rPr>
              <a:t>2. Paramètres principaux de l’algorithme des lucioles</a:t>
            </a:r>
          </a:p>
        </p:txBody>
      </p:sp>
      <p:graphicFrame>
        <p:nvGraphicFramePr>
          <p:cNvPr id="26" name="Tableau 25">
            <a:extLst>
              <a:ext uri="{FF2B5EF4-FFF2-40B4-BE49-F238E27FC236}">
                <a16:creationId xmlns:a16="http://schemas.microsoft.com/office/drawing/2014/main" id="{0522DB35-343D-07AB-83B9-F8B3D8BAA34B}"/>
              </a:ext>
            </a:extLst>
          </p:cNvPr>
          <p:cNvGraphicFramePr>
            <a:graphicFrameLocks noGrp="1"/>
          </p:cNvGraphicFramePr>
          <p:nvPr>
            <p:extLst>
              <p:ext uri="{D42A27DB-BD31-4B8C-83A1-F6EECF244321}">
                <p14:modId xmlns:p14="http://schemas.microsoft.com/office/powerpoint/2010/main" val="4034511786"/>
              </p:ext>
            </p:extLst>
          </p:nvPr>
        </p:nvGraphicFramePr>
        <p:xfrm>
          <a:off x="838200" y="1943894"/>
          <a:ext cx="10515600" cy="3566160"/>
        </p:xfrm>
        <a:graphic>
          <a:graphicData uri="http://schemas.openxmlformats.org/drawingml/2006/table">
            <a:tbl>
              <a:tblPr/>
              <a:tblGrid>
                <a:gridCol w="3154680">
                  <a:extLst>
                    <a:ext uri="{9D8B030D-6E8A-4147-A177-3AD203B41FA5}">
                      <a16:colId xmlns:a16="http://schemas.microsoft.com/office/drawing/2014/main" val="2541401735"/>
                    </a:ext>
                  </a:extLst>
                </a:gridCol>
                <a:gridCol w="2062480">
                  <a:extLst>
                    <a:ext uri="{9D8B030D-6E8A-4147-A177-3AD203B41FA5}">
                      <a16:colId xmlns:a16="http://schemas.microsoft.com/office/drawing/2014/main" val="3788555945"/>
                    </a:ext>
                  </a:extLst>
                </a:gridCol>
                <a:gridCol w="5298440">
                  <a:extLst>
                    <a:ext uri="{9D8B030D-6E8A-4147-A177-3AD203B41FA5}">
                      <a16:colId xmlns:a16="http://schemas.microsoft.com/office/drawing/2014/main" val="2207769888"/>
                    </a:ext>
                  </a:extLst>
                </a:gridCol>
              </a:tblGrid>
              <a:tr h="0">
                <a:tc>
                  <a:txBody>
                    <a:bodyPr/>
                    <a:lstStyle/>
                    <a:p>
                      <a:pPr algn="ctr"/>
                      <a:r>
                        <a:rPr lang="fr-FR" b="1" dirty="0"/>
                        <a:t>Paramètre</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fr-FR" b="1" dirty="0"/>
                        <a:t>Symbole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r>
                        <a:rPr lang="fr-FR" b="1" dirty="0"/>
                        <a:t>Rôle</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189263"/>
                  </a:ext>
                </a:extLst>
              </a:tr>
              <a:tr h="0">
                <a:tc>
                  <a:txBody>
                    <a:bodyPr/>
                    <a:lstStyle/>
                    <a:p>
                      <a:pPr algn="ctr"/>
                      <a:r>
                        <a:rPr lang="fr-FR"/>
                        <a:t>Nombre de lucioles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Nombre total de solutions (ou individus) dans la population.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5164930"/>
                  </a:ext>
                </a:extLst>
              </a:tr>
              <a:tr h="0">
                <a:tc>
                  <a:txBody>
                    <a:bodyPr/>
                    <a:lstStyle/>
                    <a:p>
                      <a:pPr algn="ctr"/>
                      <a:r>
                        <a:rPr lang="fr-FR" dirty="0"/>
                        <a:t>Attractivité initiale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dirty="0"/>
                        <a:t>β0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a:t>Détermine la capacité d'une luciole à attirer une autre au départ.</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1329361"/>
                  </a:ext>
                </a:extLst>
              </a:tr>
              <a:tr h="0">
                <a:tc>
                  <a:txBody>
                    <a:bodyPr/>
                    <a:lstStyle/>
                    <a:p>
                      <a:pPr algn="ctr"/>
                      <a:r>
                        <a:rPr lang="fr-FR"/>
                        <a:t>Facteur d’absorption de lumière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dirty="0"/>
                        <a:t>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Contrôle la diminution de l’attractivité avec la distance. Plus γ est grand, plus la lumière s’atténue vite.</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3961101"/>
                  </a:ext>
                </a:extLst>
              </a:tr>
              <a:tr h="0">
                <a:tc>
                  <a:txBody>
                    <a:bodyPr/>
                    <a:lstStyle/>
                    <a:p>
                      <a:pPr algn="ctr"/>
                      <a:r>
                        <a:rPr lang="fr-FR"/>
                        <a:t>Coefficient aléatoire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dirty="0"/>
                        <a:t>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a:t>Intensité du mouvement aléatoire (exploration de nouvelles zones).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5184230"/>
                  </a:ext>
                </a:extLst>
              </a:tr>
              <a:tr h="0">
                <a:tc>
                  <a:txBody>
                    <a:bodyPr/>
                    <a:lstStyle/>
                    <a:p>
                      <a:pPr algn="ctr"/>
                      <a:r>
                        <a:rPr lang="fr-FR"/>
                        <a:t>Distance entre lucioles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fr-FR" dirty="0" err="1"/>
                        <a:t>rij</a:t>
                      </a:r>
                      <a:r>
                        <a:rPr lang="fr-FR"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r>
                        <a:rPr lang="fr-FR" dirty="0"/>
                        <a:t>Mesure la distance euclidienne entre deux lucioles xi et </a:t>
                      </a:r>
                      <a:r>
                        <a:rPr lang="fr-FR" dirty="0" err="1"/>
                        <a:t>xj</a:t>
                      </a:r>
                      <a:r>
                        <a:rPr lang="fr-FR" dirty="0"/>
                        <a:t>​.</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975402783"/>
                  </a:ext>
                </a:extLst>
              </a:tr>
            </a:tbl>
          </a:graphicData>
        </a:graphic>
      </p:graphicFrame>
      <p:sp>
        <p:nvSpPr>
          <p:cNvPr id="27" name="ZoneTexte 26">
            <a:extLst>
              <a:ext uri="{FF2B5EF4-FFF2-40B4-BE49-F238E27FC236}">
                <a16:creationId xmlns:a16="http://schemas.microsoft.com/office/drawing/2014/main" id="{724E8624-154A-C6BB-D20A-7A65D334D356}"/>
              </a:ext>
            </a:extLst>
          </p:cNvPr>
          <p:cNvSpPr txBox="1"/>
          <p:nvPr/>
        </p:nvSpPr>
        <p:spPr>
          <a:xfrm>
            <a:off x="-10797633" y="1828758"/>
            <a:ext cx="4488519" cy="523220"/>
          </a:xfrm>
          <a:prstGeom prst="rect">
            <a:avLst/>
          </a:prstGeom>
          <a:noFill/>
        </p:spPr>
        <p:txBody>
          <a:bodyPr wrap="square" rtlCol="0">
            <a:spAutoFit/>
          </a:bodyPr>
          <a:lstStyle/>
          <a:p>
            <a:r>
              <a:rPr lang="fr-FR" sz="2800" b="1" dirty="0">
                <a:solidFill>
                  <a:schemeClr val="accent2">
                    <a:lumMod val="50000"/>
                  </a:schemeClr>
                </a:solidFill>
              </a:rPr>
              <a:t>2.1. Intensité lumineuse </a:t>
            </a:r>
          </a:p>
        </p:txBody>
      </p:sp>
      <p:pic>
        <p:nvPicPr>
          <p:cNvPr id="28" name="Image 27">
            <a:extLst>
              <a:ext uri="{FF2B5EF4-FFF2-40B4-BE49-F238E27FC236}">
                <a16:creationId xmlns:a16="http://schemas.microsoft.com/office/drawing/2014/main" id="{2F6B0684-4777-C8A8-2613-BC49251D6904}"/>
              </a:ext>
            </a:extLst>
          </p:cNvPr>
          <p:cNvPicPr>
            <a:picLocks noChangeAspect="1"/>
          </p:cNvPicPr>
          <p:nvPr/>
        </p:nvPicPr>
        <p:blipFill>
          <a:blip r:embed="rId2"/>
          <a:stretch>
            <a:fillRect/>
          </a:stretch>
        </p:blipFill>
        <p:spPr>
          <a:xfrm>
            <a:off x="-10620019" y="2818334"/>
            <a:ext cx="3060107" cy="1029463"/>
          </a:xfrm>
          <a:prstGeom prst="rect">
            <a:avLst/>
          </a:prstGeom>
        </p:spPr>
      </p:pic>
      <p:sp>
        <p:nvSpPr>
          <p:cNvPr id="29" name="ZoneTexte 28">
            <a:extLst>
              <a:ext uri="{FF2B5EF4-FFF2-40B4-BE49-F238E27FC236}">
                <a16:creationId xmlns:a16="http://schemas.microsoft.com/office/drawing/2014/main" id="{DFE081F4-8DBF-A767-332B-F55A0E81B82C}"/>
              </a:ext>
            </a:extLst>
          </p:cNvPr>
          <p:cNvSpPr txBox="1"/>
          <p:nvPr/>
        </p:nvSpPr>
        <p:spPr>
          <a:xfrm>
            <a:off x="-10703506" y="4063504"/>
            <a:ext cx="3362937" cy="1446550"/>
          </a:xfrm>
          <a:prstGeom prst="rect">
            <a:avLst/>
          </a:prstGeom>
          <a:noFill/>
        </p:spPr>
        <p:txBody>
          <a:bodyPr wrap="square" rtlCol="0">
            <a:spAutoFit/>
          </a:bodyPr>
          <a:lstStyle/>
          <a:p>
            <a:r>
              <a:rPr lang="fr-FR" sz="2000" b="1" dirty="0">
                <a:latin typeface="Andalus" panose="02020603050405020304" pitchFamily="18" charset="-78"/>
                <a:cs typeface="Andalus" panose="02020603050405020304" pitchFamily="18" charset="-78"/>
              </a:rPr>
              <a:t>I (r )  </a:t>
            </a:r>
            <a:r>
              <a:rPr lang="fr-FR" sz="1600" b="1" dirty="0"/>
              <a:t>= intensité perçue</a:t>
            </a:r>
            <a:r>
              <a:rPr lang="fr-FR" sz="1600" dirty="0"/>
              <a:t> à une distance r</a:t>
            </a:r>
          </a:p>
          <a:p>
            <a:r>
              <a:rPr lang="fr-FR" sz="2000" b="1" dirty="0">
                <a:latin typeface="Andalus" panose="02020603050405020304" pitchFamily="18" charset="-78"/>
                <a:cs typeface="Andalus" panose="02020603050405020304" pitchFamily="18" charset="-78"/>
              </a:rPr>
              <a:t>I</a:t>
            </a:r>
            <a:r>
              <a:rPr lang="fr-FR" sz="1200" b="1" dirty="0">
                <a:latin typeface="Andalus" panose="02020603050405020304" pitchFamily="18" charset="-78"/>
                <a:cs typeface="Andalus" panose="02020603050405020304" pitchFamily="18" charset="-78"/>
              </a:rPr>
              <a:t>0</a:t>
            </a:r>
            <a:r>
              <a:rPr lang="fr-FR" sz="2000" b="1" dirty="0">
                <a:latin typeface="Andalus" panose="02020603050405020304" pitchFamily="18" charset="-78"/>
                <a:cs typeface="Andalus" panose="02020603050405020304" pitchFamily="18" charset="-78"/>
              </a:rPr>
              <a:t> </a:t>
            </a:r>
            <a:r>
              <a:rPr lang="fr-FR" sz="1600" b="1" dirty="0"/>
              <a:t>= intensité à la source</a:t>
            </a:r>
            <a:r>
              <a:rPr lang="fr-FR" sz="1600" dirty="0"/>
              <a:t> (souvent égale à la valeur de la fonction objectif)</a:t>
            </a:r>
          </a:p>
        </p:txBody>
      </p:sp>
      <p:sp>
        <p:nvSpPr>
          <p:cNvPr id="38" name="ZoneTexte 37">
            <a:extLst>
              <a:ext uri="{FF2B5EF4-FFF2-40B4-BE49-F238E27FC236}">
                <a16:creationId xmlns:a16="http://schemas.microsoft.com/office/drawing/2014/main" id="{E532D588-368F-0AB3-178F-63AB506DCC48}"/>
              </a:ext>
            </a:extLst>
          </p:cNvPr>
          <p:cNvSpPr txBox="1"/>
          <p:nvPr/>
        </p:nvSpPr>
        <p:spPr>
          <a:xfrm>
            <a:off x="13768537" y="1567479"/>
            <a:ext cx="4488519" cy="954107"/>
          </a:xfrm>
          <a:prstGeom prst="rect">
            <a:avLst/>
          </a:prstGeom>
          <a:noFill/>
        </p:spPr>
        <p:txBody>
          <a:bodyPr wrap="square" rtlCol="0">
            <a:spAutoFit/>
          </a:bodyPr>
          <a:lstStyle/>
          <a:p>
            <a:r>
              <a:rPr lang="fr-FR" sz="2800" b="1" dirty="0">
                <a:solidFill>
                  <a:schemeClr val="accent2">
                    <a:lumMod val="50000"/>
                  </a:schemeClr>
                </a:solidFill>
              </a:rPr>
              <a:t>2.2. Distance entre deux lucioles r</a:t>
            </a:r>
          </a:p>
        </p:txBody>
      </p:sp>
      <p:sp>
        <p:nvSpPr>
          <p:cNvPr id="39" name="ZoneTexte 38">
            <a:extLst>
              <a:ext uri="{FF2B5EF4-FFF2-40B4-BE49-F238E27FC236}">
                <a16:creationId xmlns:a16="http://schemas.microsoft.com/office/drawing/2014/main" id="{9F9F9825-385E-9275-7E1C-F901E9A78D1E}"/>
              </a:ext>
            </a:extLst>
          </p:cNvPr>
          <p:cNvSpPr txBox="1"/>
          <p:nvPr/>
        </p:nvSpPr>
        <p:spPr>
          <a:xfrm>
            <a:off x="13768537" y="2775211"/>
            <a:ext cx="4488519" cy="967957"/>
          </a:xfrm>
          <a:prstGeom prst="rect">
            <a:avLst/>
          </a:prstGeom>
          <a:noFill/>
        </p:spPr>
        <p:txBody>
          <a:bodyPr wrap="square" rtlCol="0">
            <a:spAutoFit/>
          </a:bodyPr>
          <a:lstStyle/>
          <a:p>
            <a:pPr>
              <a:lnSpc>
                <a:spcPct val="150000"/>
              </a:lnSpc>
            </a:pPr>
            <a:r>
              <a:rPr lang="fr-FR" sz="2000" dirty="0"/>
              <a:t>Pour chaque paire de lucioles (</a:t>
            </a:r>
            <a:r>
              <a:rPr lang="fr-FR" sz="2000" dirty="0" err="1"/>
              <a:t>i,j</a:t>
            </a:r>
            <a:r>
              <a:rPr lang="fr-FR" sz="2000" dirty="0"/>
              <a:t>)</a:t>
            </a:r>
          </a:p>
          <a:p>
            <a:pPr>
              <a:lnSpc>
                <a:spcPct val="150000"/>
              </a:lnSpc>
            </a:pPr>
            <a:r>
              <a:rPr lang="fr-FR" sz="2000" dirty="0"/>
              <a:t>la </a:t>
            </a:r>
            <a:r>
              <a:rPr lang="fr-FR" sz="2000" b="1" dirty="0"/>
              <a:t>distance euclidienne entre xi et </a:t>
            </a:r>
            <a:r>
              <a:rPr lang="fr-FR" sz="2000" b="1" dirty="0" err="1"/>
              <a:t>xj</a:t>
            </a:r>
            <a:r>
              <a:rPr lang="fr-FR" sz="2000" b="1" dirty="0"/>
              <a:t> </a:t>
            </a:r>
            <a:endParaRPr lang="fr-FR" sz="2000" dirty="0"/>
          </a:p>
        </p:txBody>
      </p:sp>
      <p:pic>
        <p:nvPicPr>
          <p:cNvPr id="40" name="Image 39">
            <a:extLst>
              <a:ext uri="{FF2B5EF4-FFF2-40B4-BE49-F238E27FC236}">
                <a16:creationId xmlns:a16="http://schemas.microsoft.com/office/drawing/2014/main" id="{34D357F5-7BC4-D1B0-4B30-5F3BCF12DFA5}"/>
              </a:ext>
            </a:extLst>
          </p:cNvPr>
          <p:cNvPicPr>
            <a:picLocks noChangeAspect="1"/>
          </p:cNvPicPr>
          <p:nvPr/>
        </p:nvPicPr>
        <p:blipFill>
          <a:blip r:embed="rId3"/>
          <a:stretch>
            <a:fillRect/>
          </a:stretch>
        </p:blipFill>
        <p:spPr>
          <a:xfrm>
            <a:off x="13768537" y="3847797"/>
            <a:ext cx="4890472" cy="1324113"/>
          </a:xfrm>
          <a:prstGeom prst="rect">
            <a:avLst/>
          </a:prstGeom>
        </p:spPr>
      </p:pic>
      <p:cxnSp>
        <p:nvCxnSpPr>
          <p:cNvPr id="41" name="Connecteur droit avec flèche 40">
            <a:extLst>
              <a:ext uri="{FF2B5EF4-FFF2-40B4-BE49-F238E27FC236}">
                <a16:creationId xmlns:a16="http://schemas.microsoft.com/office/drawing/2014/main" id="{6A855208-AAE8-ED16-A685-27B950936832}"/>
              </a:ext>
            </a:extLst>
          </p:cNvPr>
          <p:cNvCxnSpPr>
            <a:cxnSpLocks/>
          </p:cNvCxnSpPr>
          <p:nvPr/>
        </p:nvCxnSpPr>
        <p:spPr>
          <a:xfrm flipV="1">
            <a:off x="15568770" y="4210580"/>
            <a:ext cx="888052" cy="12243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ZoneTexte 41">
            <a:extLst>
              <a:ext uri="{FF2B5EF4-FFF2-40B4-BE49-F238E27FC236}">
                <a16:creationId xmlns:a16="http://schemas.microsoft.com/office/drawing/2014/main" id="{4F967803-A833-749C-FFD1-E6B8547AE262}"/>
              </a:ext>
            </a:extLst>
          </p:cNvPr>
          <p:cNvSpPr txBox="1"/>
          <p:nvPr/>
        </p:nvSpPr>
        <p:spPr>
          <a:xfrm>
            <a:off x="15180049" y="5444124"/>
            <a:ext cx="2823025" cy="369332"/>
          </a:xfrm>
          <a:prstGeom prst="rect">
            <a:avLst/>
          </a:prstGeom>
          <a:noFill/>
        </p:spPr>
        <p:txBody>
          <a:bodyPr wrap="square" rtlCol="0">
            <a:spAutoFit/>
          </a:bodyPr>
          <a:lstStyle/>
          <a:p>
            <a:r>
              <a:rPr lang="fr-FR" dirty="0"/>
              <a:t>la dimension du problème</a:t>
            </a:r>
          </a:p>
        </p:txBody>
      </p:sp>
      <p:sp>
        <p:nvSpPr>
          <p:cNvPr id="43" name="Rectangle 2">
            <a:extLst>
              <a:ext uri="{FF2B5EF4-FFF2-40B4-BE49-F238E27FC236}">
                <a16:creationId xmlns:a16="http://schemas.microsoft.com/office/drawing/2014/main" id="{F9486536-AC37-D0CD-9489-1B7501BCF5C8}"/>
              </a:ext>
            </a:extLst>
          </p:cNvPr>
          <p:cNvSpPr>
            <a:spLocks noChangeArrowheads="1"/>
          </p:cNvSpPr>
          <p:nvPr/>
        </p:nvSpPr>
        <p:spPr bwMode="auto">
          <a:xfrm>
            <a:off x="14647131" y="2199921"/>
            <a:ext cx="4945350" cy="3054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fr-FR" altLang="fr-FR" sz="3200" b="1" dirty="0">
                <a:solidFill>
                  <a:schemeClr val="tx2">
                    <a:lumMod val="60000"/>
                    <a:lumOff val="40000"/>
                  </a:schemeClr>
                </a:solidFill>
                <a:latin typeface="Aharoni" panose="02010803020104030203" pitchFamily="2" charset="-79"/>
                <a:cs typeface="Aharoni" panose="02010803020104030203" pitchFamily="2" charset="-79"/>
              </a:rPr>
              <a:t>Meilleure fitness globale </a:t>
            </a:r>
            <a:endParaRPr lang="fr-FR" altLang="fr-FR" sz="3200" dirty="0">
              <a:latin typeface="Arial" panose="020B0604020202020204" pitchFamily="34" charset="0"/>
              <a:cs typeface="Aharoni" panose="02010803020104030203" pitchFamily="2" charset="-79"/>
            </a:endParaRPr>
          </a:p>
          <a:p>
            <a:pPr algn="ctr" eaLnBrk="0" fontAlgn="base" hangingPunct="0">
              <a:lnSpc>
                <a:spcPct val="200000"/>
              </a:lnSpc>
              <a:spcBef>
                <a:spcPct val="0"/>
              </a:spcBef>
              <a:spcAft>
                <a:spcPct val="0"/>
              </a:spcAft>
            </a:pPr>
            <a:r>
              <a:rPr kumimoji="0" lang="fr-FR" altLang="fr-FR" sz="2800" b="0" i="0" u="none" strike="noStrike" cap="none" normalizeH="0" baseline="0" dirty="0">
                <a:ln>
                  <a:noFill/>
                </a:ln>
                <a:solidFill>
                  <a:schemeClr val="tx1"/>
                </a:solidFill>
                <a:effectLst/>
                <a:latin typeface="Aptos Display" panose="020B0004020202020204" pitchFamily="34" charset="0"/>
              </a:rPr>
              <a:t> la meilleure solution trouvée par toutes les lucioles à travers toutes les itérations.</a:t>
            </a:r>
          </a:p>
        </p:txBody>
      </p:sp>
      <p:sp>
        <p:nvSpPr>
          <p:cNvPr id="44" name="ZoneTexte 43">
            <a:extLst>
              <a:ext uri="{FF2B5EF4-FFF2-40B4-BE49-F238E27FC236}">
                <a16:creationId xmlns:a16="http://schemas.microsoft.com/office/drawing/2014/main" id="{AA8A5333-E56E-5942-02D8-FA302B79E6AF}"/>
              </a:ext>
            </a:extLst>
          </p:cNvPr>
          <p:cNvSpPr txBox="1"/>
          <p:nvPr/>
        </p:nvSpPr>
        <p:spPr>
          <a:xfrm>
            <a:off x="-6141499" y="2005006"/>
            <a:ext cx="4777512" cy="4408323"/>
          </a:xfrm>
          <a:prstGeom prst="rect">
            <a:avLst/>
          </a:prstGeom>
          <a:noFill/>
        </p:spPr>
        <p:txBody>
          <a:bodyPr wrap="square" rtlCol="0">
            <a:spAutoFit/>
          </a:bodyPr>
          <a:lstStyle/>
          <a:p>
            <a:pPr algn="ctr">
              <a:lnSpc>
                <a:spcPct val="200000"/>
              </a:lnSpc>
            </a:pPr>
            <a:r>
              <a:rPr kumimoji="0" lang="fr-FR" altLang="fr-FR" sz="3200" b="1" i="0" u="none" strike="noStrike" cap="none" normalizeH="0" baseline="0" dirty="0">
                <a:ln>
                  <a:noFill/>
                </a:ln>
                <a:solidFill>
                  <a:schemeClr val="tx2">
                    <a:lumMod val="60000"/>
                    <a:lumOff val="40000"/>
                  </a:schemeClr>
                </a:solidFill>
                <a:effectLst/>
                <a:latin typeface="Aharoni" panose="02010803020104030203" pitchFamily="2" charset="-79"/>
                <a:cs typeface="Aharoni" panose="02010803020104030203" pitchFamily="2" charset="-79"/>
              </a:rPr>
              <a:t>Meilleure fitness locale</a:t>
            </a:r>
            <a:r>
              <a:rPr kumimoji="0" lang="fr-FR" altLang="fr-FR" sz="3200" b="0" i="0" u="none" strike="noStrike" cap="none" normalizeH="0" baseline="0" dirty="0">
                <a:ln>
                  <a:noFill/>
                </a:ln>
                <a:solidFill>
                  <a:schemeClr val="tx2">
                    <a:lumMod val="60000"/>
                    <a:lumOff val="40000"/>
                  </a:schemeClr>
                </a:solidFill>
                <a:effectLst/>
                <a:latin typeface="Aharoni" panose="02010803020104030203" pitchFamily="2" charset="-79"/>
                <a:cs typeface="Aharoni" panose="02010803020104030203" pitchFamily="2" charset="-79"/>
              </a:rPr>
              <a:t> </a:t>
            </a:r>
          </a:p>
          <a:p>
            <a:pPr algn="ctr">
              <a:lnSpc>
                <a:spcPct val="200000"/>
              </a:lnSpc>
            </a:pPr>
            <a:r>
              <a:rPr kumimoji="0" lang="fr-FR" altLang="fr-FR" sz="2800" b="0" i="0" u="none" strike="noStrike" cap="none" normalizeH="0" baseline="0" dirty="0">
                <a:ln>
                  <a:noFill/>
                </a:ln>
                <a:solidFill>
                  <a:schemeClr val="tx1"/>
                </a:solidFill>
                <a:effectLst/>
                <a:latin typeface="Aptos Display" panose="020B0004020202020204" pitchFamily="34" charset="0"/>
              </a:rPr>
              <a:t>la meilleure solution qu'une luciole a trouvée jusqu’à un point.</a:t>
            </a:r>
          </a:p>
          <a:p>
            <a:pPr algn="ctr">
              <a:lnSpc>
                <a:spcPct val="200000"/>
              </a:lnSpc>
            </a:pPr>
            <a:endParaRPr lang="fr-FR" sz="2800" dirty="0">
              <a:latin typeface="Aptos Display" panose="020B0004020202020204" pitchFamily="34" charset="0"/>
            </a:endParaRPr>
          </a:p>
        </p:txBody>
      </p:sp>
    </p:spTree>
    <p:extLst>
      <p:ext uri="{BB962C8B-B14F-4D97-AF65-F5344CB8AC3E}">
        <p14:creationId xmlns:p14="http://schemas.microsoft.com/office/powerpoint/2010/main" val="25776303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3D0504F-7FCF-2270-FD20-C8E70811980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98C7387-4FE4-830B-8DE4-ACDF4C97093C}"/>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76FCB6F8-1652-3AF4-3031-B4AD6AE05CA0}"/>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4A913B80-183E-C537-AD77-CDDD18FE74EC}"/>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6542B9E3-0FEB-E4FB-C7E4-0F573FD031B5}"/>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4D3EBF9A-DF8B-54A8-53DB-077360E4DFC5}"/>
              </a:ext>
            </a:extLst>
          </p:cNvPr>
          <p:cNvSpPr txBox="1"/>
          <p:nvPr/>
        </p:nvSpPr>
        <p:spPr>
          <a:xfrm>
            <a:off x="695010" y="444671"/>
            <a:ext cx="9738073" cy="1077218"/>
          </a:xfrm>
          <a:prstGeom prst="rect">
            <a:avLst/>
          </a:prstGeom>
          <a:noFill/>
        </p:spPr>
        <p:txBody>
          <a:bodyPr wrap="square" rtlCol="0">
            <a:spAutoFit/>
          </a:bodyPr>
          <a:lstStyle/>
          <a:p>
            <a:r>
              <a:rPr lang="fr-FR" sz="3200" dirty="0">
                <a:solidFill>
                  <a:schemeClr val="tx2">
                    <a:lumMod val="75000"/>
                  </a:schemeClr>
                </a:solidFill>
                <a:latin typeface="Arial Black" panose="020B0A04020102020204" pitchFamily="34" charset="0"/>
              </a:rPr>
              <a:t>2. Paramètres principaux de l’algorithme des lucioles</a:t>
            </a:r>
          </a:p>
        </p:txBody>
      </p:sp>
      <p:sp>
        <p:nvSpPr>
          <p:cNvPr id="4" name="ZoneTexte 3">
            <a:extLst>
              <a:ext uri="{FF2B5EF4-FFF2-40B4-BE49-F238E27FC236}">
                <a16:creationId xmlns:a16="http://schemas.microsoft.com/office/drawing/2014/main" id="{49B5DEC4-6F6E-1A17-1897-7C8A0D1F4AA2}"/>
              </a:ext>
            </a:extLst>
          </p:cNvPr>
          <p:cNvSpPr txBox="1"/>
          <p:nvPr/>
        </p:nvSpPr>
        <p:spPr>
          <a:xfrm>
            <a:off x="799057" y="1862637"/>
            <a:ext cx="4488519" cy="523220"/>
          </a:xfrm>
          <a:prstGeom prst="rect">
            <a:avLst/>
          </a:prstGeom>
          <a:noFill/>
        </p:spPr>
        <p:txBody>
          <a:bodyPr wrap="square" rtlCol="0">
            <a:spAutoFit/>
          </a:bodyPr>
          <a:lstStyle/>
          <a:p>
            <a:r>
              <a:rPr lang="fr-FR" sz="2800" b="1" dirty="0">
                <a:solidFill>
                  <a:schemeClr val="accent2">
                    <a:lumMod val="50000"/>
                  </a:schemeClr>
                </a:solidFill>
              </a:rPr>
              <a:t>2.1. Intensité lumineuse </a:t>
            </a:r>
          </a:p>
        </p:txBody>
      </p:sp>
      <p:pic>
        <p:nvPicPr>
          <p:cNvPr id="6" name="Image 5">
            <a:extLst>
              <a:ext uri="{FF2B5EF4-FFF2-40B4-BE49-F238E27FC236}">
                <a16:creationId xmlns:a16="http://schemas.microsoft.com/office/drawing/2014/main" id="{153CFF35-FE32-F90A-C805-58F627AC757C}"/>
              </a:ext>
            </a:extLst>
          </p:cNvPr>
          <p:cNvPicPr>
            <a:picLocks noChangeAspect="1"/>
          </p:cNvPicPr>
          <p:nvPr/>
        </p:nvPicPr>
        <p:blipFill>
          <a:blip r:embed="rId2"/>
          <a:stretch>
            <a:fillRect/>
          </a:stretch>
        </p:blipFill>
        <p:spPr>
          <a:xfrm>
            <a:off x="976671" y="2852213"/>
            <a:ext cx="3060107" cy="1029463"/>
          </a:xfrm>
          <a:prstGeom prst="rect">
            <a:avLst/>
          </a:prstGeom>
        </p:spPr>
      </p:pic>
      <p:sp>
        <p:nvSpPr>
          <p:cNvPr id="17" name="ZoneTexte 16">
            <a:extLst>
              <a:ext uri="{FF2B5EF4-FFF2-40B4-BE49-F238E27FC236}">
                <a16:creationId xmlns:a16="http://schemas.microsoft.com/office/drawing/2014/main" id="{6236341A-A75B-B07E-2B37-47B14344EBE6}"/>
              </a:ext>
            </a:extLst>
          </p:cNvPr>
          <p:cNvSpPr txBox="1"/>
          <p:nvPr/>
        </p:nvSpPr>
        <p:spPr>
          <a:xfrm>
            <a:off x="893184" y="4097383"/>
            <a:ext cx="3362937" cy="1446550"/>
          </a:xfrm>
          <a:prstGeom prst="rect">
            <a:avLst/>
          </a:prstGeom>
          <a:noFill/>
        </p:spPr>
        <p:txBody>
          <a:bodyPr wrap="square" rtlCol="0">
            <a:spAutoFit/>
          </a:bodyPr>
          <a:lstStyle/>
          <a:p>
            <a:r>
              <a:rPr lang="fr-FR" sz="2000" b="1" dirty="0">
                <a:latin typeface="Andalus" panose="02020603050405020304" pitchFamily="18" charset="-78"/>
                <a:cs typeface="Andalus" panose="02020603050405020304" pitchFamily="18" charset="-78"/>
              </a:rPr>
              <a:t>I (r )  </a:t>
            </a:r>
            <a:r>
              <a:rPr lang="fr-FR" sz="1600" b="1" dirty="0"/>
              <a:t>= intensité perçue</a:t>
            </a:r>
            <a:r>
              <a:rPr lang="fr-FR" sz="1600" dirty="0"/>
              <a:t> à une distance r</a:t>
            </a:r>
          </a:p>
          <a:p>
            <a:r>
              <a:rPr lang="fr-FR" sz="2000" b="1" dirty="0">
                <a:latin typeface="Andalus" panose="02020603050405020304" pitchFamily="18" charset="-78"/>
                <a:cs typeface="Andalus" panose="02020603050405020304" pitchFamily="18" charset="-78"/>
              </a:rPr>
              <a:t>I</a:t>
            </a:r>
            <a:r>
              <a:rPr lang="fr-FR" sz="1200" b="1" dirty="0">
                <a:latin typeface="Andalus" panose="02020603050405020304" pitchFamily="18" charset="-78"/>
                <a:cs typeface="Andalus" panose="02020603050405020304" pitchFamily="18" charset="-78"/>
              </a:rPr>
              <a:t>0</a:t>
            </a:r>
            <a:r>
              <a:rPr lang="fr-FR" sz="2000" b="1" dirty="0">
                <a:latin typeface="Andalus" panose="02020603050405020304" pitchFamily="18" charset="-78"/>
                <a:cs typeface="Andalus" panose="02020603050405020304" pitchFamily="18" charset="-78"/>
              </a:rPr>
              <a:t> </a:t>
            </a:r>
            <a:r>
              <a:rPr lang="fr-FR" sz="1600" b="1" dirty="0"/>
              <a:t>= intensité à la source</a:t>
            </a:r>
            <a:r>
              <a:rPr lang="fr-FR" sz="1600" dirty="0"/>
              <a:t> (souvent égale à la valeur de la fonction objectif)</a:t>
            </a:r>
          </a:p>
        </p:txBody>
      </p:sp>
      <p:sp>
        <p:nvSpPr>
          <p:cNvPr id="20" name="ZoneTexte 19">
            <a:extLst>
              <a:ext uri="{FF2B5EF4-FFF2-40B4-BE49-F238E27FC236}">
                <a16:creationId xmlns:a16="http://schemas.microsoft.com/office/drawing/2014/main" id="{D9A30041-0637-190A-D393-4676815AD7CE}"/>
              </a:ext>
            </a:extLst>
          </p:cNvPr>
          <p:cNvSpPr txBox="1"/>
          <p:nvPr/>
        </p:nvSpPr>
        <p:spPr>
          <a:xfrm>
            <a:off x="6092488" y="1805211"/>
            <a:ext cx="4488519" cy="954107"/>
          </a:xfrm>
          <a:prstGeom prst="rect">
            <a:avLst/>
          </a:prstGeom>
          <a:noFill/>
        </p:spPr>
        <p:txBody>
          <a:bodyPr wrap="square" rtlCol="0">
            <a:spAutoFit/>
          </a:bodyPr>
          <a:lstStyle/>
          <a:p>
            <a:r>
              <a:rPr lang="fr-FR" sz="2800" b="1" dirty="0">
                <a:solidFill>
                  <a:schemeClr val="accent2">
                    <a:lumMod val="50000"/>
                  </a:schemeClr>
                </a:solidFill>
              </a:rPr>
              <a:t>2.2. Distance entre deux lucioles r</a:t>
            </a:r>
          </a:p>
        </p:txBody>
      </p:sp>
      <p:sp>
        <p:nvSpPr>
          <p:cNvPr id="21" name="ZoneTexte 20">
            <a:extLst>
              <a:ext uri="{FF2B5EF4-FFF2-40B4-BE49-F238E27FC236}">
                <a16:creationId xmlns:a16="http://schemas.microsoft.com/office/drawing/2014/main" id="{781DFF26-33D6-19A0-E65F-51DC25124B96}"/>
              </a:ext>
            </a:extLst>
          </p:cNvPr>
          <p:cNvSpPr txBox="1"/>
          <p:nvPr/>
        </p:nvSpPr>
        <p:spPr>
          <a:xfrm>
            <a:off x="6092488" y="3012943"/>
            <a:ext cx="4488519" cy="967957"/>
          </a:xfrm>
          <a:prstGeom prst="rect">
            <a:avLst/>
          </a:prstGeom>
          <a:noFill/>
        </p:spPr>
        <p:txBody>
          <a:bodyPr wrap="square" rtlCol="0">
            <a:spAutoFit/>
          </a:bodyPr>
          <a:lstStyle/>
          <a:p>
            <a:pPr>
              <a:lnSpc>
                <a:spcPct val="150000"/>
              </a:lnSpc>
            </a:pPr>
            <a:r>
              <a:rPr lang="fr-FR" sz="2000" dirty="0"/>
              <a:t>Pour chaque paire de lucioles (</a:t>
            </a:r>
            <a:r>
              <a:rPr lang="fr-FR" sz="2000" dirty="0" err="1"/>
              <a:t>i,j</a:t>
            </a:r>
            <a:r>
              <a:rPr lang="fr-FR" sz="2000" dirty="0"/>
              <a:t>)</a:t>
            </a:r>
          </a:p>
          <a:p>
            <a:pPr>
              <a:lnSpc>
                <a:spcPct val="150000"/>
              </a:lnSpc>
            </a:pPr>
            <a:r>
              <a:rPr lang="fr-FR" sz="2000" dirty="0"/>
              <a:t>la </a:t>
            </a:r>
            <a:r>
              <a:rPr lang="fr-FR" sz="2000" b="1" dirty="0"/>
              <a:t>distance euclidienne entre xi et </a:t>
            </a:r>
            <a:r>
              <a:rPr lang="fr-FR" sz="2000" b="1" dirty="0" err="1"/>
              <a:t>xj</a:t>
            </a:r>
            <a:r>
              <a:rPr lang="fr-FR" sz="2000" b="1" dirty="0"/>
              <a:t> </a:t>
            </a:r>
            <a:endParaRPr lang="fr-FR" sz="2000" dirty="0"/>
          </a:p>
        </p:txBody>
      </p:sp>
      <p:pic>
        <p:nvPicPr>
          <p:cNvPr id="23" name="Image 22">
            <a:extLst>
              <a:ext uri="{FF2B5EF4-FFF2-40B4-BE49-F238E27FC236}">
                <a16:creationId xmlns:a16="http://schemas.microsoft.com/office/drawing/2014/main" id="{B94C3B5D-C913-B1CE-0667-0A5ADC1B5FA2}"/>
              </a:ext>
            </a:extLst>
          </p:cNvPr>
          <p:cNvPicPr>
            <a:picLocks noChangeAspect="1"/>
          </p:cNvPicPr>
          <p:nvPr/>
        </p:nvPicPr>
        <p:blipFill>
          <a:blip r:embed="rId3"/>
          <a:stretch>
            <a:fillRect/>
          </a:stretch>
        </p:blipFill>
        <p:spPr>
          <a:xfrm>
            <a:off x="6092488" y="4085529"/>
            <a:ext cx="4890472" cy="1324113"/>
          </a:xfrm>
          <a:prstGeom prst="rect">
            <a:avLst/>
          </a:prstGeom>
        </p:spPr>
      </p:pic>
      <p:cxnSp>
        <p:nvCxnSpPr>
          <p:cNvPr id="25" name="Connecteur droit avec flèche 24">
            <a:extLst>
              <a:ext uri="{FF2B5EF4-FFF2-40B4-BE49-F238E27FC236}">
                <a16:creationId xmlns:a16="http://schemas.microsoft.com/office/drawing/2014/main" id="{C197DF5A-0583-E535-AC62-CD7BEA2CF7CE}"/>
              </a:ext>
            </a:extLst>
          </p:cNvPr>
          <p:cNvCxnSpPr>
            <a:cxnSpLocks/>
          </p:cNvCxnSpPr>
          <p:nvPr/>
        </p:nvCxnSpPr>
        <p:spPr>
          <a:xfrm flipV="1">
            <a:off x="7892721" y="4448312"/>
            <a:ext cx="888052" cy="12243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ZoneTexte 26">
            <a:extLst>
              <a:ext uri="{FF2B5EF4-FFF2-40B4-BE49-F238E27FC236}">
                <a16:creationId xmlns:a16="http://schemas.microsoft.com/office/drawing/2014/main" id="{068470BD-C621-A6BB-E3A2-D7A2B6FE2D8E}"/>
              </a:ext>
            </a:extLst>
          </p:cNvPr>
          <p:cNvSpPr txBox="1"/>
          <p:nvPr/>
        </p:nvSpPr>
        <p:spPr>
          <a:xfrm>
            <a:off x="7504000" y="5681856"/>
            <a:ext cx="2823025" cy="369332"/>
          </a:xfrm>
          <a:prstGeom prst="rect">
            <a:avLst/>
          </a:prstGeom>
          <a:noFill/>
        </p:spPr>
        <p:txBody>
          <a:bodyPr wrap="square" rtlCol="0">
            <a:spAutoFit/>
          </a:bodyPr>
          <a:lstStyle/>
          <a:p>
            <a:r>
              <a:rPr lang="fr-FR" dirty="0"/>
              <a:t>la dimension du problème</a:t>
            </a:r>
          </a:p>
        </p:txBody>
      </p:sp>
      <p:pic>
        <p:nvPicPr>
          <p:cNvPr id="31" name="Image 30">
            <a:extLst>
              <a:ext uri="{FF2B5EF4-FFF2-40B4-BE49-F238E27FC236}">
                <a16:creationId xmlns:a16="http://schemas.microsoft.com/office/drawing/2014/main" id="{C2087349-99DA-2F33-C112-192963A1571B}"/>
              </a:ext>
            </a:extLst>
          </p:cNvPr>
          <p:cNvPicPr>
            <a:picLocks noChangeAspect="1"/>
          </p:cNvPicPr>
          <p:nvPr/>
        </p:nvPicPr>
        <p:blipFill>
          <a:blip r:embed="rId4"/>
          <a:stretch>
            <a:fillRect/>
          </a:stretch>
        </p:blipFill>
        <p:spPr>
          <a:xfrm>
            <a:off x="1378505" y="8067056"/>
            <a:ext cx="4189820" cy="1154792"/>
          </a:xfrm>
          <a:prstGeom prst="rect">
            <a:avLst/>
          </a:prstGeom>
        </p:spPr>
      </p:pic>
      <p:sp>
        <p:nvSpPr>
          <p:cNvPr id="32" name="Flèche : droite 31">
            <a:extLst>
              <a:ext uri="{FF2B5EF4-FFF2-40B4-BE49-F238E27FC236}">
                <a16:creationId xmlns:a16="http://schemas.microsoft.com/office/drawing/2014/main" id="{A597791E-5449-1AC6-841D-D73DE884FA34}"/>
              </a:ext>
            </a:extLst>
          </p:cNvPr>
          <p:cNvSpPr/>
          <p:nvPr/>
        </p:nvSpPr>
        <p:spPr>
          <a:xfrm>
            <a:off x="5997339" y="8453495"/>
            <a:ext cx="1838960" cy="381913"/>
          </a:xfrm>
          <a:prstGeom prst="rightArrow">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4" name="ZoneTexte 33">
            <a:extLst>
              <a:ext uri="{FF2B5EF4-FFF2-40B4-BE49-F238E27FC236}">
                <a16:creationId xmlns:a16="http://schemas.microsoft.com/office/drawing/2014/main" id="{4F782F89-AD0A-F5A5-1C3C-93D96B77B3BB}"/>
              </a:ext>
            </a:extLst>
          </p:cNvPr>
          <p:cNvSpPr txBox="1"/>
          <p:nvPr/>
        </p:nvSpPr>
        <p:spPr>
          <a:xfrm>
            <a:off x="8285479" y="8136619"/>
            <a:ext cx="3186385" cy="1015663"/>
          </a:xfrm>
          <a:prstGeom prst="rect">
            <a:avLst/>
          </a:prstGeom>
          <a:noFill/>
        </p:spPr>
        <p:txBody>
          <a:bodyPr wrap="square" rtlCol="0">
            <a:spAutoFit/>
          </a:bodyPr>
          <a:lstStyle/>
          <a:p>
            <a:pPr algn="ctr"/>
            <a:r>
              <a:rPr lang="fr-FR" sz="2000" b="1" dirty="0"/>
              <a:t>détermine à quel point une luciole est attirée</a:t>
            </a:r>
            <a:r>
              <a:rPr lang="fr-FR" sz="2000" dirty="0"/>
              <a:t> par une autre plus brillante.</a:t>
            </a:r>
          </a:p>
        </p:txBody>
      </p:sp>
      <p:cxnSp>
        <p:nvCxnSpPr>
          <p:cNvPr id="37" name="Connecteur droit avec flèche 36">
            <a:extLst>
              <a:ext uri="{FF2B5EF4-FFF2-40B4-BE49-F238E27FC236}">
                <a16:creationId xmlns:a16="http://schemas.microsoft.com/office/drawing/2014/main" id="{E05BD887-813E-30A1-3595-E9290EE8E5FB}"/>
              </a:ext>
            </a:extLst>
          </p:cNvPr>
          <p:cNvCxnSpPr>
            <a:cxnSpLocks/>
          </p:cNvCxnSpPr>
          <p:nvPr/>
        </p:nvCxnSpPr>
        <p:spPr>
          <a:xfrm flipH="1">
            <a:off x="1896200" y="8835408"/>
            <a:ext cx="20780" cy="10036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Connecteur droit avec flèche 37">
            <a:extLst>
              <a:ext uri="{FF2B5EF4-FFF2-40B4-BE49-F238E27FC236}">
                <a16:creationId xmlns:a16="http://schemas.microsoft.com/office/drawing/2014/main" id="{82174F6F-94AE-0E60-28AF-4BD171E7B312}"/>
              </a:ext>
            </a:extLst>
          </p:cNvPr>
          <p:cNvCxnSpPr>
            <a:cxnSpLocks/>
          </p:cNvCxnSpPr>
          <p:nvPr/>
        </p:nvCxnSpPr>
        <p:spPr>
          <a:xfrm>
            <a:off x="3136180" y="8835408"/>
            <a:ext cx="1394711" cy="11008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ZoneTexte 38">
            <a:extLst>
              <a:ext uri="{FF2B5EF4-FFF2-40B4-BE49-F238E27FC236}">
                <a16:creationId xmlns:a16="http://schemas.microsoft.com/office/drawing/2014/main" id="{7925259E-4399-8C7F-8041-D75FC64A2A1C}"/>
              </a:ext>
            </a:extLst>
          </p:cNvPr>
          <p:cNvSpPr txBox="1"/>
          <p:nvPr/>
        </p:nvSpPr>
        <p:spPr>
          <a:xfrm>
            <a:off x="989894" y="9964502"/>
            <a:ext cx="1812612" cy="646331"/>
          </a:xfrm>
          <a:prstGeom prst="rect">
            <a:avLst/>
          </a:prstGeom>
          <a:noFill/>
        </p:spPr>
        <p:txBody>
          <a:bodyPr wrap="square" rtlCol="0">
            <a:spAutoFit/>
          </a:bodyPr>
          <a:lstStyle/>
          <a:p>
            <a:pPr algn="ctr"/>
            <a:r>
              <a:rPr lang="fr-FR" dirty="0"/>
              <a:t>Attractivité à une distance r </a:t>
            </a:r>
          </a:p>
        </p:txBody>
      </p:sp>
      <p:sp>
        <p:nvSpPr>
          <p:cNvPr id="40" name="ZoneTexte 39">
            <a:extLst>
              <a:ext uri="{FF2B5EF4-FFF2-40B4-BE49-F238E27FC236}">
                <a16:creationId xmlns:a16="http://schemas.microsoft.com/office/drawing/2014/main" id="{C8130503-B44F-818C-89C6-DA05B1A2736B}"/>
              </a:ext>
            </a:extLst>
          </p:cNvPr>
          <p:cNvSpPr txBox="1"/>
          <p:nvPr/>
        </p:nvSpPr>
        <p:spPr>
          <a:xfrm>
            <a:off x="3762390" y="10046808"/>
            <a:ext cx="2330098" cy="646331"/>
          </a:xfrm>
          <a:prstGeom prst="rect">
            <a:avLst/>
          </a:prstGeom>
          <a:noFill/>
        </p:spPr>
        <p:txBody>
          <a:bodyPr wrap="square" rtlCol="0">
            <a:spAutoFit/>
          </a:bodyPr>
          <a:lstStyle/>
          <a:p>
            <a:pPr algn="ctr"/>
            <a:r>
              <a:rPr lang="fr-FR" dirty="0"/>
              <a:t>Attractivité Maximale </a:t>
            </a:r>
          </a:p>
          <a:p>
            <a:pPr algn="ctr"/>
            <a:r>
              <a:rPr lang="fr-FR" dirty="0"/>
              <a:t>À r=0</a:t>
            </a:r>
          </a:p>
        </p:txBody>
      </p:sp>
    </p:spTree>
    <p:extLst>
      <p:ext uri="{BB962C8B-B14F-4D97-AF65-F5344CB8AC3E}">
        <p14:creationId xmlns:p14="http://schemas.microsoft.com/office/powerpoint/2010/main" val="18388230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8C2C695-8519-F33E-727D-4566E1580B2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0D5E912-C883-EABF-0FED-37773CB504F8}"/>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471B0890-E630-7B76-2671-85D468538678}"/>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4C444FFE-4555-9C24-A309-F13A3BC944FD}"/>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14FA8971-7E56-E900-2201-482F77D579D2}"/>
              </a:ext>
            </a:extLst>
          </p:cNvPr>
          <p:cNvSpPr txBox="1"/>
          <p:nvPr/>
        </p:nvSpPr>
        <p:spPr>
          <a:xfrm>
            <a:off x="695010" y="444671"/>
            <a:ext cx="9738073" cy="1077218"/>
          </a:xfrm>
          <a:prstGeom prst="rect">
            <a:avLst/>
          </a:prstGeom>
          <a:noFill/>
        </p:spPr>
        <p:txBody>
          <a:bodyPr wrap="square" rtlCol="0">
            <a:spAutoFit/>
          </a:bodyPr>
          <a:lstStyle/>
          <a:p>
            <a:r>
              <a:rPr lang="fr-FR" sz="3200" dirty="0">
                <a:solidFill>
                  <a:schemeClr val="tx2">
                    <a:lumMod val="75000"/>
                  </a:schemeClr>
                </a:solidFill>
                <a:latin typeface="Arial Black" panose="020B0A04020102020204" pitchFamily="34" charset="0"/>
              </a:rPr>
              <a:t>2. Paramètres principaux de l’algorithme des lucioles</a:t>
            </a:r>
          </a:p>
        </p:txBody>
      </p:sp>
      <p:sp>
        <p:nvSpPr>
          <p:cNvPr id="4" name="ZoneTexte 3">
            <a:extLst>
              <a:ext uri="{FF2B5EF4-FFF2-40B4-BE49-F238E27FC236}">
                <a16:creationId xmlns:a16="http://schemas.microsoft.com/office/drawing/2014/main" id="{48111F2D-82C3-56D1-F863-D6D136DE2C8D}"/>
              </a:ext>
            </a:extLst>
          </p:cNvPr>
          <p:cNvSpPr txBox="1"/>
          <p:nvPr/>
        </p:nvSpPr>
        <p:spPr>
          <a:xfrm>
            <a:off x="799057" y="1862637"/>
            <a:ext cx="4488519" cy="523220"/>
          </a:xfrm>
          <a:prstGeom prst="rect">
            <a:avLst/>
          </a:prstGeom>
          <a:noFill/>
        </p:spPr>
        <p:txBody>
          <a:bodyPr wrap="square" rtlCol="0">
            <a:spAutoFit/>
          </a:bodyPr>
          <a:lstStyle/>
          <a:p>
            <a:r>
              <a:rPr lang="fr-FR" sz="2800" b="1" dirty="0">
                <a:solidFill>
                  <a:schemeClr val="accent2">
                    <a:lumMod val="50000"/>
                  </a:schemeClr>
                </a:solidFill>
              </a:rPr>
              <a:t>2.3. Attractivité de la luciole </a:t>
            </a:r>
          </a:p>
        </p:txBody>
      </p:sp>
      <p:pic>
        <p:nvPicPr>
          <p:cNvPr id="22" name="Image 21">
            <a:extLst>
              <a:ext uri="{FF2B5EF4-FFF2-40B4-BE49-F238E27FC236}">
                <a16:creationId xmlns:a16="http://schemas.microsoft.com/office/drawing/2014/main" id="{A7DEEEC7-22B4-F3C6-D5EC-5365A843DDA1}"/>
              </a:ext>
            </a:extLst>
          </p:cNvPr>
          <p:cNvPicPr>
            <a:picLocks noChangeAspect="1"/>
          </p:cNvPicPr>
          <p:nvPr/>
        </p:nvPicPr>
        <p:blipFill>
          <a:blip r:embed="rId2"/>
          <a:stretch>
            <a:fillRect/>
          </a:stretch>
        </p:blipFill>
        <p:spPr>
          <a:xfrm>
            <a:off x="1429774" y="3210817"/>
            <a:ext cx="4189820" cy="1154792"/>
          </a:xfrm>
          <a:prstGeom prst="rect">
            <a:avLst/>
          </a:prstGeom>
        </p:spPr>
      </p:pic>
      <p:sp>
        <p:nvSpPr>
          <p:cNvPr id="24" name="Flèche : droite 23">
            <a:extLst>
              <a:ext uri="{FF2B5EF4-FFF2-40B4-BE49-F238E27FC236}">
                <a16:creationId xmlns:a16="http://schemas.microsoft.com/office/drawing/2014/main" id="{5EB7AB59-0C95-F886-B06F-07A0990B335F}"/>
              </a:ext>
            </a:extLst>
          </p:cNvPr>
          <p:cNvSpPr/>
          <p:nvPr/>
        </p:nvSpPr>
        <p:spPr>
          <a:xfrm>
            <a:off x="6048608" y="3597256"/>
            <a:ext cx="1838960" cy="381913"/>
          </a:xfrm>
          <a:prstGeom prst="rightArrow">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ZoneTexte 25">
            <a:extLst>
              <a:ext uri="{FF2B5EF4-FFF2-40B4-BE49-F238E27FC236}">
                <a16:creationId xmlns:a16="http://schemas.microsoft.com/office/drawing/2014/main" id="{E812A2ED-FD96-31EE-06D6-0801A751BE1F}"/>
              </a:ext>
            </a:extLst>
          </p:cNvPr>
          <p:cNvSpPr txBox="1"/>
          <p:nvPr/>
        </p:nvSpPr>
        <p:spPr>
          <a:xfrm>
            <a:off x="8336748" y="3280380"/>
            <a:ext cx="3186385" cy="1015663"/>
          </a:xfrm>
          <a:prstGeom prst="rect">
            <a:avLst/>
          </a:prstGeom>
          <a:noFill/>
        </p:spPr>
        <p:txBody>
          <a:bodyPr wrap="square" rtlCol="0">
            <a:spAutoFit/>
          </a:bodyPr>
          <a:lstStyle/>
          <a:p>
            <a:pPr algn="ctr"/>
            <a:r>
              <a:rPr lang="fr-FR" sz="2000" b="1" dirty="0"/>
              <a:t>détermine à quel point une luciole est attirée</a:t>
            </a:r>
            <a:r>
              <a:rPr lang="fr-FR" sz="2000" dirty="0"/>
              <a:t> par une autre plus brillante.</a:t>
            </a:r>
          </a:p>
        </p:txBody>
      </p:sp>
      <p:cxnSp>
        <p:nvCxnSpPr>
          <p:cNvPr id="29" name="Connecteur droit avec flèche 28">
            <a:extLst>
              <a:ext uri="{FF2B5EF4-FFF2-40B4-BE49-F238E27FC236}">
                <a16:creationId xmlns:a16="http://schemas.microsoft.com/office/drawing/2014/main" id="{D3B07F32-311B-3FCD-2A2F-E090B174FDB2}"/>
              </a:ext>
            </a:extLst>
          </p:cNvPr>
          <p:cNvCxnSpPr>
            <a:cxnSpLocks/>
          </p:cNvCxnSpPr>
          <p:nvPr/>
        </p:nvCxnSpPr>
        <p:spPr>
          <a:xfrm flipH="1">
            <a:off x="1947469" y="3979169"/>
            <a:ext cx="20780" cy="10036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Connecteur droit avec flèche 29">
            <a:extLst>
              <a:ext uri="{FF2B5EF4-FFF2-40B4-BE49-F238E27FC236}">
                <a16:creationId xmlns:a16="http://schemas.microsoft.com/office/drawing/2014/main" id="{5166D372-68A0-6266-3782-5F25C6DC63E4}"/>
              </a:ext>
            </a:extLst>
          </p:cNvPr>
          <p:cNvCxnSpPr>
            <a:cxnSpLocks/>
          </p:cNvCxnSpPr>
          <p:nvPr/>
        </p:nvCxnSpPr>
        <p:spPr>
          <a:xfrm>
            <a:off x="3187449" y="3979169"/>
            <a:ext cx="1394711" cy="11008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ZoneTexte 30">
            <a:extLst>
              <a:ext uri="{FF2B5EF4-FFF2-40B4-BE49-F238E27FC236}">
                <a16:creationId xmlns:a16="http://schemas.microsoft.com/office/drawing/2014/main" id="{FCA4C2EC-BCF3-B3C1-D940-ABB96CA650D2}"/>
              </a:ext>
            </a:extLst>
          </p:cNvPr>
          <p:cNvSpPr txBox="1"/>
          <p:nvPr/>
        </p:nvSpPr>
        <p:spPr>
          <a:xfrm>
            <a:off x="1041163" y="5108263"/>
            <a:ext cx="1812612" cy="646331"/>
          </a:xfrm>
          <a:prstGeom prst="rect">
            <a:avLst/>
          </a:prstGeom>
          <a:noFill/>
        </p:spPr>
        <p:txBody>
          <a:bodyPr wrap="square" rtlCol="0">
            <a:spAutoFit/>
          </a:bodyPr>
          <a:lstStyle/>
          <a:p>
            <a:pPr algn="ctr"/>
            <a:r>
              <a:rPr lang="fr-FR" dirty="0"/>
              <a:t>Attractivité à une distance r </a:t>
            </a:r>
          </a:p>
        </p:txBody>
      </p:sp>
      <p:sp>
        <p:nvSpPr>
          <p:cNvPr id="32" name="ZoneTexte 31">
            <a:extLst>
              <a:ext uri="{FF2B5EF4-FFF2-40B4-BE49-F238E27FC236}">
                <a16:creationId xmlns:a16="http://schemas.microsoft.com/office/drawing/2014/main" id="{71EE7D25-0CFD-A1A8-6D55-3409DA4CF962}"/>
              </a:ext>
            </a:extLst>
          </p:cNvPr>
          <p:cNvSpPr txBox="1"/>
          <p:nvPr/>
        </p:nvSpPr>
        <p:spPr>
          <a:xfrm>
            <a:off x="3813659" y="5190569"/>
            <a:ext cx="2330098" cy="646331"/>
          </a:xfrm>
          <a:prstGeom prst="rect">
            <a:avLst/>
          </a:prstGeom>
          <a:noFill/>
        </p:spPr>
        <p:txBody>
          <a:bodyPr wrap="square" rtlCol="0">
            <a:spAutoFit/>
          </a:bodyPr>
          <a:lstStyle/>
          <a:p>
            <a:pPr algn="ctr"/>
            <a:r>
              <a:rPr lang="fr-FR" dirty="0"/>
              <a:t>Attractivité Maximale </a:t>
            </a:r>
          </a:p>
          <a:p>
            <a:pPr algn="ctr"/>
            <a:r>
              <a:rPr lang="fr-FR" dirty="0"/>
              <a:t>À r=0</a:t>
            </a:r>
          </a:p>
        </p:txBody>
      </p:sp>
      <p:sp>
        <p:nvSpPr>
          <p:cNvPr id="40" name="ZoneTexte 39">
            <a:extLst>
              <a:ext uri="{FF2B5EF4-FFF2-40B4-BE49-F238E27FC236}">
                <a16:creationId xmlns:a16="http://schemas.microsoft.com/office/drawing/2014/main" id="{4227892F-F6BD-2EE9-A2B5-DF42B26D8CA9}"/>
              </a:ext>
            </a:extLst>
          </p:cNvPr>
          <p:cNvSpPr txBox="1"/>
          <p:nvPr/>
        </p:nvSpPr>
        <p:spPr>
          <a:xfrm>
            <a:off x="242436" y="8039519"/>
            <a:ext cx="6275723" cy="707886"/>
          </a:xfrm>
          <a:prstGeom prst="rect">
            <a:avLst/>
          </a:prstGeom>
          <a:noFill/>
        </p:spPr>
        <p:txBody>
          <a:bodyPr wrap="square" rtlCol="0">
            <a:spAutoFit/>
          </a:bodyPr>
          <a:lstStyle/>
          <a:p>
            <a:r>
              <a:rPr lang="fr-FR" sz="2000" dirty="0"/>
              <a:t>À chaque itération t, chaque </a:t>
            </a:r>
            <a:r>
              <a:rPr lang="fr-FR" sz="2000" b="1" dirty="0"/>
              <a:t>luciole i </a:t>
            </a:r>
            <a:r>
              <a:rPr lang="fr-FR" sz="2000" dirty="0"/>
              <a:t>se déplace vers les </a:t>
            </a:r>
            <a:r>
              <a:rPr lang="fr-FR" sz="2000" b="1" dirty="0"/>
              <a:t>lucioles plus brillantes j </a:t>
            </a:r>
            <a:r>
              <a:rPr lang="fr-FR" sz="2000" dirty="0"/>
              <a:t>suivant l'équation suivante :</a:t>
            </a:r>
          </a:p>
        </p:txBody>
      </p:sp>
      <p:pic>
        <p:nvPicPr>
          <p:cNvPr id="41" name="Image 40">
            <a:extLst>
              <a:ext uri="{FF2B5EF4-FFF2-40B4-BE49-F238E27FC236}">
                <a16:creationId xmlns:a16="http://schemas.microsoft.com/office/drawing/2014/main" id="{D83E7A11-11D6-C6E1-9528-DA4B766AF99A}"/>
              </a:ext>
            </a:extLst>
          </p:cNvPr>
          <p:cNvPicPr>
            <a:picLocks noChangeAspect="1"/>
          </p:cNvPicPr>
          <p:nvPr/>
        </p:nvPicPr>
        <p:blipFill>
          <a:blip r:embed="rId3"/>
          <a:stretch>
            <a:fillRect/>
          </a:stretch>
        </p:blipFill>
        <p:spPr>
          <a:xfrm>
            <a:off x="438519" y="9513259"/>
            <a:ext cx="10524631" cy="1140168"/>
          </a:xfrm>
          <a:prstGeom prst="rect">
            <a:avLst/>
          </a:prstGeom>
        </p:spPr>
      </p:pic>
      <p:sp>
        <p:nvSpPr>
          <p:cNvPr id="42" name="Accolade ouvrante 41">
            <a:extLst>
              <a:ext uri="{FF2B5EF4-FFF2-40B4-BE49-F238E27FC236}">
                <a16:creationId xmlns:a16="http://schemas.microsoft.com/office/drawing/2014/main" id="{115B9BD7-B772-F528-5A11-D18BFEBC2FA2}"/>
              </a:ext>
            </a:extLst>
          </p:cNvPr>
          <p:cNvSpPr/>
          <p:nvPr/>
        </p:nvSpPr>
        <p:spPr>
          <a:xfrm rot="16200000">
            <a:off x="5506989" y="9219385"/>
            <a:ext cx="407064" cy="3495988"/>
          </a:xfrm>
          <a:prstGeom prst="leftBrace">
            <a:avLst/>
          </a:prstGeom>
          <a:ln w="285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43" name="Accolade ouvrante 42">
            <a:extLst>
              <a:ext uri="{FF2B5EF4-FFF2-40B4-BE49-F238E27FC236}">
                <a16:creationId xmlns:a16="http://schemas.microsoft.com/office/drawing/2014/main" id="{3388F561-C053-E31A-15D4-2B9C140C7BFA}"/>
              </a:ext>
            </a:extLst>
          </p:cNvPr>
          <p:cNvSpPr/>
          <p:nvPr/>
        </p:nvSpPr>
        <p:spPr>
          <a:xfrm rot="16200000">
            <a:off x="8978901" y="9630631"/>
            <a:ext cx="407064" cy="2652865"/>
          </a:xfrm>
          <a:prstGeom prst="leftBrace">
            <a:avLst/>
          </a:prstGeom>
          <a:ln w="38100">
            <a:solidFill>
              <a:schemeClr val="accent2">
                <a:lumMod val="50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fr-FR"/>
          </a:p>
        </p:txBody>
      </p:sp>
      <p:cxnSp>
        <p:nvCxnSpPr>
          <p:cNvPr id="44" name="Connecteur droit avec flèche 43">
            <a:extLst>
              <a:ext uri="{FF2B5EF4-FFF2-40B4-BE49-F238E27FC236}">
                <a16:creationId xmlns:a16="http://schemas.microsoft.com/office/drawing/2014/main" id="{ED63CBDC-2EB6-C45A-D02D-165A6AFCB88A}"/>
              </a:ext>
            </a:extLst>
          </p:cNvPr>
          <p:cNvCxnSpPr>
            <a:cxnSpLocks/>
            <a:stCxn id="46" idx="2"/>
          </p:cNvCxnSpPr>
          <p:nvPr/>
        </p:nvCxnSpPr>
        <p:spPr>
          <a:xfrm>
            <a:off x="8007229" y="8888586"/>
            <a:ext cx="0" cy="9468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Connecteur droit avec flèche 44">
            <a:extLst>
              <a:ext uri="{FF2B5EF4-FFF2-40B4-BE49-F238E27FC236}">
                <a16:creationId xmlns:a16="http://schemas.microsoft.com/office/drawing/2014/main" id="{8B80235E-5B08-5535-78EF-5BD84F1676A8}"/>
              </a:ext>
            </a:extLst>
          </p:cNvPr>
          <p:cNvCxnSpPr>
            <a:cxnSpLocks/>
            <a:stCxn id="47" idx="2"/>
          </p:cNvCxnSpPr>
          <p:nvPr/>
        </p:nvCxnSpPr>
        <p:spPr>
          <a:xfrm flipH="1">
            <a:off x="8830679" y="8929435"/>
            <a:ext cx="1678187" cy="9566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ZoneTexte 45">
            <a:extLst>
              <a:ext uri="{FF2B5EF4-FFF2-40B4-BE49-F238E27FC236}">
                <a16:creationId xmlns:a16="http://schemas.microsoft.com/office/drawing/2014/main" id="{2CA19BB8-77F1-52DF-9FDB-8A6BEF3C7A85}"/>
              </a:ext>
            </a:extLst>
          </p:cNvPr>
          <p:cNvSpPr txBox="1"/>
          <p:nvPr/>
        </p:nvSpPr>
        <p:spPr>
          <a:xfrm>
            <a:off x="6859767" y="8242255"/>
            <a:ext cx="2294923" cy="646331"/>
          </a:xfrm>
          <a:prstGeom prst="rect">
            <a:avLst/>
          </a:prstGeom>
          <a:noFill/>
        </p:spPr>
        <p:txBody>
          <a:bodyPr wrap="square" rtlCol="0">
            <a:spAutoFit/>
          </a:bodyPr>
          <a:lstStyle/>
          <a:p>
            <a:pPr algn="ctr"/>
            <a:r>
              <a:rPr lang="fr-FR" dirty="0"/>
              <a:t>Facteur d’aléa</a:t>
            </a:r>
          </a:p>
          <a:p>
            <a:pPr algn="ctr"/>
            <a:r>
              <a:rPr lang="fr-FR" dirty="0"/>
              <a:t>(pour l’exploration) </a:t>
            </a:r>
          </a:p>
        </p:txBody>
      </p:sp>
      <p:sp>
        <p:nvSpPr>
          <p:cNvPr id="47" name="ZoneTexte 46">
            <a:extLst>
              <a:ext uri="{FF2B5EF4-FFF2-40B4-BE49-F238E27FC236}">
                <a16:creationId xmlns:a16="http://schemas.microsoft.com/office/drawing/2014/main" id="{94656B0B-922A-F93B-D00E-39C9D3EE91A2}"/>
              </a:ext>
            </a:extLst>
          </p:cNvPr>
          <p:cNvSpPr txBox="1"/>
          <p:nvPr/>
        </p:nvSpPr>
        <p:spPr>
          <a:xfrm>
            <a:off x="9361404" y="8283104"/>
            <a:ext cx="2294923" cy="646331"/>
          </a:xfrm>
          <a:prstGeom prst="rect">
            <a:avLst/>
          </a:prstGeom>
          <a:noFill/>
        </p:spPr>
        <p:txBody>
          <a:bodyPr wrap="square" rtlCol="0">
            <a:spAutoFit/>
          </a:bodyPr>
          <a:lstStyle/>
          <a:p>
            <a:r>
              <a:rPr lang="fr-FR" dirty="0"/>
              <a:t>Valeur aléatoire dans l'intervalle [0,1]</a:t>
            </a:r>
          </a:p>
        </p:txBody>
      </p:sp>
      <p:sp>
        <p:nvSpPr>
          <p:cNvPr id="48" name="ZoneTexte 47">
            <a:extLst>
              <a:ext uri="{FF2B5EF4-FFF2-40B4-BE49-F238E27FC236}">
                <a16:creationId xmlns:a16="http://schemas.microsoft.com/office/drawing/2014/main" id="{B3740202-F1D1-73B4-20C0-1B4A07D6104C}"/>
              </a:ext>
            </a:extLst>
          </p:cNvPr>
          <p:cNvSpPr txBox="1"/>
          <p:nvPr/>
        </p:nvSpPr>
        <p:spPr>
          <a:xfrm>
            <a:off x="4269452" y="11296792"/>
            <a:ext cx="2882138" cy="369332"/>
          </a:xfrm>
          <a:prstGeom prst="rect">
            <a:avLst/>
          </a:prstGeom>
          <a:noFill/>
        </p:spPr>
        <p:txBody>
          <a:bodyPr wrap="square" rtlCol="0">
            <a:spAutoFit/>
          </a:bodyPr>
          <a:lstStyle/>
          <a:p>
            <a:pPr algn="ctr"/>
            <a:r>
              <a:rPr lang="fr-FR" dirty="0">
                <a:solidFill>
                  <a:schemeClr val="accent2">
                    <a:lumMod val="50000"/>
                  </a:schemeClr>
                </a:solidFill>
                <a:latin typeface="Aharoni" panose="02010803020104030203" pitchFamily="2" charset="-79"/>
                <a:cs typeface="Aharoni" panose="02010803020104030203" pitchFamily="2" charset="-79"/>
              </a:rPr>
              <a:t>Exploitation</a:t>
            </a:r>
          </a:p>
        </p:txBody>
      </p:sp>
      <p:sp>
        <p:nvSpPr>
          <p:cNvPr id="49" name="ZoneTexte 48">
            <a:extLst>
              <a:ext uri="{FF2B5EF4-FFF2-40B4-BE49-F238E27FC236}">
                <a16:creationId xmlns:a16="http://schemas.microsoft.com/office/drawing/2014/main" id="{CA77145D-97A2-D8D2-E327-EB82061C4D8A}"/>
              </a:ext>
            </a:extLst>
          </p:cNvPr>
          <p:cNvSpPr txBox="1"/>
          <p:nvPr/>
        </p:nvSpPr>
        <p:spPr>
          <a:xfrm>
            <a:off x="7741364" y="11260700"/>
            <a:ext cx="2882138" cy="369332"/>
          </a:xfrm>
          <a:prstGeom prst="rect">
            <a:avLst/>
          </a:prstGeom>
          <a:noFill/>
        </p:spPr>
        <p:txBody>
          <a:bodyPr wrap="square" rtlCol="0">
            <a:spAutoFit/>
          </a:bodyPr>
          <a:lstStyle/>
          <a:p>
            <a:pPr algn="ctr"/>
            <a:r>
              <a:rPr lang="fr-FR" dirty="0">
                <a:solidFill>
                  <a:schemeClr val="accent2">
                    <a:lumMod val="50000"/>
                  </a:schemeClr>
                </a:solidFill>
                <a:latin typeface="Aharoni" panose="02010803020104030203" pitchFamily="2" charset="-79"/>
                <a:cs typeface="Aharoni" panose="02010803020104030203" pitchFamily="2" charset="-79"/>
              </a:rPr>
              <a:t>Exploration</a:t>
            </a:r>
          </a:p>
        </p:txBody>
      </p:sp>
      <p:sp>
        <p:nvSpPr>
          <p:cNvPr id="50" name="ZoneTexte 49">
            <a:extLst>
              <a:ext uri="{FF2B5EF4-FFF2-40B4-BE49-F238E27FC236}">
                <a16:creationId xmlns:a16="http://schemas.microsoft.com/office/drawing/2014/main" id="{68345894-C1BC-E1CE-474F-73702EF62C7E}"/>
              </a:ext>
            </a:extLst>
          </p:cNvPr>
          <p:cNvSpPr txBox="1"/>
          <p:nvPr/>
        </p:nvSpPr>
        <p:spPr>
          <a:xfrm>
            <a:off x="4155093" y="11737077"/>
            <a:ext cx="3281680" cy="646331"/>
          </a:xfrm>
          <a:prstGeom prst="rect">
            <a:avLst/>
          </a:prstGeom>
          <a:noFill/>
        </p:spPr>
        <p:txBody>
          <a:bodyPr wrap="square" rtlCol="0">
            <a:spAutoFit/>
          </a:bodyPr>
          <a:lstStyle/>
          <a:p>
            <a:pPr algn="ctr"/>
            <a:r>
              <a:rPr lang="fr-FR" dirty="0"/>
              <a:t>Se déplacer vers la luciole brillante avec </a:t>
            </a:r>
            <a:r>
              <a:rPr lang="el-GR" dirty="0"/>
              <a:t>β</a:t>
            </a:r>
            <a:r>
              <a:rPr lang="fr-FR" dirty="0"/>
              <a:t>​(r)</a:t>
            </a:r>
          </a:p>
        </p:txBody>
      </p:sp>
      <p:sp>
        <p:nvSpPr>
          <p:cNvPr id="51" name="ZoneTexte 50">
            <a:extLst>
              <a:ext uri="{FF2B5EF4-FFF2-40B4-BE49-F238E27FC236}">
                <a16:creationId xmlns:a16="http://schemas.microsoft.com/office/drawing/2014/main" id="{B73C480E-B466-5E74-820B-AFEA57C739B1}"/>
              </a:ext>
            </a:extLst>
          </p:cNvPr>
          <p:cNvSpPr txBox="1"/>
          <p:nvPr/>
        </p:nvSpPr>
        <p:spPr>
          <a:xfrm>
            <a:off x="7893752" y="11698499"/>
            <a:ext cx="2794000" cy="646331"/>
          </a:xfrm>
          <a:prstGeom prst="rect">
            <a:avLst/>
          </a:prstGeom>
          <a:noFill/>
        </p:spPr>
        <p:txBody>
          <a:bodyPr wrap="square" rtlCol="0">
            <a:spAutoFit/>
          </a:bodyPr>
          <a:lstStyle/>
          <a:p>
            <a:pPr algn="ctr"/>
            <a:r>
              <a:rPr lang="fr-FR" dirty="0"/>
              <a:t>Introduire une variation aléatoire avec </a:t>
            </a:r>
            <a:r>
              <a:rPr lang="el-GR" dirty="0"/>
              <a:t>α⋅(</a:t>
            </a:r>
            <a:r>
              <a:rPr lang="fr-FR" dirty="0"/>
              <a:t>rand−0.5)</a:t>
            </a:r>
          </a:p>
        </p:txBody>
      </p:sp>
    </p:spTree>
    <p:extLst>
      <p:ext uri="{BB962C8B-B14F-4D97-AF65-F5344CB8AC3E}">
        <p14:creationId xmlns:p14="http://schemas.microsoft.com/office/powerpoint/2010/main" val="30622442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304BA34-54B7-334D-8C8B-E2FF1513FDD1}"/>
            </a:ext>
          </a:extLst>
        </p:cNvPr>
        <p:cNvGrpSpPr/>
        <p:nvPr/>
      </p:nvGrpSpPr>
      <p:grpSpPr>
        <a:xfrm>
          <a:off x="0" y="0"/>
          <a:ext cx="0" cy="0"/>
          <a:chOff x="0" y="0"/>
          <a:chExt cx="0" cy="0"/>
        </a:xfrm>
      </p:grpSpPr>
      <p:cxnSp>
        <p:nvCxnSpPr>
          <p:cNvPr id="19" name="Connecteur droit 18">
            <a:extLst>
              <a:ext uri="{FF2B5EF4-FFF2-40B4-BE49-F238E27FC236}">
                <a16:creationId xmlns:a16="http://schemas.microsoft.com/office/drawing/2014/main" id="{9A28DF5C-3E30-83C2-CC86-B7DF79CB4F55}"/>
              </a:ext>
            </a:extLst>
          </p:cNvPr>
          <p:cNvCxnSpPr>
            <a:cxnSpLocks/>
            <a:stCxn id="12" idx="6"/>
            <a:endCxn id="13" idx="2"/>
          </p:cNvCxnSpPr>
          <p:nvPr/>
        </p:nvCxnSpPr>
        <p:spPr>
          <a:xfrm>
            <a:off x="6788897" y="9671537"/>
            <a:ext cx="3095702" cy="217178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295EA10C-1DF1-C636-C7A5-F62139960B3F}"/>
              </a:ext>
            </a:extLst>
          </p:cNvPr>
          <p:cNvCxnSpPr>
            <a:cxnSpLocks/>
            <a:stCxn id="11" idx="7"/>
            <a:endCxn id="12" idx="2"/>
          </p:cNvCxnSpPr>
          <p:nvPr/>
        </p:nvCxnSpPr>
        <p:spPr>
          <a:xfrm>
            <a:off x="2349009" y="8259396"/>
            <a:ext cx="3362937" cy="1412141"/>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57FBF7B-CC77-6882-665F-4DFED4DE1040}"/>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840C7F4C-7940-C2B3-3677-A0040CF7DF05}"/>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B9261FCC-F635-D240-253D-64722489BCF2}"/>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278EA799-0FC7-0DD7-7EBC-1ACBCE4AEC04}"/>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A7A827C5-842E-1356-0343-9DC9606228B4}"/>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D377C7AE-8B79-2AF0-6463-7710F401C93F}"/>
              </a:ext>
            </a:extLst>
          </p:cNvPr>
          <p:cNvSpPr txBox="1"/>
          <p:nvPr/>
        </p:nvSpPr>
        <p:spPr>
          <a:xfrm>
            <a:off x="695010" y="444671"/>
            <a:ext cx="9738073" cy="1077218"/>
          </a:xfrm>
          <a:prstGeom prst="rect">
            <a:avLst/>
          </a:prstGeom>
          <a:noFill/>
        </p:spPr>
        <p:txBody>
          <a:bodyPr wrap="square" rtlCol="0">
            <a:spAutoFit/>
          </a:bodyPr>
          <a:lstStyle/>
          <a:p>
            <a:r>
              <a:rPr lang="fr-FR" sz="3200" dirty="0">
                <a:solidFill>
                  <a:schemeClr val="tx2">
                    <a:lumMod val="75000"/>
                  </a:schemeClr>
                </a:solidFill>
                <a:latin typeface="Arial Black" panose="020B0A04020102020204" pitchFamily="34" charset="0"/>
              </a:rPr>
              <a:t>3. Equation de mouvement des lucioles entre </a:t>
            </a:r>
            <a:r>
              <a:rPr lang="fr-FR" sz="3200" dirty="0">
                <a:solidFill>
                  <a:schemeClr val="tx2">
                    <a:lumMod val="75000"/>
                  </a:schemeClr>
                </a:solidFill>
                <a:latin typeface="Andalus" panose="02020603050405020304" pitchFamily="18" charset="-78"/>
                <a:cs typeface="Andalus" panose="02020603050405020304" pitchFamily="18" charset="-78"/>
              </a:rPr>
              <a:t>t</a:t>
            </a:r>
            <a:r>
              <a:rPr lang="fr-FR" sz="3200" dirty="0">
                <a:solidFill>
                  <a:schemeClr val="tx2">
                    <a:lumMod val="75000"/>
                  </a:schemeClr>
                </a:solidFill>
                <a:latin typeface="Arial Black" panose="020B0A04020102020204" pitchFamily="34" charset="0"/>
              </a:rPr>
              <a:t> et </a:t>
            </a:r>
            <a:r>
              <a:rPr lang="fr-FR" sz="3200" dirty="0">
                <a:solidFill>
                  <a:schemeClr val="tx2">
                    <a:lumMod val="75000"/>
                  </a:schemeClr>
                </a:solidFill>
                <a:latin typeface="Andalus" panose="02020603050405020304" pitchFamily="18" charset="-78"/>
                <a:cs typeface="Andalus" panose="02020603050405020304" pitchFamily="18" charset="-78"/>
              </a:rPr>
              <a:t>t+1</a:t>
            </a:r>
          </a:p>
        </p:txBody>
      </p:sp>
      <p:sp>
        <p:nvSpPr>
          <p:cNvPr id="11" name="Ellipse 10">
            <a:extLst>
              <a:ext uri="{FF2B5EF4-FFF2-40B4-BE49-F238E27FC236}">
                <a16:creationId xmlns:a16="http://schemas.microsoft.com/office/drawing/2014/main" id="{BA48DB2B-4B63-AFB6-109C-0C4F56EF004E}"/>
              </a:ext>
            </a:extLst>
          </p:cNvPr>
          <p:cNvSpPr/>
          <p:nvPr/>
        </p:nvSpPr>
        <p:spPr>
          <a:xfrm>
            <a:off x="1429774" y="8103167"/>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2" name="Ellipse 11">
            <a:extLst>
              <a:ext uri="{FF2B5EF4-FFF2-40B4-BE49-F238E27FC236}">
                <a16:creationId xmlns:a16="http://schemas.microsoft.com/office/drawing/2014/main" id="{711C3F43-68F3-8FC8-41C3-4E567205689E}"/>
              </a:ext>
            </a:extLst>
          </p:cNvPr>
          <p:cNvSpPr/>
          <p:nvPr/>
        </p:nvSpPr>
        <p:spPr>
          <a:xfrm>
            <a:off x="5711946" y="9138137"/>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3" name="Ellipse 12">
            <a:extLst>
              <a:ext uri="{FF2B5EF4-FFF2-40B4-BE49-F238E27FC236}">
                <a16:creationId xmlns:a16="http://schemas.microsoft.com/office/drawing/2014/main" id="{5909E99A-194D-9C85-88D4-5C94137E29D4}"/>
              </a:ext>
            </a:extLst>
          </p:cNvPr>
          <p:cNvSpPr/>
          <p:nvPr/>
        </p:nvSpPr>
        <p:spPr>
          <a:xfrm>
            <a:off x="9884599" y="11366151"/>
            <a:ext cx="1076961" cy="95434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4" name="ZoneTexte 13">
            <a:extLst>
              <a:ext uri="{FF2B5EF4-FFF2-40B4-BE49-F238E27FC236}">
                <a16:creationId xmlns:a16="http://schemas.microsoft.com/office/drawing/2014/main" id="{C422F1AE-CFDF-EB66-E9D6-31ED229F3463}"/>
              </a:ext>
            </a:extLst>
          </p:cNvPr>
          <p:cNvSpPr txBox="1"/>
          <p:nvPr/>
        </p:nvSpPr>
        <p:spPr>
          <a:xfrm>
            <a:off x="893184" y="8251847"/>
            <a:ext cx="2150133" cy="769441"/>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1</a:t>
            </a:r>
            <a:endParaRPr lang="fr-FR" sz="2800" dirty="0">
              <a:solidFill>
                <a:schemeClr val="tx2">
                  <a:lumMod val="50000"/>
                </a:schemeClr>
              </a:solidFill>
              <a:latin typeface="Aharoni" panose="02010803020104030203" pitchFamily="2" charset="-79"/>
              <a:cs typeface="Aharoni" panose="02010803020104030203" pitchFamily="2" charset="-79"/>
            </a:endParaRPr>
          </a:p>
        </p:txBody>
      </p:sp>
      <p:sp>
        <p:nvSpPr>
          <p:cNvPr id="15" name="ZoneTexte 14">
            <a:extLst>
              <a:ext uri="{FF2B5EF4-FFF2-40B4-BE49-F238E27FC236}">
                <a16:creationId xmlns:a16="http://schemas.microsoft.com/office/drawing/2014/main" id="{3831EB91-611D-26D7-D2F6-E010CFA33635}"/>
              </a:ext>
            </a:extLst>
          </p:cNvPr>
          <p:cNvSpPr txBox="1"/>
          <p:nvPr/>
        </p:nvSpPr>
        <p:spPr>
          <a:xfrm>
            <a:off x="5175355" y="9294365"/>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2</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sp>
        <p:nvSpPr>
          <p:cNvPr id="16" name="ZoneTexte 15">
            <a:extLst>
              <a:ext uri="{FF2B5EF4-FFF2-40B4-BE49-F238E27FC236}">
                <a16:creationId xmlns:a16="http://schemas.microsoft.com/office/drawing/2014/main" id="{12361E28-D011-DEF2-6D8E-868AD81ADCBE}"/>
              </a:ext>
            </a:extLst>
          </p:cNvPr>
          <p:cNvSpPr txBox="1"/>
          <p:nvPr/>
        </p:nvSpPr>
        <p:spPr>
          <a:xfrm>
            <a:off x="10153692" y="11458600"/>
            <a:ext cx="533738" cy="769441"/>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3</a:t>
            </a:r>
            <a:endParaRPr lang="fr-FR" sz="2800" dirty="0">
              <a:solidFill>
                <a:schemeClr val="tx2">
                  <a:lumMod val="50000"/>
                </a:schemeClr>
              </a:solidFill>
              <a:latin typeface="Aharoni" panose="02010803020104030203" pitchFamily="2" charset="-79"/>
              <a:cs typeface="Aharoni" panose="02010803020104030203" pitchFamily="2" charset="-79"/>
            </a:endParaRPr>
          </a:p>
        </p:txBody>
      </p:sp>
      <p:sp>
        <p:nvSpPr>
          <p:cNvPr id="33" name="ZoneTexte 32">
            <a:extLst>
              <a:ext uri="{FF2B5EF4-FFF2-40B4-BE49-F238E27FC236}">
                <a16:creationId xmlns:a16="http://schemas.microsoft.com/office/drawing/2014/main" id="{ECADCB5E-87E1-B175-B68C-E5EDAD506018}"/>
              </a:ext>
            </a:extLst>
          </p:cNvPr>
          <p:cNvSpPr txBox="1"/>
          <p:nvPr/>
        </p:nvSpPr>
        <p:spPr>
          <a:xfrm>
            <a:off x="845481" y="9638528"/>
            <a:ext cx="2486956" cy="1938992"/>
          </a:xfrm>
          <a:prstGeom prst="rect">
            <a:avLst/>
          </a:prstGeom>
          <a:noFill/>
        </p:spPr>
        <p:txBody>
          <a:bodyPr wrap="square" rtlCol="0">
            <a:spAutoFit/>
          </a:bodyPr>
          <a:lstStyle/>
          <a:p>
            <a:pPr algn="ctr"/>
            <a:r>
              <a:rPr lang="fr-FR" sz="2400" dirty="0">
                <a:solidFill>
                  <a:schemeClr val="tx2">
                    <a:lumMod val="50000"/>
                  </a:schemeClr>
                </a:solidFill>
                <a:effectLst/>
                <a:latin typeface="Aptos Display" panose="020B0004020202020204" pitchFamily="34" charset="0"/>
                <a:ea typeface="Times New Roman" panose="02020603050405020304" pitchFamily="18" charset="0"/>
              </a:rPr>
              <a:t>Toutes les lucioles s’attirent les unes aux autres, indépendamment de leur sexe ;</a:t>
            </a:r>
            <a:endParaRPr lang="fr-FR" sz="2400" dirty="0">
              <a:solidFill>
                <a:schemeClr val="tx2">
                  <a:lumMod val="50000"/>
                </a:schemeClr>
              </a:solidFill>
              <a:latin typeface="Aptos Display" panose="020B0004020202020204" pitchFamily="34" charset="0"/>
            </a:endParaRPr>
          </a:p>
        </p:txBody>
      </p:sp>
      <p:sp>
        <p:nvSpPr>
          <p:cNvPr id="35" name="ZoneTexte 34">
            <a:extLst>
              <a:ext uri="{FF2B5EF4-FFF2-40B4-BE49-F238E27FC236}">
                <a16:creationId xmlns:a16="http://schemas.microsoft.com/office/drawing/2014/main" id="{7DE74B82-5A2C-9FE3-3516-E48A05F46BAC}"/>
              </a:ext>
            </a:extLst>
          </p:cNvPr>
          <p:cNvSpPr txBox="1"/>
          <p:nvPr/>
        </p:nvSpPr>
        <p:spPr>
          <a:xfrm>
            <a:off x="4918104" y="10706506"/>
            <a:ext cx="2718914" cy="1384995"/>
          </a:xfrm>
          <a:prstGeom prst="rect">
            <a:avLst/>
          </a:prstGeom>
          <a:noFill/>
        </p:spPr>
        <p:txBody>
          <a:bodyPr wrap="square" rtlCol="0">
            <a:spAutoFit/>
          </a:bodyPr>
          <a:lstStyle/>
          <a:p>
            <a:pPr algn="ctr"/>
            <a:r>
              <a:rPr lang="fr-FR" sz="2800" dirty="0">
                <a:solidFill>
                  <a:schemeClr val="tx2">
                    <a:lumMod val="50000"/>
                  </a:schemeClr>
                </a:solidFill>
                <a:latin typeface="Aptos Display" panose="020B0004020202020204" pitchFamily="34" charset="0"/>
              </a:rPr>
              <a:t>L’attractivité est proportionnelle à la luminosité</a:t>
            </a:r>
          </a:p>
        </p:txBody>
      </p:sp>
      <p:sp>
        <p:nvSpPr>
          <p:cNvPr id="36" name="ZoneTexte 35">
            <a:extLst>
              <a:ext uri="{FF2B5EF4-FFF2-40B4-BE49-F238E27FC236}">
                <a16:creationId xmlns:a16="http://schemas.microsoft.com/office/drawing/2014/main" id="{90AC8E4A-0A4C-2F77-32A0-578DC10748EA}"/>
              </a:ext>
            </a:extLst>
          </p:cNvPr>
          <p:cNvSpPr txBox="1"/>
          <p:nvPr/>
        </p:nvSpPr>
        <p:spPr>
          <a:xfrm>
            <a:off x="8915513" y="8793082"/>
            <a:ext cx="3095702" cy="2308324"/>
          </a:xfrm>
          <a:prstGeom prst="rect">
            <a:avLst/>
          </a:prstGeom>
          <a:noFill/>
        </p:spPr>
        <p:txBody>
          <a:bodyPr wrap="square" rtlCol="0">
            <a:spAutoFit/>
          </a:bodyPr>
          <a:lstStyle/>
          <a:p>
            <a:pPr algn="ctr"/>
            <a:r>
              <a:rPr lang="fr-FR" sz="2400" dirty="0">
                <a:solidFill>
                  <a:schemeClr val="tx2">
                    <a:lumMod val="50000"/>
                  </a:schemeClr>
                </a:solidFill>
                <a:effectLst/>
                <a:latin typeface="Aptos Display" panose="020B0004020202020204" pitchFamily="34" charset="0"/>
                <a:ea typeface="Calibri" panose="020F0502020204030204" pitchFamily="34" charset="0"/>
                <a:cs typeface="Arial" panose="020B0604020202020204" pitchFamily="34" charset="0"/>
              </a:rPr>
              <a:t>S’il n’existe pas de luciole plus brillante qu’une luciole donnée, celle-ci se déplacera aléatoirement dans l’espace.</a:t>
            </a:r>
            <a:endParaRPr lang="fr-FR" sz="2400" dirty="0">
              <a:solidFill>
                <a:schemeClr val="tx2">
                  <a:lumMod val="50000"/>
                </a:schemeClr>
              </a:solidFill>
              <a:latin typeface="Aptos Display" panose="020B0004020202020204" pitchFamily="34" charset="0"/>
            </a:endParaRPr>
          </a:p>
        </p:txBody>
      </p:sp>
      <p:sp>
        <p:nvSpPr>
          <p:cNvPr id="26" name="ZoneTexte 25">
            <a:extLst>
              <a:ext uri="{FF2B5EF4-FFF2-40B4-BE49-F238E27FC236}">
                <a16:creationId xmlns:a16="http://schemas.microsoft.com/office/drawing/2014/main" id="{AB30FE1D-7188-E6CD-92DD-B687E6BDD78C}"/>
              </a:ext>
            </a:extLst>
          </p:cNvPr>
          <p:cNvSpPr txBox="1"/>
          <p:nvPr/>
        </p:nvSpPr>
        <p:spPr>
          <a:xfrm>
            <a:off x="627915" y="1871404"/>
            <a:ext cx="6275723" cy="707886"/>
          </a:xfrm>
          <a:prstGeom prst="rect">
            <a:avLst/>
          </a:prstGeom>
          <a:noFill/>
        </p:spPr>
        <p:txBody>
          <a:bodyPr wrap="square" rtlCol="0">
            <a:spAutoFit/>
          </a:bodyPr>
          <a:lstStyle/>
          <a:p>
            <a:r>
              <a:rPr lang="fr-FR" sz="2000" dirty="0"/>
              <a:t>À chaque itération t, chaque </a:t>
            </a:r>
            <a:r>
              <a:rPr lang="fr-FR" sz="2000" b="1" dirty="0"/>
              <a:t>luciole i </a:t>
            </a:r>
            <a:r>
              <a:rPr lang="fr-FR" sz="2000" dirty="0"/>
              <a:t>se déplace vers les </a:t>
            </a:r>
            <a:r>
              <a:rPr lang="fr-FR" sz="2000" b="1" dirty="0"/>
              <a:t>lucioles plus brillantes j </a:t>
            </a:r>
            <a:r>
              <a:rPr lang="fr-FR" sz="2000" dirty="0"/>
              <a:t>suivant l'équation suivante :</a:t>
            </a:r>
          </a:p>
        </p:txBody>
      </p:sp>
      <p:pic>
        <p:nvPicPr>
          <p:cNvPr id="6" name="Image 5">
            <a:extLst>
              <a:ext uri="{FF2B5EF4-FFF2-40B4-BE49-F238E27FC236}">
                <a16:creationId xmlns:a16="http://schemas.microsoft.com/office/drawing/2014/main" id="{525A555A-5117-6EFB-2DE2-CB50F1CEBCE9}"/>
              </a:ext>
            </a:extLst>
          </p:cNvPr>
          <p:cNvPicPr>
            <a:picLocks noChangeAspect="1"/>
          </p:cNvPicPr>
          <p:nvPr/>
        </p:nvPicPr>
        <p:blipFill>
          <a:blip r:embed="rId2"/>
          <a:stretch>
            <a:fillRect/>
          </a:stretch>
        </p:blipFill>
        <p:spPr>
          <a:xfrm>
            <a:off x="823998" y="3345144"/>
            <a:ext cx="10524631" cy="1140168"/>
          </a:xfrm>
          <a:prstGeom prst="rect">
            <a:avLst/>
          </a:prstGeom>
        </p:spPr>
      </p:pic>
      <p:sp>
        <p:nvSpPr>
          <p:cNvPr id="17" name="Accolade ouvrante 16">
            <a:extLst>
              <a:ext uri="{FF2B5EF4-FFF2-40B4-BE49-F238E27FC236}">
                <a16:creationId xmlns:a16="http://schemas.microsoft.com/office/drawing/2014/main" id="{29C3FF22-E36B-0654-7DF5-DFF4DA0DB7C3}"/>
              </a:ext>
            </a:extLst>
          </p:cNvPr>
          <p:cNvSpPr/>
          <p:nvPr/>
        </p:nvSpPr>
        <p:spPr>
          <a:xfrm rot="16200000">
            <a:off x="5892468" y="3051270"/>
            <a:ext cx="407064" cy="3495988"/>
          </a:xfrm>
          <a:prstGeom prst="leftBrace">
            <a:avLst/>
          </a:prstGeom>
          <a:ln w="285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0" name="Accolade ouvrante 19">
            <a:extLst>
              <a:ext uri="{FF2B5EF4-FFF2-40B4-BE49-F238E27FC236}">
                <a16:creationId xmlns:a16="http://schemas.microsoft.com/office/drawing/2014/main" id="{C5735BDE-CEBC-CDC5-0D75-AF2ECFDDD7F6}"/>
              </a:ext>
            </a:extLst>
          </p:cNvPr>
          <p:cNvSpPr/>
          <p:nvPr/>
        </p:nvSpPr>
        <p:spPr>
          <a:xfrm rot="16200000">
            <a:off x="9364380" y="3462516"/>
            <a:ext cx="407064" cy="2652865"/>
          </a:xfrm>
          <a:prstGeom prst="leftBrace">
            <a:avLst/>
          </a:prstGeom>
          <a:ln w="38100">
            <a:solidFill>
              <a:schemeClr val="accent2">
                <a:lumMod val="50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fr-FR"/>
          </a:p>
        </p:txBody>
      </p:sp>
      <p:cxnSp>
        <p:nvCxnSpPr>
          <p:cNvPr id="38" name="Connecteur droit avec flèche 37">
            <a:extLst>
              <a:ext uri="{FF2B5EF4-FFF2-40B4-BE49-F238E27FC236}">
                <a16:creationId xmlns:a16="http://schemas.microsoft.com/office/drawing/2014/main" id="{C0D9D2F8-AF52-BFFB-424F-2F5C51A09BD0}"/>
              </a:ext>
            </a:extLst>
          </p:cNvPr>
          <p:cNvCxnSpPr>
            <a:cxnSpLocks/>
            <a:stCxn id="41" idx="2"/>
          </p:cNvCxnSpPr>
          <p:nvPr/>
        </p:nvCxnSpPr>
        <p:spPr>
          <a:xfrm>
            <a:off x="8392708" y="2720471"/>
            <a:ext cx="0" cy="9468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Connecteur droit avec flèche 38">
            <a:extLst>
              <a:ext uri="{FF2B5EF4-FFF2-40B4-BE49-F238E27FC236}">
                <a16:creationId xmlns:a16="http://schemas.microsoft.com/office/drawing/2014/main" id="{47A5A0EF-778C-F8A7-589B-6C8BCCD7846E}"/>
              </a:ext>
            </a:extLst>
          </p:cNvPr>
          <p:cNvCxnSpPr>
            <a:cxnSpLocks/>
            <a:stCxn id="44" idx="2"/>
          </p:cNvCxnSpPr>
          <p:nvPr/>
        </p:nvCxnSpPr>
        <p:spPr>
          <a:xfrm flipH="1">
            <a:off x="9216158" y="2761320"/>
            <a:ext cx="1678187" cy="9566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ZoneTexte 40">
            <a:extLst>
              <a:ext uri="{FF2B5EF4-FFF2-40B4-BE49-F238E27FC236}">
                <a16:creationId xmlns:a16="http://schemas.microsoft.com/office/drawing/2014/main" id="{787D64DB-D2A3-371C-45A7-BA3C896DD673}"/>
              </a:ext>
            </a:extLst>
          </p:cNvPr>
          <p:cNvSpPr txBox="1"/>
          <p:nvPr/>
        </p:nvSpPr>
        <p:spPr>
          <a:xfrm>
            <a:off x="7245246" y="2074140"/>
            <a:ext cx="2294923" cy="646331"/>
          </a:xfrm>
          <a:prstGeom prst="rect">
            <a:avLst/>
          </a:prstGeom>
          <a:noFill/>
        </p:spPr>
        <p:txBody>
          <a:bodyPr wrap="square" rtlCol="0">
            <a:spAutoFit/>
          </a:bodyPr>
          <a:lstStyle/>
          <a:p>
            <a:pPr algn="ctr"/>
            <a:r>
              <a:rPr lang="fr-FR" dirty="0"/>
              <a:t>Facteur d’aléa</a:t>
            </a:r>
          </a:p>
          <a:p>
            <a:pPr algn="ctr"/>
            <a:r>
              <a:rPr lang="fr-FR" dirty="0"/>
              <a:t>(pour l’exploration) </a:t>
            </a:r>
          </a:p>
        </p:txBody>
      </p:sp>
      <p:sp>
        <p:nvSpPr>
          <p:cNvPr id="44" name="ZoneTexte 43">
            <a:extLst>
              <a:ext uri="{FF2B5EF4-FFF2-40B4-BE49-F238E27FC236}">
                <a16:creationId xmlns:a16="http://schemas.microsoft.com/office/drawing/2014/main" id="{2CB173EC-B350-309F-3FDE-053EFDDDD994}"/>
              </a:ext>
            </a:extLst>
          </p:cNvPr>
          <p:cNvSpPr txBox="1"/>
          <p:nvPr/>
        </p:nvSpPr>
        <p:spPr>
          <a:xfrm>
            <a:off x="9746883" y="2114989"/>
            <a:ext cx="2294923" cy="646331"/>
          </a:xfrm>
          <a:prstGeom prst="rect">
            <a:avLst/>
          </a:prstGeom>
          <a:noFill/>
        </p:spPr>
        <p:txBody>
          <a:bodyPr wrap="square" rtlCol="0">
            <a:spAutoFit/>
          </a:bodyPr>
          <a:lstStyle/>
          <a:p>
            <a:r>
              <a:rPr lang="fr-FR" dirty="0"/>
              <a:t>Valeur aléatoire dans l'intervalle [0,1]</a:t>
            </a:r>
          </a:p>
        </p:txBody>
      </p:sp>
      <p:sp>
        <p:nvSpPr>
          <p:cNvPr id="47" name="ZoneTexte 46">
            <a:extLst>
              <a:ext uri="{FF2B5EF4-FFF2-40B4-BE49-F238E27FC236}">
                <a16:creationId xmlns:a16="http://schemas.microsoft.com/office/drawing/2014/main" id="{2C696271-9654-657C-8B17-DB30924E8469}"/>
              </a:ext>
            </a:extLst>
          </p:cNvPr>
          <p:cNvSpPr txBox="1"/>
          <p:nvPr/>
        </p:nvSpPr>
        <p:spPr>
          <a:xfrm>
            <a:off x="4654931" y="5128677"/>
            <a:ext cx="2882138" cy="369332"/>
          </a:xfrm>
          <a:prstGeom prst="rect">
            <a:avLst/>
          </a:prstGeom>
          <a:noFill/>
        </p:spPr>
        <p:txBody>
          <a:bodyPr wrap="square" rtlCol="0">
            <a:spAutoFit/>
          </a:bodyPr>
          <a:lstStyle/>
          <a:p>
            <a:pPr algn="ctr"/>
            <a:r>
              <a:rPr lang="fr-FR" dirty="0">
                <a:solidFill>
                  <a:schemeClr val="accent2">
                    <a:lumMod val="50000"/>
                  </a:schemeClr>
                </a:solidFill>
                <a:latin typeface="Aharoni" panose="02010803020104030203" pitchFamily="2" charset="-79"/>
                <a:cs typeface="Aharoni" panose="02010803020104030203" pitchFamily="2" charset="-79"/>
              </a:rPr>
              <a:t>Exploitation</a:t>
            </a:r>
          </a:p>
        </p:txBody>
      </p:sp>
      <p:sp>
        <p:nvSpPr>
          <p:cNvPr id="48" name="ZoneTexte 47">
            <a:extLst>
              <a:ext uri="{FF2B5EF4-FFF2-40B4-BE49-F238E27FC236}">
                <a16:creationId xmlns:a16="http://schemas.microsoft.com/office/drawing/2014/main" id="{6342A101-4746-D82F-42B2-978E8268FCDB}"/>
              </a:ext>
            </a:extLst>
          </p:cNvPr>
          <p:cNvSpPr txBox="1"/>
          <p:nvPr/>
        </p:nvSpPr>
        <p:spPr>
          <a:xfrm>
            <a:off x="8126843" y="5092585"/>
            <a:ext cx="2882138" cy="369332"/>
          </a:xfrm>
          <a:prstGeom prst="rect">
            <a:avLst/>
          </a:prstGeom>
          <a:noFill/>
        </p:spPr>
        <p:txBody>
          <a:bodyPr wrap="square" rtlCol="0">
            <a:spAutoFit/>
          </a:bodyPr>
          <a:lstStyle/>
          <a:p>
            <a:pPr algn="ctr"/>
            <a:r>
              <a:rPr lang="fr-FR" dirty="0">
                <a:solidFill>
                  <a:schemeClr val="accent2">
                    <a:lumMod val="50000"/>
                  </a:schemeClr>
                </a:solidFill>
                <a:latin typeface="Aharoni" panose="02010803020104030203" pitchFamily="2" charset="-79"/>
                <a:cs typeface="Aharoni" panose="02010803020104030203" pitchFamily="2" charset="-79"/>
              </a:rPr>
              <a:t>Exploration</a:t>
            </a:r>
          </a:p>
        </p:txBody>
      </p:sp>
      <p:sp>
        <p:nvSpPr>
          <p:cNvPr id="49" name="ZoneTexte 48">
            <a:extLst>
              <a:ext uri="{FF2B5EF4-FFF2-40B4-BE49-F238E27FC236}">
                <a16:creationId xmlns:a16="http://schemas.microsoft.com/office/drawing/2014/main" id="{0D9EAE4D-EDE6-2B15-3106-DF626662DF76}"/>
              </a:ext>
            </a:extLst>
          </p:cNvPr>
          <p:cNvSpPr txBox="1"/>
          <p:nvPr/>
        </p:nvSpPr>
        <p:spPr>
          <a:xfrm>
            <a:off x="4540572" y="5568962"/>
            <a:ext cx="3281680" cy="646331"/>
          </a:xfrm>
          <a:prstGeom prst="rect">
            <a:avLst/>
          </a:prstGeom>
          <a:noFill/>
        </p:spPr>
        <p:txBody>
          <a:bodyPr wrap="square" rtlCol="0">
            <a:spAutoFit/>
          </a:bodyPr>
          <a:lstStyle/>
          <a:p>
            <a:pPr algn="ctr"/>
            <a:r>
              <a:rPr lang="fr-FR" dirty="0"/>
              <a:t>Se déplacer vers la luciole brillante avec </a:t>
            </a:r>
            <a:r>
              <a:rPr lang="el-GR" dirty="0"/>
              <a:t>β</a:t>
            </a:r>
            <a:r>
              <a:rPr lang="fr-FR" dirty="0"/>
              <a:t>​(r)</a:t>
            </a:r>
          </a:p>
        </p:txBody>
      </p:sp>
      <p:sp>
        <p:nvSpPr>
          <p:cNvPr id="50" name="ZoneTexte 49">
            <a:extLst>
              <a:ext uri="{FF2B5EF4-FFF2-40B4-BE49-F238E27FC236}">
                <a16:creationId xmlns:a16="http://schemas.microsoft.com/office/drawing/2014/main" id="{CB448312-8168-BABF-8D99-2AC699AA19A8}"/>
              </a:ext>
            </a:extLst>
          </p:cNvPr>
          <p:cNvSpPr txBox="1"/>
          <p:nvPr/>
        </p:nvSpPr>
        <p:spPr>
          <a:xfrm>
            <a:off x="8279231" y="5530384"/>
            <a:ext cx="2794000" cy="646331"/>
          </a:xfrm>
          <a:prstGeom prst="rect">
            <a:avLst/>
          </a:prstGeom>
          <a:noFill/>
        </p:spPr>
        <p:txBody>
          <a:bodyPr wrap="square" rtlCol="0">
            <a:spAutoFit/>
          </a:bodyPr>
          <a:lstStyle/>
          <a:p>
            <a:pPr algn="ctr"/>
            <a:r>
              <a:rPr lang="fr-FR" dirty="0"/>
              <a:t>Introduire une variation aléatoire avec </a:t>
            </a:r>
            <a:r>
              <a:rPr lang="el-GR" dirty="0"/>
              <a:t>α⋅(</a:t>
            </a:r>
            <a:r>
              <a:rPr lang="fr-FR" dirty="0"/>
              <a:t>rand−0.5)</a:t>
            </a:r>
          </a:p>
        </p:txBody>
      </p:sp>
    </p:spTree>
    <p:extLst>
      <p:ext uri="{BB962C8B-B14F-4D97-AF65-F5344CB8AC3E}">
        <p14:creationId xmlns:p14="http://schemas.microsoft.com/office/powerpoint/2010/main" val="23363688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721E4CA-43B5-50FF-DACE-49FA5064F010}"/>
            </a:ext>
          </a:extLst>
        </p:cNvPr>
        <p:cNvGrpSpPr/>
        <p:nvPr/>
      </p:nvGrpSpPr>
      <p:grpSpPr>
        <a:xfrm>
          <a:off x="0" y="0"/>
          <a:ext cx="0" cy="0"/>
          <a:chOff x="0" y="0"/>
          <a:chExt cx="0" cy="0"/>
        </a:xfrm>
      </p:grpSpPr>
      <p:cxnSp>
        <p:nvCxnSpPr>
          <p:cNvPr id="21" name="Connecteur droit 20">
            <a:extLst>
              <a:ext uri="{FF2B5EF4-FFF2-40B4-BE49-F238E27FC236}">
                <a16:creationId xmlns:a16="http://schemas.microsoft.com/office/drawing/2014/main" id="{ED3DAC35-E6AE-C0B4-E140-31C6C478C660}"/>
              </a:ext>
            </a:extLst>
          </p:cNvPr>
          <p:cNvCxnSpPr>
            <a:cxnSpLocks/>
            <a:stCxn id="17" idx="2"/>
            <a:endCxn id="12" idx="6"/>
          </p:cNvCxnSpPr>
          <p:nvPr/>
        </p:nvCxnSpPr>
        <p:spPr>
          <a:xfrm flipH="1">
            <a:off x="4242558" y="2113465"/>
            <a:ext cx="1240208" cy="1664311"/>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FD195640-7619-B491-A0FC-B3E40771AE63}"/>
              </a:ext>
            </a:extLst>
          </p:cNvPr>
          <p:cNvCxnSpPr>
            <a:cxnSpLocks/>
            <a:stCxn id="11" idx="7"/>
            <a:endCxn id="12" idx="2"/>
          </p:cNvCxnSpPr>
          <p:nvPr/>
        </p:nvCxnSpPr>
        <p:spPr>
          <a:xfrm>
            <a:off x="1954878" y="1802112"/>
            <a:ext cx="1210729" cy="197566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9935910-A241-C1F1-56BE-42B5F2D06B34}"/>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4EBBA073-5005-456B-A04C-2C5FAE7DB278}"/>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AEED6FBB-2C80-522A-AE95-61C1F4C618F3}"/>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205FBA3F-0808-92D4-931C-59A7E6FBFA94}"/>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32BA45E4-F859-51B2-3949-52B3C6518D21}"/>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01E62D60-2EE3-23D1-0B41-DBD29B4B728F}"/>
              </a:ext>
            </a:extLst>
          </p:cNvPr>
          <p:cNvSpPr txBox="1"/>
          <p:nvPr/>
        </p:nvSpPr>
        <p:spPr>
          <a:xfrm>
            <a:off x="695010" y="444671"/>
            <a:ext cx="9738073" cy="584775"/>
          </a:xfrm>
          <a:prstGeom prst="rect">
            <a:avLst/>
          </a:prstGeom>
          <a:noFill/>
        </p:spPr>
        <p:txBody>
          <a:bodyPr wrap="square" rtlCol="0">
            <a:spAutoFit/>
          </a:bodyPr>
          <a:lstStyle/>
          <a:p>
            <a:r>
              <a:rPr lang="fr-FR" sz="3200" dirty="0">
                <a:solidFill>
                  <a:schemeClr val="tx2">
                    <a:lumMod val="75000"/>
                  </a:schemeClr>
                </a:solidFill>
                <a:latin typeface="Arial Black" panose="020B0A04020102020204" pitchFamily="34" charset="0"/>
              </a:rPr>
              <a:t>Les étapes de l’algorithme</a:t>
            </a:r>
          </a:p>
        </p:txBody>
      </p:sp>
      <p:sp>
        <p:nvSpPr>
          <p:cNvPr id="11" name="Ellipse 10">
            <a:extLst>
              <a:ext uri="{FF2B5EF4-FFF2-40B4-BE49-F238E27FC236}">
                <a16:creationId xmlns:a16="http://schemas.microsoft.com/office/drawing/2014/main" id="{ABEF4422-057F-C18A-C9B1-903A37F640A5}"/>
              </a:ext>
            </a:extLst>
          </p:cNvPr>
          <p:cNvSpPr/>
          <p:nvPr/>
        </p:nvSpPr>
        <p:spPr>
          <a:xfrm>
            <a:off x="1035643" y="1645883"/>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2" name="Ellipse 11">
            <a:extLst>
              <a:ext uri="{FF2B5EF4-FFF2-40B4-BE49-F238E27FC236}">
                <a16:creationId xmlns:a16="http://schemas.microsoft.com/office/drawing/2014/main" id="{E3B01ADC-26EB-B7FB-9AD7-B2266DE6117B}"/>
              </a:ext>
            </a:extLst>
          </p:cNvPr>
          <p:cNvSpPr/>
          <p:nvPr/>
        </p:nvSpPr>
        <p:spPr>
          <a:xfrm>
            <a:off x="3165607" y="3244376"/>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4" name="ZoneTexte 13">
            <a:extLst>
              <a:ext uri="{FF2B5EF4-FFF2-40B4-BE49-F238E27FC236}">
                <a16:creationId xmlns:a16="http://schemas.microsoft.com/office/drawing/2014/main" id="{517D801A-9461-16EE-61E8-7A646A5CE55D}"/>
              </a:ext>
            </a:extLst>
          </p:cNvPr>
          <p:cNvSpPr txBox="1"/>
          <p:nvPr/>
        </p:nvSpPr>
        <p:spPr>
          <a:xfrm>
            <a:off x="499053" y="1794563"/>
            <a:ext cx="2150133" cy="769441"/>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1</a:t>
            </a:r>
            <a:endParaRPr lang="fr-FR" sz="2800" dirty="0">
              <a:solidFill>
                <a:schemeClr val="tx2">
                  <a:lumMod val="50000"/>
                </a:schemeClr>
              </a:solidFill>
              <a:latin typeface="Aharoni" panose="02010803020104030203" pitchFamily="2" charset="-79"/>
              <a:cs typeface="Aharoni" panose="02010803020104030203" pitchFamily="2" charset="-79"/>
            </a:endParaRPr>
          </a:p>
        </p:txBody>
      </p:sp>
      <p:sp>
        <p:nvSpPr>
          <p:cNvPr id="15" name="ZoneTexte 14">
            <a:extLst>
              <a:ext uri="{FF2B5EF4-FFF2-40B4-BE49-F238E27FC236}">
                <a16:creationId xmlns:a16="http://schemas.microsoft.com/office/drawing/2014/main" id="{D141E27B-1C7F-042F-FB18-C9CA0C2C430D}"/>
              </a:ext>
            </a:extLst>
          </p:cNvPr>
          <p:cNvSpPr txBox="1"/>
          <p:nvPr/>
        </p:nvSpPr>
        <p:spPr>
          <a:xfrm>
            <a:off x="2657724" y="3429000"/>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2</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cxnSp>
        <p:nvCxnSpPr>
          <p:cNvPr id="6" name="Connecteur droit 5">
            <a:extLst>
              <a:ext uri="{FF2B5EF4-FFF2-40B4-BE49-F238E27FC236}">
                <a16:creationId xmlns:a16="http://schemas.microsoft.com/office/drawing/2014/main" id="{1A902B7C-6058-A684-ACB4-9CC475AE6F3D}"/>
              </a:ext>
            </a:extLst>
          </p:cNvPr>
          <p:cNvCxnSpPr>
            <a:cxnSpLocks/>
            <a:stCxn id="17" idx="7"/>
            <a:endCxn id="20" idx="2"/>
          </p:cNvCxnSpPr>
          <p:nvPr/>
        </p:nvCxnSpPr>
        <p:spPr>
          <a:xfrm>
            <a:off x="6402001" y="1736294"/>
            <a:ext cx="1363220" cy="1933041"/>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7" name="Ellipse 16">
            <a:extLst>
              <a:ext uri="{FF2B5EF4-FFF2-40B4-BE49-F238E27FC236}">
                <a16:creationId xmlns:a16="http://schemas.microsoft.com/office/drawing/2014/main" id="{944A93DC-FB4E-51A8-827E-383D465BD602}"/>
              </a:ext>
            </a:extLst>
          </p:cNvPr>
          <p:cNvSpPr/>
          <p:nvPr/>
        </p:nvSpPr>
        <p:spPr>
          <a:xfrm>
            <a:off x="5482766" y="1580065"/>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20" name="Ellipse 19">
            <a:extLst>
              <a:ext uri="{FF2B5EF4-FFF2-40B4-BE49-F238E27FC236}">
                <a16:creationId xmlns:a16="http://schemas.microsoft.com/office/drawing/2014/main" id="{3AB0E4E2-69A8-3A8A-F8EA-11F536B656A0}"/>
              </a:ext>
            </a:extLst>
          </p:cNvPr>
          <p:cNvSpPr/>
          <p:nvPr/>
        </p:nvSpPr>
        <p:spPr>
          <a:xfrm>
            <a:off x="7765221" y="3135935"/>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cxnSp>
        <p:nvCxnSpPr>
          <p:cNvPr id="26" name="Connecteur droit 25">
            <a:extLst>
              <a:ext uri="{FF2B5EF4-FFF2-40B4-BE49-F238E27FC236}">
                <a16:creationId xmlns:a16="http://schemas.microsoft.com/office/drawing/2014/main" id="{FEC31031-C763-E293-DF49-44F3CAE36201}"/>
              </a:ext>
            </a:extLst>
          </p:cNvPr>
          <p:cNvCxnSpPr>
            <a:cxnSpLocks/>
            <a:stCxn id="27" idx="2"/>
            <a:endCxn id="20" idx="6"/>
          </p:cNvCxnSpPr>
          <p:nvPr/>
        </p:nvCxnSpPr>
        <p:spPr>
          <a:xfrm flipH="1">
            <a:off x="8842172" y="2113465"/>
            <a:ext cx="1144900" cy="155587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7" name="Ellipse 26">
            <a:extLst>
              <a:ext uri="{FF2B5EF4-FFF2-40B4-BE49-F238E27FC236}">
                <a16:creationId xmlns:a16="http://schemas.microsoft.com/office/drawing/2014/main" id="{CB63148E-4D4E-65DD-114C-26BFD10F4B93}"/>
              </a:ext>
            </a:extLst>
          </p:cNvPr>
          <p:cNvSpPr/>
          <p:nvPr/>
        </p:nvSpPr>
        <p:spPr>
          <a:xfrm>
            <a:off x="9987072" y="1580065"/>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29" name="ZoneTexte 28">
            <a:extLst>
              <a:ext uri="{FF2B5EF4-FFF2-40B4-BE49-F238E27FC236}">
                <a16:creationId xmlns:a16="http://schemas.microsoft.com/office/drawing/2014/main" id="{7259BF73-427E-88FB-0D4F-0FBD6D395A8F}"/>
              </a:ext>
            </a:extLst>
          </p:cNvPr>
          <p:cNvSpPr txBox="1"/>
          <p:nvPr/>
        </p:nvSpPr>
        <p:spPr>
          <a:xfrm>
            <a:off x="4939653" y="1759404"/>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3</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sp>
        <p:nvSpPr>
          <p:cNvPr id="30" name="ZoneTexte 29">
            <a:extLst>
              <a:ext uri="{FF2B5EF4-FFF2-40B4-BE49-F238E27FC236}">
                <a16:creationId xmlns:a16="http://schemas.microsoft.com/office/drawing/2014/main" id="{3A662BB2-AE8D-E9B5-79B3-DCCC3553822E}"/>
              </a:ext>
            </a:extLst>
          </p:cNvPr>
          <p:cNvSpPr txBox="1"/>
          <p:nvPr/>
        </p:nvSpPr>
        <p:spPr>
          <a:xfrm>
            <a:off x="7175540" y="3323865"/>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4</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sp>
        <p:nvSpPr>
          <p:cNvPr id="31" name="ZoneTexte 30">
            <a:extLst>
              <a:ext uri="{FF2B5EF4-FFF2-40B4-BE49-F238E27FC236}">
                <a16:creationId xmlns:a16="http://schemas.microsoft.com/office/drawing/2014/main" id="{715D56DF-7EA9-D61B-CD20-11854BE6F5CE}"/>
              </a:ext>
            </a:extLst>
          </p:cNvPr>
          <p:cNvSpPr txBox="1"/>
          <p:nvPr/>
        </p:nvSpPr>
        <p:spPr>
          <a:xfrm>
            <a:off x="9450481" y="1788888"/>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5</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sp>
        <p:nvSpPr>
          <p:cNvPr id="32" name="ZoneTexte 31">
            <a:extLst>
              <a:ext uri="{FF2B5EF4-FFF2-40B4-BE49-F238E27FC236}">
                <a16:creationId xmlns:a16="http://schemas.microsoft.com/office/drawing/2014/main" id="{DBE1BFCF-2846-A95E-B494-346E2202AD73}"/>
              </a:ext>
            </a:extLst>
          </p:cNvPr>
          <p:cNvSpPr txBox="1"/>
          <p:nvPr/>
        </p:nvSpPr>
        <p:spPr>
          <a:xfrm>
            <a:off x="241052" y="3178063"/>
            <a:ext cx="2369457" cy="1477328"/>
          </a:xfrm>
          <a:prstGeom prst="rect">
            <a:avLst/>
          </a:prstGeom>
          <a:noFill/>
        </p:spPr>
        <p:txBody>
          <a:bodyPr wrap="square" rtlCol="0">
            <a:spAutoFit/>
          </a:bodyPr>
          <a:lstStyle/>
          <a:p>
            <a:pPr algn="ctr"/>
            <a:r>
              <a:rPr lang="fr-FR" b="1" dirty="0"/>
              <a:t>Initialisation</a:t>
            </a:r>
            <a:r>
              <a:rPr lang="fr-FR" dirty="0"/>
              <a:t>  </a:t>
            </a:r>
          </a:p>
          <a:p>
            <a:pPr algn="ctr"/>
            <a:r>
              <a:rPr lang="fr-FR" dirty="0"/>
              <a:t>Générer une population de lucioles avec des positions aléatoires.</a:t>
            </a:r>
          </a:p>
        </p:txBody>
      </p:sp>
      <p:sp>
        <p:nvSpPr>
          <p:cNvPr id="34" name="ZoneTexte 33">
            <a:extLst>
              <a:ext uri="{FF2B5EF4-FFF2-40B4-BE49-F238E27FC236}">
                <a16:creationId xmlns:a16="http://schemas.microsoft.com/office/drawing/2014/main" id="{1996C95C-3C34-C07E-0B74-09BAAF397DE6}"/>
              </a:ext>
            </a:extLst>
          </p:cNvPr>
          <p:cNvSpPr txBox="1"/>
          <p:nvPr/>
        </p:nvSpPr>
        <p:spPr>
          <a:xfrm>
            <a:off x="2548061" y="4752055"/>
            <a:ext cx="2369457" cy="1200329"/>
          </a:xfrm>
          <a:prstGeom prst="rect">
            <a:avLst/>
          </a:prstGeom>
          <a:noFill/>
        </p:spPr>
        <p:txBody>
          <a:bodyPr wrap="square" rtlCol="0">
            <a:spAutoFit/>
          </a:bodyPr>
          <a:lstStyle/>
          <a:p>
            <a:pPr algn="ctr"/>
            <a:r>
              <a:rPr lang="fr-FR" b="1" dirty="0"/>
              <a:t>Évaluation</a:t>
            </a:r>
            <a:r>
              <a:rPr lang="fr-FR" dirty="0"/>
              <a:t>  </a:t>
            </a:r>
          </a:p>
          <a:p>
            <a:pPr algn="ctr"/>
            <a:r>
              <a:rPr lang="fr-FR" dirty="0"/>
              <a:t>Calculer la luminosité de chaque luciole via la fonction objectif.</a:t>
            </a:r>
          </a:p>
        </p:txBody>
      </p:sp>
      <p:sp>
        <p:nvSpPr>
          <p:cNvPr id="37" name="ZoneTexte 36">
            <a:extLst>
              <a:ext uri="{FF2B5EF4-FFF2-40B4-BE49-F238E27FC236}">
                <a16:creationId xmlns:a16="http://schemas.microsoft.com/office/drawing/2014/main" id="{53EF341E-D622-7843-837B-9A8B1534E077}"/>
              </a:ext>
            </a:extLst>
          </p:cNvPr>
          <p:cNvSpPr txBox="1"/>
          <p:nvPr/>
        </p:nvSpPr>
        <p:spPr>
          <a:xfrm>
            <a:off x="4986805" y="2865845"/>
            <a:ext cx="2009787" cy="1463311"/>
          </a:xfrm>
          <a:prstGeom prst="rect">
            <a:avLst/>
          </a:prstGeom>
          <a:noFill/>
        </p:spPr>
        <p:txBody>
          <a:bodyPr wrap="square" rtlCol="0">
            <a:spAutoFit/>
          </a:bodyPr>
          <a:lstStyle/>
          <a:p>
            <a:pPr algn="ctr"/>
            <a:r>
              <a:rPr lang="fr-FR" b="1" dirty="0"/>
              <a:t>Mouvement</a:t>
            </a:r>
            <a:r>
              <a:rPr lang="fr-FR" dirty="0"/>
              <a:t>  Chaque luciole se déplace vers les lucioles plus brillantes</a:t>
            </a:r>
          </a:p>
        </p:txBody>
      </p:sp>
      <p:sp>
        <p:nvSpPr>
          <p:cNvPr id="38" name="ZoneTexte 37">
            <a:extLst>
              <a:ext uri="{FF2B5EF4-FFF2-40B4-BE49-F238E27FC236}">
                <a16:creationId xmlns:a16="http://schemas.microsoft.com/office/drawing/2014/main" id="{2C1B4EEE-CAF3-F7B4-963C-A456E3982D58}"/>
              </a:ext>
            </a:extLst>
          </p:cNvPr>
          <p:cNvSpPr txBox="1"/>
          <p:nvPr/>
        </p:nvSpPr>
        <p:spPr>
          <a:xfrm>
            <a:off x="7019884" y="4637945"/>
            <a:ext cx="2676278" cy="1200329"/>
          </a:xfrm>
          <a:prstGeom prst="rect">
            <a:avLst/>
          </a:prstGeom>
          <a:noFill/>
        </p:spPr>
        <p:txBody>
          <a:bodyPr wrap="square" rtlCol="0">
            <a:spAutoFit/>
          </a:bodyPr>
          <a:lstStyle/>
          <a:p>
            <a:pPr algn="ctr"/>
            <a:r>
              <a:rPr lang="fr-FR" b="1" dirty="0"/>
              <a:t>Mise à jour</a:t>
            </a:r>
            <a:r>
              <a:rPr lang="fr-FR" dirty="0"/>
              <a:t> </a:t>
            </a:r>
          </a:p>
          <a:p>
            <a:pPr algn="ctr"/>
            <a:r>
              <a:rPr lang="fr-FR" dirty="0"/>
              <a:t>Recalculer les nouvelles positions et la fonction objectif.</a:t>
            </a:r>
          </a:p>
        </p:txBody>
      </p:sp>
      <p:sp>
        <p:nvSpPr>
          <p:cNvPr id="39" name="ZoneTexte 38">
            <a:extLst>
              <a:ext uri="{FF2B5EF4-FFF2-40B4-BE49-F238E27FC236}">
                <a16:creationId xmlns:a16="http://schemas.microsoft.com/office/drawing/2014/main" id="{6AA8893C-8562-9E12-3AD2-9A1037E8D796}"/>
              </a:ext>
            </a:extLst>
          </p:cNvPr>
          <p:cNvSpPr txBox="1"/>
          <p:nvPr/>
        </p:nvSpPr>
        <p:spPr>
          <a:xfrm>
            <a:off x="9610801" y="2944642"/>
            <a:ext cx="1860702" cy="923330"/>
          </a:xfrm>
          <a:prstGeom prst="rect">
            <a:avLst/>
          </a:prstGeom>
          <a:noFill/>
        </p:spPr>
        <p:txBody>
          <a:bodyPr wrap="square" rtlCol="0">
            <a:spAutoFit/>
          </a:bodyPr>
          <a:lstStyle/>
          <a:p>
            <a:pPr algn="ctr"/>
            <a:r>
              <a:rPr lang="fr-FR" b="1" dirty="0"/>
              <a:t>Boucle</a:t>
            </a:r>
            <a:r>
              <a:rPr lang="fr-FR" dirty="0"/>
              <a:t> </a:t>
            </a:r>
          </a:p>
          <a:p>
            <a:pPr algn="ctr"/>
            <a:r>
              <a:rPr lang="fr-FR" dirty="0"/>
              <a:t> Répéter jusqu’à un critère d’arrêt</a:t>
            </a:r>
          </a:p>
        </p:txBody>
      </p:sp>
      <p:grpSp>
        <p:nvGrpSpPr>
          <p:cNvPr id="44" name="Groupe 43">
            <a:extLst>
              <a:ext uri="{FF2B5EF4-FFF2-40B4-BE49-F238E27FC236}">
                <a16:creationId xmlns:a16="http://schemas.microsoft.com/office/drawing/2014/main" id="{A4B6E42A-9566-9E10-36F7-F312A6CB0240}"/>
              </a:ext>
            </a:extLst>
          </p:cNvPr>
          <p:cNvGrpSpPr/>
          <p:nvPr/>
        </p:nvGrpSpPr>
        <p:grpSpPr>
          <a:xfrm>
            <a:off x="13498321" y="69845"/>
            <a:ext cx="7181473" cy="6672924"/>
            <a:chOff x="2202194" y="245731"/>
            <a:chExt cx="7181473" cy="6672924"/>
          </a:xfrm>
        </p:grpSpPr>
        <p:sp>
          <p:nvSpPr>
            <p:cNvPr id="45" name="Ellipse 44">
              <a:extLst>
                <a:ext uri="{FF2B5EF4-FFF2-40B4-BE49-F238E27FC236}">
                  <a16:creationId xmlns:a16="http://schemas.microsoft.com/office/drawing/2014/main" id="{C7B5AA1F-DB33-8967-5625-A3E73E9D4937}"/>
                </a:ext>
              </a:extLst>
            </p:cNvPr>
            <p:cNvSpPr/>
            <p:nvPr/>
          </p:nvSpPr>
          <p:spPr>
            <a:xfrm>
              <a:off x="5027567" y="245731"/>
              <a:ext cx="1630680" cy="403225"/>
            </a:xfrm>
            <a:prstGeom prst="ellipse">
              <a:avLst/>
            </a:prstGeom>
            <a:solidFill>
              <a:schemeClr val="bg2"/>
            </a:solidFill>
            <a:ln>
              <a:noFill/>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6" name="Ellipse 45">
              <a:extLst>
                <a:ext uri="{FF2B5EF4-FFF2-40B4-BE49-F238E27FC236}">
                  <a16:creationId xmlns:a16="http://schemas.microsoft.com/office/drawing/2014/main" id="{4CFD6FBC-1A5C-0F08-1F1F-134DA0B87FE0}"/>
                </a:ext>
              </a:extLst>
            </p:cNvPr>
            <p:cNvSpPr/>
            <p:nvPr/>
          </p:nvSpPr>
          <p:spPr>
            <a:xfrm>
              <a:off x="5145677" y="6235052"/>
              <a:ext cx="1567180" cy="419780"/>
            </a:xfrm>
            <a:prstGeom prst="ellipse">
              <a:avLst/>
            </a:prstGeom>
            <a:solidFill>
              <a:schemeClr val="bg2"/>
            </a:solidFill>
            <a:ln>
              <a:noFill/>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7" name="Rectangle 46">
              <a:extLst>
                <a:ext uri="{FF2B5EF4-FFF2-40B4-BE49-F238E27FC236}">
                  <a16:creationId xmlns:a16="http://schemas.microsoft.com/office/drawing/2014/main" id="{0EE5632E-49A8-CAA4-B852-F9C002DC2707}"/>
                </a:ext>
              </a:extLst>
            </p:cNvPr>
            <p:cNvSpPr/>
            <p:nvPr/>
          </p:nvSpPr>
          <p:spPr>
            <a:xfrm>
              <a:off x="4214767" y="877557"/>
              <a:ext cx="3200400" cy="5410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8" name="Rectangle 47">
              <a:extLst>
                <a:ext uri="{FF2B5EF4-FFF2-40B4-BE49-F238E27FC236}">
                  <a16:creationId xmlns:a16="http://schemas.microsoft.com/office/drawing/2014/main" id="{82F4EF53-BDEC-6926-0BBE-51E9F37CA0A4}"/>
                </a:ext>
              </a:extLst>
            </p:cNvPr>
            <p:cNvSpPr/>
            <p:nvPr/>
          </p:nvSpPr>
          <p:spPr>
            <a:xfrm>
              <a:off x="4595767" y="1644002"/>
              <a:ext cx="2613660" cy="5867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9" name="Rectangle 48">
              <a:extLst>
                <a:ext uri="{FF2B5EF4-FFF2-40B4-BE49-F238E27FC236}">
                  <a16:creationId xmlns:a16="http://schemas.microsoft.com/office/drawing/2014/main" id="{43ED0442-EB22-B3F5-3A81-85D6262010D2}"/>
                </a:ext>
              </a:extLst>
            </p:cNvPr>
            <p:cNvSpPr/>
            <p:nvPr/>
          </p:nvSpPr>
          <p:spPr>
            <a:xfrm>
              <a:off x="4593227" y="2500617"/>
              <a:ext cx="2613660" cy="5410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0" name="Rectangle 49">
              <a:extLst>
                <a:ext uri="{FF2B5EF4-FFF2-40B4-BE49-F238E27FC236}">
                  <a16:creationId xmlns:a16="http://schemas.microsoft.com/office/drawing/2014/main" id="{AF237F2F-7624-663C-4055-377057492212}"/>
                </a:ext>
              </a:extLst>
            </p:cNvPr>
            <p:cNvSpPr/>
            <p:nvPr/>
          </p:nvSpPr>
          <p:spPr>
            <a:xfrm>
              <a:off x="4078877" y="4043667"/>
              <a:ext cx="3775710" cy="5416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1" name="Rectangle 50">
              <a:extLst>
                <a:ext uri="{FF2B5EF4-FFF2-40B4-BE49-F238E27FC236}">
                  <a16:creationId xmlns:a16="http://schemas.microsoft.com/office/drawing/2014/main" id="{CCEA317D-C7EB-1A1F-5AFC-C5388713C671}"/>
                </a:ext>
              </a:extLst>
            </p:cNvPr>
            <p:cNvSpPr/>
            <p:nvPr/>
          </p:nvSpPr>
          <p:spPr>
            <a:xfrm>
              <a:off x="2886347" y="3079737"/>
              <a:ext cx="1066800" cy="9601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2" name="Rectangle 51">
              <a:extLst>
                <a:ext uri="{FF2B5EF4-FFF2-40B4-BE49-F238E27FC236}">
                  <a16:creationId xmlns:a16="http://schemas.microsoft.com/office/drawing/2014/main" id="{F09397BD-CA6D-350D-95BF-C61911BB79B2}"/>
                </a:ext>
              </a:extLst>
            </p:cNvPr>
            <p:cNvSpPr/>
            <p:nvPr/>
          </p:nvSpPr>
          <p:spPr>
            <a:xfrm>
              <a:off x="7999367" y="3044812"/>
              <a:ext cx="1346200" cy="11938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3" name="Losange 52">
              <a:extLst>
                <a:ext uri="{FF2B5EF4-FFF2-40B4-BE49-F238E27FC236}">
                  <a16:creationId xmlns:a16="http://schemas.microsoft.com/office/drawing/2014/main" id="{ED851206-0E15-4E3C-9BB0-58A7203444EE}"/>
                </a:ext>
              </a:extLst>
            </p:cNvPr>
            <p:cNvSpPr/>
            <p:nvPr/>
          </p:nvSpPr>
          <p:spPr>
            <a:xfrm>
              <a:off x="5145677" y="3227057"/>
              <a:ext cx="1489710" cy="592455"/>
            </a:xfrm>
            <a:prstGeom prst="diamon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4" name="Losange 53">
              <a:extLst>
                <a:ext uri="{FF2B5EF4-FFF2-40B4-BE49-F238E27FC236}">
                  <a16:creationId xmlns:a16="http://schemas.microsoft.com/office/drawing/2014/main" id="{5058793F-FE70-B611-2F82-026C87ECFF31}"/>
                </a:ext>
              </a:extLst>
            </p:cNvPr>
            <p:cNvSpPr/>
            <p:nvPr/>
          </p:nvSpPr>
          <p:spPr>
            <a:xfrm>
              <a:off x="5148217" y="4729467"/>
              <a:ext cx="1489710" cy="704850"/>
            </a:xfrm>
            <a:prstGeom prst="diamon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5" name="Rectangle 54">
              <a:extLst>
                <a:ext uri="{FF2B5EF4-FFF2-40B4-BE49-F238E27FC236}">
                  <a16:creationId xmlns:a16="http://schemas.microsoft.com/office/drawing/2014/main" id="{5718421A-2CEB-F15C-8783-485120D29D03}"/>
                </a:ext>
              </a:extLst>
            </p:cNvPr>
            <p:cNvSpPr/>
            <p:nvPr/>
          </p:nvSpPr>
          <p:spPr>
            <a:xfrm>
              <a:off x="4663077" y="5542267"/>
              <a:ext cx="2613660" cy="5410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6" name="Flèche : bas 55">
              <a:extLst>
                <a:ext uri="{FF2B5EF4-FFF2-40B4-BE49-F238E27FC236}">
                  <a16:creationId xmlns:a16="http://schemas.microsoft.com/office/drawing/2014/main" id="{A50EB7FC-36E8-4877-32D7-11189C7F6774}"/>
                </a:ext>
              </a:extLst>
            </p:cNvPr>
            <p:cNvSpPr/>
            <p:nvPr/>
          </p:nvSpPr>
          <p:spPr>
            <a:xfrm>
              <a:off x="5738767" y="652132"/>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7" name="Flèche : bas 56">
              <a:extLst>
                <a:ext uri="{FF2B5EF4-FFF2-40B4-BE49-F238E27FC236}">
                  <a16:creationId xmlns:a16="http://schemas.microsoft.com/office/drawing/2014/main" id="{070F4C62-299C-3630-C247-CF3B10BB87E2}"/>
                </a:ext>
              </a:extLst>
            </p:cNvPr>
            <p:cNvSpPr/>
            <p:nvPr/>
          </p:nvSpPr>
          <p:spPr>
            <a:xfrm>
              <a:off x="5738767" y="14185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8" name="Flèche : bas 57">
              <a:extLst>
                <a:ext uri="{FF2B5EF4-FFF2-40B4-BE49-F238E27FC236}">
                  <a16:creationId xmlns:a16="http://schemas.microsoft.com/office/drawing/2014/main" id="{18545482-C784-F252-C7F6-313CC8C5BB28}"/>
                </a:ext>
              </a:extLst>
            </p:cNvPr>
            <p:cNvSpPr/>
            <p:nvPr/>
          </p:nvSpPr>
          <p:spPr>
            <a:xfrm>
              <a:off x="5738767" y="2276462"/>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9" name="Flèche : bas 58">
              <a:extLst>
                <a:ext uri="{FF2B5EF4-FFF2-40B4-BE49-F238E27FC236}">
                  <a16:creationId xmlns:a16="http://schemas.microsoft.com/office/drawing/2014/main" id="{27A03BCE-42EC-F33B-C1D3-BF88854D1915}"/>
                </a:ext>
              </a:extLst>
            </p:cNvPr>
            <p:cNvSpPr/>
            <p:nvPr/>
          </p:nvSpPr>
          <p:spPr>
            <a:xfrm>
              <a:off x="5789567" y="30060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60" name="Flèche : bas 59">
              <a:extLst>
                <a:ext uri="{FF2B5EF4-FFF2-40B4-BE49-F238E27FC236}">
                  <a16:creationId xmlns:a16="http://schemas.microsoft.com/office/drawing/2014/main" id="{18D01A23-6EE8-D071-FB18-4E6393D42E0D}"/>
                </a:ext>
              </a:extLst>
            </p:cNvPr>
            <p:cNvSpPr/>
            <p:nvPr/>
          </p:nvSpPr>
          <p:spPr>
            <a:xfrm>
              <a:off x="5789567" y="381379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61" name="Flèche : bas 60">
              <a:extLst>
                <a:ext uri="{FF2B5EF4-FFF2-40B4-BE49-F238E27FC236}">
                  <a16:creationId xmlns:a16="http://schemas.microsoft.com/office/drawing/2014/main" id="{42EB20B4-03F0-5250-9D69-EA86BF6C5F2E}"/>
                </a:ext>
              </a:extLst>
            </p:cNvPr>
            <p:cNvSpPr/>
            <p:nvPr/>
          </p:nvSpPr>
          <p:spPr>
            <a:xfrm>
              <a:off x="5805442" y="45046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62" name="Flèche : bas 61">
              <a:extLst>
                <a:ext uri="{FF2B5EF4-FFF2-40B4-BE49-F238E27FC236}">
                  <a16:creationId xmlns:a16="http://schemas.microsoft.com/office/drawing/2014/main" id="{D4BBD94D-8CAE-3945-B90A-C46AF82D27F5}"/>
                </a:ext>
              </a:extLst>
            </p:cNvPr>
            <p:cNvSpPr/>
            <p:nvPr/>
          </p:nvSpPr>
          <p:spPr>
            <a:xfrm>
              <a:off x="5789567" y="53174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63" name="Flèche : bas 62">
              <a:extLst>
                <a:ext uri="{FF2B5EF4-FFF2-40B4-BE49-F238E27FC236}">
                  <a16:creationId xmlns:a16="http://schemas.microsoft.com/office/drawing/2014/main" id="{A5944552-0A14-191B-BF68-B8E321B47769}"/>
                </a:ext>
              </a:extLst>
            </p:cNvPr>
            <p:cNvSpPr/>
            <p:nvPr/>
          </p:nvSpPr>
          <p:spPr>
            <a:xfrm>
              <a:off x="5791472" y="600708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64" name="Flèche : angle droit 63">
              <a:extLst>
                <a:ext uri="{FF2B5EF4-FFF2-40B4-BE49-F238E27FC236}">
                  <a16:creationId xmlns:a16="http://schemas.microsoft.com/office/drawing/2014/main" id="{3691BE95-198B-4EA9-2A7B-D28D68077B54}"/>
                </a:ext>
              </a:extLst>
            </p:cNvPr>
            <p:cNvSpPr/>
            <p:nvPr/>
          </p:nvSpPr>
          <p:spPr>
            <a:xfrm flipH="1">
              <a:off x="3150507" y="4046207"/>
              <a:ext cx="1927860" cy="1089660"/>
            </a:xfrm>
            <a:prstGeom prst="bentUpArrow">
              <a:avLst>
                <a:gd name="adj1" fmla="val 7536"/>
                <a:gd name="adj2" fmla="val 14495"/>
                <a:gd name="adj3" fmla="val 1691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65" name="Flèche : angle droit 64">
              <a:extLst>
                <a:ext uri="{FF2B5EF4-FFF2-40B4-BE49-F238E27FC236}">
                  <a16:creationId xmlns:a16="http://schemas.microsoft.com/office/drawing/2014/main" id="{D308C7BB-558F-3A8B-7142-9B651E482D17}"/>
                </a:ext>
              </a:extLst>
            </p:cNvPr>
            <p:cNvSpPr/>
            <p:nvPr/>
          </p:nvSpPr>
          <p:spPr>
            <a:xfrm rot="5400000" flipH="1">
              <a:off x="3321322" y="1814817"/>
              <a:ext cx="1238885" cy="1264285"/>
            </a:xfrm>
            <a:prstGeom prst="bentUpArrow">
              <a:avLst>
                <a:gd name="adj1" fmla="val 7536"/>
                <a:gd name="adj2" fmla="val 8240"/>
                <a:gd name="adj3" fmla="val 1691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66" name="Flèche : bas 65">
              <a:extLst>
                <a:ext uri="{FF2B5EF4-FFF2-40B4-BE49-F238E27FC236}">
                  <a16:creationId xmlns:a16="http://schemas.microsoft.com/office/drawing/2014/main" id="{2564C7B8-9A2B-209C-C83C-5EAD6CF2C292}"/>
                </a:ext>
              </a:extLst>
            </p:cNvPr>
            <p:cNvSpPr/>
            <p:nvPr/>
          </p:nvSpPr>
          <p:spPr>
            <a:xfrm rot="16200000">
              <a:off x="7268799" y="2871140"/>
              <a:ext cx="196215" cy="125730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67" name="Zone de texte 6">
              <a:extLst>
                <a:ext uri="{FF2B5EF4-FFF2-40B4-BE49-F238E27FC236}">
                  <a16:creationId xmlns:a16="http://schemas.microsoft.com/office/drawing/2014/main" id="{14614915-89E9-C59A-FB9B-E40FA8A64CE2}"/>
                </a:ext>
              </a:extLst>
            </p:cNvPr>
            <p:cNvSpPr txBox="1">
              <a:spLocks noChangeArrowheads="1"/>
            </p:cNvSpPr>
            <p:nvPr/>
          </p:nvSpPr>
          <p:spPr bwMode="auto">
            <a:xfrm>
              <a:off x="5161443" y="301269"/>
              <a:ext cx="13287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Début</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68" name="Text Box 14">
              <a:extLst>
                <a:ext uri="{FF2B5EF4-FFF2-40B4-BE49-F238E27FC236}">
                  <a16:creationId xmlns:a16="http://schemas.microsoft.com/office/drawing/2014/main" id="{C8451B0D-BCEF-F841-D279-734392CE8D07}"/>
                </a:ext>
              </a:extLst>
            </p:cNvPr>
            <p:cNvSpPr txBox="1">
              <a:spLocks noChangeArrowheads="1"/>
            </p:cNvSpPr>
            <p:nvPr/>
          </p:nvSpPr>
          <p:spPr bwMode="auto">
            <a:xfrm>
              <a:off x="4126235" y="949772"/>
              <a:ext cx="333533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G</a:t>
              </a:r>
              <a:r>
                <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n</a:t>
              </a:r>
              <a:r>
                <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ration de la population initiale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9" name="Text Box 13">
              <a:extLst>
                <a:ext uri="{FF2B5EF4-FFF2-40B4-BE49-F238E27FC236}">
                  <a16:creationId xmlns:a16="http://schemas.microsoft.com/office/drawing/2014/main" id="{D1B6D01D-DC39-34F8-56B4-89D57F4A042A}"/>
                </a:ext>
              </a:extLst>
            </p:cNvPr>
            <p:cNvSpPr txBox="1">
              <a:spLocks noChangeArrowheads="1"/>
            </p:cNvSpPr>
            <p:nvPr/>
          </p:nvSpPr>
          <p:spPr bwMode="auto">
            <a:xfrm>
              <a:off x="4403412" y="1642142"/>
              <a:ext cx="28448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Evaluation de luminosit</a:t>
              </a:r>
              <a:r>
                <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 des lucioles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70" name="Text Box 12">
              <a:extLst>
                <a:ext uri="{FF2B5EF4-FFF2-40B4-BE49-F238E27FC236}">
                  <a16:creationId xmlns:a16="http://schemas.microsoft.com/office/drawing/2014/main" id="{61255F5F-4995-F59F-0106-0A2FA40B9F47}"/>
                </a:ext>
              </a:extLst>
            </p:cNvPr>
            <p:cNvSpPr txBox="1">
              <a:spLocks noChangeArrowheads="1"/>
            </p:cNvSpPr>
            <p:nvPr/>
          </p:nvSpPr>
          <p:spPr bwMode="auto">
            <a:xfrm>
              <a:off x="4569732" y="2485962"/>
              <a:ext cx="26416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Classement des lucioles selon leur intensit</a:t>
              </a:r>
              <a:r>
                <a:rPr kumimoji="0" lang="fr-FR" altLang="fr-FR" sz="1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4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1" name="Text Box 11">
              <a:extLst>
                <a:ext uri="{FF2B5EF4-FFF2-40B4-BE49-F238E27FC236}">
                  <a16:creationId xmlns:a16="http://schemas.microsoft.com/office/drawing/2014/main" id="{0224AA7E-02D3-75CE-2314-0553376DD5F3}"/>
                </a:ext>
              </a:extLst>
            </p:cNvPr>
            <p:cNvSpPr txBox="1">
              <a:spLocks noChangeArrowheads="1"/>
            </p:cNvSpPr>
            <p:nvPr/>
          </p:nvSpPr>
          <p:spPr bwMode="auto">
            <a:xfrm>
              <a:off x="5297601" y="3322784"/>
              <a:ext cx="11858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err="1">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Comapraison</a:t>
              </a:r>
              <a:r>
                <a:rPr kumimoji="0" lang="fr-FR" altLang="fr-FR" sz="12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 I(i) &lt;I(j)</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72" name="Zone de texte 7">
              <a:extLst>
                <a:ext uri="{FF2B5EF4-FFF2-40B4-BE49-F238E27FC236}">
                  <a16:creationId xmlns:a16="http://schemas.microsoft.com/office/drawing/2014/main" id="{02049B50-5170-7572-FC59-04E26B24EFF0}"/>
                </a:ext>
              </a:extLst>
            </p:cNvPr>
            <p:cNvSpPr txBox="1">
              <a:spLocks noChangeArrowheads="1"/>
            </p:cNvSpPr>
            <p:nvPr/>
          </p:nvSpPr>
          <p:spPr bwMode="auto">
            <a:xfrm>
              <a:off x="7961267" y="3195424"/>
              <a:ext cx="14224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Deplacement  de la luciole i vers j</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3" name="Text Box 9">
              <a:extLst>
                <a:ext uri="{FF2B5EF4-FFF2-40B4-BE49-F238E27FC236}">
                  <a16:creationId xmlns:a16="http://schemas.microsoft.com/office/drawing/2014/main" id="{01FB1ECF-33B1-18EE-509C-E8B4E7A0E9C9}"/>
                </a:ext>
              </a:extLst>
            </p:cNvPr>
            <p:cNvSpPr txBox="1">
              <a:spLocks noChangeArrowheads="1"/>
            </p:cNvSpPr>
            <p:nvPr/>
          </p:nvSpPr>
          <p:spPr bwMode="auto">
            <a:xfrm>
              <a:off x="6379165" y="3339519"/>
              <a:ext cx="11858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oui</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74" name="Text Box 8">
              <a:extLst>
                <a:ext uri="{FF2B5EF4-FFF2-40B4-BE49-F238E27FC236}">
                  <a16:creationId xmlns:a16="http://schemas.microsoft.com/office/drawing/2014/main" id="{EA45666B-1252-9A34-21CD-7D018B671A98}"/>
                </a:ext>
              </a:extLst>
            </p:cNvPr>
            <p:cNvSpPr txBox="1">
              <a:spLocks noChangeArrowheads="1"/>
            </p:cNvSpPr>
            <p:nvPr/>
          </p:nvSpPr>
          <p:spPr bwMode="auto">
            <a:xfrm>
              <a:off x="4872631" y="3735924"/>
              <a:ext cx="118586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Non </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75" name="Text Box 7">
              <a:extLst>
                <a:ext uri="{FF2B5EF4-FFF2-40B4-BE49-F238E27FC236}">
                  <a16:creationId xmlns:a16="http://schemas.microsoft.com/office/drawing/2014/main" id="{FB8193B6-C340-9AF8-3FD3-2FDBC09F2299}"/>
                </a:ext>
              </a:extLst>
            </p:cNvPr>
            <p:cNvSpPr txBox="1">
              <a:spLocks noChangeArrowheads="1"/>
            </p:cNvSpPr>
            <p:nvPr/>
          </p:nvSpPr>
          <p:spPr bwMode="auto">
            <a:xfrm>
              <a:off x="6083389" y="5199838"/>
              <a:ext cx="118586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oui</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76" name="Text Box 6">
              <a:extLst>
                <a:ext uri="{FF2B5EF4-FFF2-40B4-BE49-F238E27FC236}">
                  <a16:creationId xmlns:a16="http://schemas.microsoft.com/office/drawing/2014/main" id="{CF2255F5-D4B3-3632-8756-92DF8738ADD6}"/>
                </a:ext>
              </a:extLst>
            </p:cNvPr>
            <p:cNvSpPr txBox="1">
              <a:spLocks noChangeArrowheads="1"/>
            </p:cNvSpPr>
            <p:nvPr/>
          </p:nvSpPr>
          <p:spPr bwMode="auto">
            <a:xfrm>
              <a:off x="3044252" y="4735089"/>
              <a:ext cx="118586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Non </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77" name="Text Box 5">
              <a:extLst>
                <a:ext uri="{FF2B5EF4-FFF2-40B4-BE49-F238E27FC236}">
                  <a16:creationId xmlns:a16="http://schemas.microsoft.com/office/drawing/2014/main" id="{334CD5F2-08CE-8A6E-450D-3BCA29F0804B}"/>
                </a:ext>
              </a:extLst>
            </p:cNvPr>
            <p:cNvSpPr txBox="1">
              <a:spLocks noChangeArrowheads="1"/>
            </p:cNvSpPr>
            <p:nvPr/>
          </p:nvSpPr>
          <p:spPr bwMode="auto">
            <a:xfrm>
              <a:off x="4744198" y="5633771"/>
              <a:ext cx="237013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Solution optimale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78" name="Text Box 4">
              <a:extLst>
                <a:ext uri="{FF2B5EF4-FFF2-40B4-BE49-F238E27FC236}">
                  <a16:creationId xmlns:a16="http://schemas.microsoft.com/office/drawing/2014/main" id="{C89BD9F2-0AD1-B0B1-129E-A10F73F662B8}"/>
                </a:ext>
              </a:extLst>
            </p:cNvPr>
            <p:cNvSpPr txBox="1">
              <a:spLocks noChangeArrowheads="1"/>
            </p:cNvSpPr>
            <p:nvPr/>
          </p:nvSpPr>
          <p:spPr bwMode="auto">
            <a:xfrm>
              <a:off x="4744198" y="6286830"/>
              <a:ext cx="2370138"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Fin </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79" name="Text Box 3">
              <a:extLst>
                <a:ext uri="{FF2B5EF4-FFF2-40B4-BE49-F238E27FC236}">
                  <a16:creationId xmlns:a16="http://schemas.microsoft.com/office/drawing/2014/main" id="{624FE4F1-5151-307A-0E38-12F73E63EA87}"/>
                </a:ext>
              </a:extLst>
            </p:cNvPr>
            <p:cNvSpPr txBox="1">
              <a:spLocks noChangeArrowheads="1"/>
            </p:cNvSpPr>
            <p:nvPr/>
          </p:nvSpPr>
          <p:spPr bwMode="auto">
            <a:xfrm>
              <a:off x="2202194" y="3345245"/>
              <a:ext cx="2370138"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Gen+= 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0" name="Text Box 2">
              <a:extLst>
                <a:ext uri="{FF2B5EF4-FFF2-40B4-BE49-F238E27FC236}">
                  <a16:creationId xmlns:a16="http://schemas.microsoft.com/office/drawing/2014/main" id="{444A17EA-C29F-AACD-6A21-9D61BD414287}"/>
                </a:ext>
              </a:extLst>
            </p:cNvPr>
            <p:cNvSpPr txBox="1">
              <a:spLocks noChangeArrowheads="1"/>
            </p:cNvSpPr>
            <p:nvPr/>
          </p:nvSpPr>
          <p:spPr bwMode="auto">
            <a:xfrm>
              <a:off x="4023076" y="4040174"/>
              <a:ext cx="38682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Evaluation de la nouvelle solution et mise </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à</a:t>
              </a:r>
              <a:r>
                <a:rPr kumimoji="0" lang="fr-FR" altLang="fr-FR" sz="14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 jour des intensit</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4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s des lucioles et du classement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1" name="Text Box 1">
              <a:extLst>
                <a:ext uri="{FF2B5EF4-FFF2-40B4-BE49-F238E27FC236}">
                  <a16:creationId xmlns:a16="http://schemas.microsoft.com/office/drawing/2014/main" id="{021FEF8C-E48C-DB30-78BF-96FB174BC8BE}"/>
                </a:ext>
              </a:extLst>
            </p:cNvPr>
            <p:cNvSpPr txBox="1">
              <a:spLocks noChangeArrowheads="1"/>
            </p:cNvSpPr>
            <p:nvPr/>
          </p:nvSpPr>
          <p:spPr bwMode="auto">
            <a:xfrm>
              <a:off x="5136982" y="4914919"/>
              <a:ext cx="14652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Gen</a:t>
              </a: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 &gt; </a:t>
              </a:r>
              <a:r>
                <a:rPr kumimoji="0" lang="fr-FR" altLang="fr-FR" sz="1400" b="0" i="0" u="none" strike="noStrike" cap="none" normalizeH="0" baseline="0" dirty="0" err="1">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maxGen</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grpSp>
    </p:spTree>
    <p:extLst>
      <p:ext uri="{BB962C8B-B14F-4D97-AF65-F5344CB8AC3E}">
        <p14:creationId xmlns:p14="http://schemas.microsoft.com/office/powerpoint/2010/main" val="1168416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BFC874F2-3534-67DA-14AF-58BB34D4D599}"/>
            </a:ext>
          </a:extLst>
        </p:cNvPr>
        <p:cNvGrpSpPr/>
        <p:nvPr/>
      </p:nvGrpSpPr>
      <p:grpSpPr>
        <a:xfrm>
          <a:off x="0" y="0"/>
          <a:ext cx="0" cy="0"/>
          <a:chOff x="0" y="0"/>
          <a:chExt cx="0" cy="0"/>
        </a:xfrm>
      </p:grpSpPr>
      <p:cxnSp>
        <p:nvCxnSpPr>
          <p:cNvPr id="21" name="Connecteur droit 20">
            <a:extLst>
              <a:ext uri="{FF2B5EF4-FFF2-40B4-BE49-F238E27FC236}">
                <a16:creationId xmlns:a16="http://schemas.microsoft.com/office/drawing/2014/main" id="{D61CB083-6760-BEB0-4C3B-A85EBF0D8B44}"/>
              </a:ext>
            </a:extLst>
          </p:cNvPr>
          <p:cNvCxnSpPr>
            <a:cxnSpLocks/>
            <a:stCxn id="17" idx="2"/>
            <a:endCxn id="12" idx="6"/>
          </p:cNvCxnSpPr>
          <p:nvPr/>
        </p:nvCxnSpPr>
        <p:spPr>
          <a:xfrm flipH="1">
            <a:off x="4516878" y="8149383"/>
            <a:ext cx="1240208" cy="1664311"/>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8C65C40D-2E68-FA6F-4A05-8F20C9DFF4D1}"/>
              </a:ext>
            </a:extLst>
          </p:cNvPr>
          <p:cNvCxnSpPr>
            <a:cxnSpLocks/>
            <a:stCxn id="11" idx="7"/>
            <a:endCxn id="12" idx="2"/>
          </p:cNvCxnSpPr>
          <p:nvPr/>
        </p:nvCxnSpPr>
        <p:spPr>
          <a:xfrm>
            <a:off x="2229198" y="7838030"/>
            <a:ext cx="1210729" cy="197566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39B4113-DD74-3149-9707-3544D406B015}"/>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F6C5D86B-405E-9D59-B625-22B981F5177A}"/>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D5D2445C-4FFA-B6D6-732C-D1FDF0DDD010}"/>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62CB1F8D-1C45-7919-B5ED-B629FCAB96AD}"/>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00DF1491-F363-7521-9FC1-5F3E4FF34D63}"/>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782E5DFD-145A-D5F6-A34C-FF62934B2859}"/>
              </a:ext>
            </a:extLst>
          </p:cNvPr>
          <p:cNvSpPr/>
          <p:nvPr/>
        </p:nvSpPr>
        <p:spPr>
          <a:xfrm>
            <a:off x="1309963" y="7681801"/>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2" name="Ellipse 11">
            <a:extLst>
              <a:ext uri="{FF2B5EF4-FFF2-40B4-BE49-F238E27FC236}">
                <a16:creationId xmlns:a16="http://schemas.microsoft.com/office/drawing/2014/main" id="{A9CBA400-964F-5F3F-9593-49D107985C88}"/>
              </a:ext>
            </a:extLst>
          </p:cNvPr>
          <p:cNvSpPr/>
          <p:nvPr/>
        </p:nvSpPr>
        <p:spPr>
          <a:xfrm>
            <a:off x="3439927" y="9280294"/>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14" name="ZoneTexte 13">
            <a:extLst>
              <a:ext uri="{FF2B5EF4-FFF2-40B4-BE49-F238E27FC236}">
                <a16:creationId xmlns:a16="http://schemas.microsoft.com/office/drawing/2014/main" id="{C7EE473F-DAA8-C515-FE28-8A3496FC5EEC}"/>
              </a:ext>
            </a:extLst>
          </p:cNvPr>
          <p:cNvSpPr txBox="1"/>
          <p:nvPr/>
        </p:nvSpPr>
        <p:spPr>
          <a:xfrm>
            <a:off x="773373" y="7830481"/>
            <a:ext cx="2150133" cy="769441"/>
          </a:xfrm>
          <a:prstGeom prst="rect">
            <a:avLst/>
          </a:prstGeom>
          <a:noFill/>
        </p:spPr>
        <p:txBody>
          <a:bodyPr wrap="square" rtlCol="0">
            <a:spAutoFit/>
          </a:bodyPr>
          <a:lstStyle/>
          <a:p>
            <a:pPr algn="ctr"/>
            <a:r>
              <a:rPr lang="fr-FR" sz="4400" dirty="0">
                <a:solidFill>
                  <a:schemeClr val="tx2">
                    <a:lumMod val="50000"/>
                  </a:schemeClr>
                </a:solidFill>
                <a:latin typeface="Arial Black" panose="020B0A04020102020204" pitchFamily="34" charset="0"/>
                <a:cs typeface="Aharoni" panose="02010803020104030203" pitchFamily="2" charset="-79"/>
              </a:rPr>
              <a:t>1</a:t>
            </a:r>
            <a:endParaRPr lang="fr-FR" sz="2800" dirty="0">
              <a:solidFill>
                <a:schemeClr val="tx2">
                  <a:lumMod val="50000"/>
                </a:schemeClr>
              </a:solidFill>
              <a:latin typeface="Aharoni" panose="02010803020104030203" pitchFamily="2" charset="-79"/>
              <a:cs typeface="Aharoni" panose="02010803020104030203" pitchFamily="2" charset="-79"/>
            </a:endParaRPr>
          </a:p>
        </p:txBody>
      </p:sp>
      <p:sp>
        <p:nvSpPr>
          <p:cNvPr id="15" name="ZoneTexte 14">
            <a:extLst>
              <a:ext uri="{FF2B5EF4-FFF2-40B4-BE49-F238E27FC236}">
                <a16:creationId xmlns:a16="http://schemas.microsoft.com/office/drawing/2014/main" id="{E324E28D-5909-BEDD-CB71-3D342BC3D7BC}"/>
              </a:ext>
            </a:extLst>
          </p:cNvPr>
          <p:cNvSpPr txBox="1"/>
          <p:nvPr/>
        </p:nvSpPr>
        <p:spPr>
          <a:xfrm>
            <a:off x="2932044" y="9464918"/>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2</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cxnSp>
        <p:nvCxnSpPr>
          <p:cNvPr id="6" name="Connecteur droit 5">
            <a:extLst>
              <a:ext uri="{FF2B5EF4-FFF2-40B4-BE49-F238E27FC236}">
                <a16:creationId xmlns:a16="http://schemas.microsoft.com/office/drawing/2014/main" id="{E384C643-5AA0-2313-1824-A4BE23BF1B37}"/>
              </a:ext>
            </a:extLst>
          </p:cNvPr>
          <p:cNvCxnSpPr>
            <a:cxnSpLocks/>
            <a:stCxn id="17" idx="7"/>
            <a:endCxn id="20" idx="2"/>
          </p:cNvCxnSpPr>
          <p:nvPr/>
        </p:nvCxnSpPr>
        <p:spPr>
          <a:xfrm>
            <a:off x="6676321" y="7772212"/>
            <a:ext cx="1363220" cy="1933041"/>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7" name="Ellipse 16">
            <a:extLst>
              <a:ext uri="{FF2B5EF4-FFF2-40B4-BE49-F238E27FC236}">
                <a16:creationId xmlns:a16="http://schemas.microsoft.com/office/drawing/2014/main" id="{E668864F-BCF8-C035-58BD-FD87C0521898}"/>
              </a:ext>
            </a:extLst>
          </p:cNvPr>
          <p:cNvSpPr/>
          <p:nvPr/>
        </p:nvSpPr>
        <p:spPr>
          <a:xfrm>
            <a:off x="5757086" y="7615983"/>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20" name="Ellipse 19">
            <a:extLst>
              <a:ext uri="{FF2B5EF4-FFF2-40B4-BE49-F238E27FC236}">
                <a16:creationId xmlns:a16="http://schemas.microsoft.com/office/drawing/2014/main" id="{F1CD4FDA-C251-FE6E-44BD-2850AD538676}"/>
              </a:ext>
            </a:extLst>
          </p:cNvPr>
          <p:cNvSpPr/>
          <p:nvPr/>
        </p:nvSpPr>
        <p:spPr>
          <a:xfrm>
            <a:off x="8039541" y="9171853"/>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cxnSp>
        <p:nvCxnSpPr>
          <p:cNvPr id="26" name="Connecteur droit 25">
            <a:extLst>
              <a:ext uri="{FF2B5EF4-FFF2-40B4-BE49-F238E27FC236}">
                <a16:creationId xmlns:a16="http://schemas.microsoft.com/office/drawing/2014/main" id="{28F02CA9-FB5D-13FB-1AB8-1B0B85E9D6B7}"/>
              </a:ext>
            </a:extLst>
          </p:cNvPr>
          <p:cNvCxnSpPr>
            <a:cxnSpLocks/>
            <a:stCxn id="27" idx="2"/>
            <a:endCxn id="20" idx="6"/>
          </p:cNvCxnSpPr>
          <p:nvPr/>
        </p:nvCxnSpPr>
        <p:spPr>
          <a:xfrm flipH="1">
            <a:off x="9116492" y="8149383"/>
            <a:ext cx="1144900" cy="155587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7" name="Ellipse 26">
            <a:extLst>
              <a:ext uri="{FF2B5EF4-FFF2-40B4-BE49-F238E27FC236}">
                <a16:creationId xmlns:a16="http://schemas.microsoft.com/office/drawing/2014/main" id="{C7909F01-8244-2233-91BA-FCC10A6C4D7C}"/>
              </a:ext>
            </a:extLst>
          </p:cNvPr>
          <p:cNvSpPr/>
          <p:nvPr/>
        </p:nvSpPr>
        <p:spPr>
          <a:xfrm>
            <a:off x="10261392" y="7615983"/>
            <a:ext cx="1076951" cy="1066800"/>
          </a:xfrm>
          <a:prstGeom prst="ellipse">
            <a:avLst/>
          </a:prstGeom>
          <a:solidFill>
            <a:srgbClr val="F7F0ED"/>
          </a:solidFill>
          <a:ln w="76200">
            <a:solidFill>
              <a:srgbClr val="FAF6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tx2">
                  <a:lumMod val="50000"/>
                </a:schemeClr>
              </a:solidFill>
            </a:endParaRPr>
          </a:p>
        </p:txBody>
      </p:sp>
      <p:sp>
        <p:nvSpPr>
          <p:cNvPr id="29" name="ZoneTexte 28">
            <a:extLst>
              <a:ext uri="{FF2B5EF4-FFF2-40B4-BE49-F238E27FC236}">
                <a16:creationId xmlns:a16="http://schemas.microsoft.com/office/drawing/2014/main" id="{E705F6B3-9F5A-6020-02BF-7219D154ACD1}"/>
              </a:ext>
            </a:extLst>
          </p:cNvPr>
          <p:cNvSpPr txBox="1"/>
          <p:nvPr/>
        </p:nvSpPr>
        <p:spPr>
          <a:xfrm>
            <a:off x="5213973" y="7795322"/>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3</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sp>
        <p:nvSpPr>
          <p:cNvPr id="30" name="ZoneTexte 29">
            <a:extLst>
              <a:ext uri="{FF2B5EF4-FFF2-40B4-BE49-F238E27FC236}">
                <a16:creationId xmlns:a16="http://schemas.microsoft.com/office/drawing/2014/main" id="{A1FCE0FD-AF67-1AC5-1B46-BE460E6C58A5}"/>
              </a:ext>
            </a:extLst>
          </p:cNvPr>
          <p:cNvSpPr txBox="1"/>
          <p:nvPr/>
        </p:nvSpPr>
        <p:spPr>
          <a:xfrm>
            <a:off x="7449860" y="9359783"/>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4</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sp>
        <p:nvSpPr>
          <p:cNvPr id="31" name="ZoneTexte 30">
            <a:extLst>
              <a:ext uri="{FF2B5EF4-FFF2-40B4-BE49-F238E27FC236}">
                <a16:creationId xmlns:a16="http://schemas.microsoft.com/office/drawing/2014/main" id="{56B13AFE-9136-997E-E115-0B15FE5C03E3}"/>
              </a:ext>
            </a:extLst>
          </p:cNvPr>
          <p:cNvSpPr txBox="1"/>
          <p:nvPr/>
        </p:nvSpPr>
        <p:spPr>
          <a:xfrm>
            <a:off x="9724801" y="7824806"/>
            <a:ext cx="2150133" cy="769441"/>
          </a:xfrm>
          <a:prstGeom prst="rect">
            <a:avLst/>
          </a:prstGeom>
          <a:noFill/>
        </p:spPr>
        <p:txBody>
          <a:bodyPr wrap="square" rtlCol="0">
            <a:spAutoFit/>
          </a:bodyPr>
          <a:lstStyle/>
          <a:p>
            <a:pPr algn="ctr"/>
            <a:r>
              <a:rPr lang="fr-FR" sz="4400" dirty="0">
                <a:solidFill>
                  <a:schemeClr val="tx2">
                    <a:lumMod val="75000"/>
                  </a:schemeClr>
                </a:solidFill>
                <a:latin typeface="Arial Black" panose="020B0A04020102020204" pitchFamily="34" charset="0"/>
                <a:cs typeface="Aharoni" panose="02010803020104030203" pitchFamily="2" charset="-79"/>
              </a:rPr>
              <a:t>5</a:t>
            </a:r>
            <a:endParaRPr lang="fr-FR" sz="2800" dirty="0">
              <a:solidFill>
                <a:schemeClr val="tx2">
                  <a:lumMod val="75000"/>
                </a:schemeClr>
              </a:solidFill>
              <a:latin typeface="Aharoni" panose="02010803020104030203" pitchFamily="2" charset="-79"/>
              <a:cs typeface="Aharoni" panose="02010803020104030203" pitchFamily="2" charset="-79"/>
            </a:endParaRPr>
          </a:p>
        </p:txBody>
      </p:sp>
      <p:sp>
        <p:nvSpPr>
          <p:cNvPr id="32" name="ZoneTexte 31">
            <a:extLst>
              <a:ext uri="{FF2B5EF4-FFF2-40B4-BE49-F238E27FC236}">
                <a16:creationId xmlns:a16="http://schemas.microsoft.com/office/drawing/2014/main" id="{EE839EE2-F4BB-AC61-1FC3-4CEB585CAA29}"/>
              </a:ext>
            </a:extLst>
          </p:cNvPr>
          <p:cNvSpPr txBox="1"/>
          <p:nvPr/>
        </p:nvSpPr>
        <p:spPr>
          <a:xfrm>
            <a:off x="515372" y="9213981"/>
            <a:ext cx="2369457" cy="1477328"/>
          </a:xfrm>
          <a:prstGeom prst="rect">
            <a:avLst/>
          </a:prstGeom>
          <a:noFill/>
        </p:spPr>
        <p:txBody>
          <a:bodyPr wrap="square" rtlCol="0">
            <a:spAutoFit/>
          </a:bodyPr>
          <a:lstStyle/>
          <a:p>
            <a:pPr algn="ctr"/>
            <a:r>
              <a:rPr lang="fr-FR" b="1" dirty="0"/>
              <a:t>Initialisation</a:t>
            </a:r>
            <a:r>
              <a:rPr lang="fr-FR" dirty="0"/>
              <a:t>  </a:t>
            </a:r>
          </a:p>
          <a:p>
            <a:pPr algn="ctr"/>
            <a:r>
              <a:rPr lang="fr-FR" dirty="0"/>
              <a:t>Générer une population de lucioles avec des positions aléatoires.</a:t>
            </a:r>
          </a:p>
        </p:txBody>
      </p:sp>
      <p:sp>
        <p:nvSpPr>
          <p:cNvPr id="34" name="ZoneTexte 33">
            <a:extLst>
              <a:ext uri="{FF2B5EF4-FFF2-40B4-BE49-F238E27FC236}">
                <a16:creationId xmlns:a16="http://schemas.microsoft.com/office/drawing/2014/main" id="{29B9634A-B279-64A1-07BA-72F2C4D1106E}"/>
              </a:ext>
            </a:extLst>
          </p:cNvPr>
          <p:cNvSpPr txBox="1"/>
          <p:nvPr/>
        </p:nvSpPr>
        <p:spPr>
          <a:xfrm>
            <a:off x="2822381" y="10787973"/>
            <a:ext cx="2369457" cy="1200329"/>
          </a:xfrm>
          <a:prstGeom prst="rect">
            <a:avLst/>
          </a:prstGeom>
          <a:noFill/>
        </p:spPr>
        <p:txBody>
          <a:bodyPr wrap="square" rtlCol="0">
            <a:spAutoFit/>
          </a:bodyPr>
          <a:lstStyle/>
          <a:p>
            <a:pPr algn="ctr"/>
            <a:r>
              <a:rPr lang="fr-FR" b="1" dirty="0"/>
              <a:t>Évaluation</a:t>
            </a:r>
            <a:r>
              <a:rPr lang="fr-FR" dirty="0"/>
              <a:t>  </a:t>
            </a:r>
          </a:p>
          <a:p>
            <a:pPr algn="ctr"/>
            <a:r>
              <a:rPr lang="fr-FR" dirty="0"/>
              <a:t>Calculer la luminosité de chaque luciole via la fonction objectif.</a:t>
            </a:r>
          </a:p>
        </p:txBody>
      </p:sp>
      <p:sp>
        <p:nvSpPr>
          <p:cNvPr id="37" name="ZoneTexte 36">
            <a:extLst>
              <a:ext uri="{FF2B5EF4-FFF2-40B4-BE49-F238E27FC236}">
                <a16:creationId xmlns:a16="http://schemas.microsoft.com/office/drawing/2014/main" id="{BDDBA2F5-D87C-6E84-100A-E9023AA95FFB}"/>
              </a:ext>
            </a:extLst>
          </p:cNvPr>
          <p:cNvSpPr txBox="1"/>
          <p:nvPr/>
        </p:nvSpPr>
        <p:spPr>
          <a:xfrm>
            <a:off x="5261125" y="8901763"/>
            <a:ext cx="2009787" cy="1463311"/>
          </a:xfrm>
          <a:prstGeom prst="rect">
            <a:avLst/>
          </a:prstGeom>
          <a:noFill/>
        </p:spPr>
        <p:txBody>
          <a:bodyPr wrap="square" rtlCol="0">
            <a:spAutoFit/>
          </a:bodyPr>
          <a:lstStyle/>
          <a:p>
            <a:pPr algn="ctr"/>
            <a:r>
              <a:rPr lang="fr-FR" b="1" dirty="0"/>
              <a:t>Mouvement</a:t>
            </a:r>
            <a:r>
              <a:rPr lang="fr-FR" dirty="0"/>
              <a:t>  Chaque luciole se déplace vers les lucioles plus brillantes</a:t>
            </a:r>
          </a:p>
        </p:txBody>
      </p:sp>
      <p:sp>
        <p:nvSpPr>
          <p:cNvPr id="38" name="ZoneTexte 37">
            <a:extLst>
              <a:ext uri="{FF2B5EF4-FFF2-40B4-BE49-F238E27FC236}">
                <a16:creationId xmlns:a16="http://schemas.microsoft.com/office/drawing/2014/main" id="{B5186049-F12D-CE16-0D4A-97C8FC28F5B5}"/>
              </a:ext>
            </a:extLst>
          </p:cNvPr>
          <p:cNvSpPr txBox="1"/>
          <p:nvPr/>
        </p:nvSpPr>
        <p:spPr>
          <a:xfrm>
            <a:off x="7294204" y="10673863"/>
            <a:ext cx="2676278" cy="1200329"/>
          </a:xfrm>
          <a:prstGeom prst="rect">
            <a:avLst/>
          </a:prstGeom>
          <a:noFill/>
        </p:spPr>
        <p:txBody>
          <a:bodyPr wrap="square" rtlCol="0">
            <a:spAutoFit/>
          </a:bodyPr>
          <a:lstStyle/>
          <a:p>
            <a:pPr algn="ctr"/>
            <a:r>
              <a:rPr lang="fr-FR" b="1" dirty="0"/>
              <a:t>Mise à jour</a:t>
            </a:r>
            <a:r>
              <a:rPr lang="fr-FR" dirty="0"/>
              <a:t> </a:t>
            </a:r>
          </a:p>
          <a:p>
            <a:pPr algn="ctr"/>
            <a:r>
              <a:rPr lang="fr-FR" dirty="0"/>
              <a:t>Recalculer les nouvelles positions et la fonction objectif.</a:t>
            </a:r>
          </a:p>
        </p:txBody>
      </p:sp>
      <p:sp>
        <p:nvSpPr>
          <p:cNvPr id="39" name="ZoneTexte 38">
            <a:extLst>
              <a:ext uri="{FF2B5EF4-FFF2-40B4-BE49-F238E27FC236}">
                <a16:creationId xmlns:a16="http://schemas.microsoft.com/office/drawing/2014/main" id="{EDB0ADC1-F6CD-8B43-ED38-1EAC3D28CB3B}"/>
              </a:ext>
            </a:extLst>
          </p:cNvPr>
          <p:cNvSpPr txBox="1"/>
          <p:nvPr/>
        </p:nvSpPr>
        <p:spPr>
          <a:xfrm>
            <a:off x="9885121" y="8980560"/>
            <a:ext cx="1860702" cy="923330"/>
          </a:xfrm>
          <a:prstGeom prst="rect">
            <a:avLst/>
          </a:prstGeom>
          <a:noFill/>
        </p:spPr>
        <p:txBody>
          <a:bodyPr wrap="square" rtlCol="0">
            <a:spAutoFit/>
          </a:bodyPr>
          <a:lstStyle/>
          <a:p>
            <a:pPr algn="ctr"/>
            <a:r>
              <a:rPr lang="fr-FR" b="1" dirty="0"/>
              <a:t>Boucle</a:t>
            </a:r>
            <a:r>
              <a:rPr lang="fr-FR" dirty="0"/>
              <a:t> </a:t>
            </a:r>
          </a:p>
          <a:p>
            <a:pPr algn="ctr"/>
            <a:r>
              <a:rPr lang="fr-FR" dirty="0"/>
              <a:t> Répéter jusqu’à un critère d’arrêt</a:t>
            </a:r>
          </a:p>
        </p:txBody>
      </p:sp>
      <p:grpSp>
        <p:nvGrpSpPr>
          <p:cNvPr id="66" name="Groupe 65">
            <a:extLst>
              <a:ext uri="{FF2B5EF4-FFF2-40B4-BE49-F238E27FC236}">
                <a16:creationId xmlns:a16="http://schemas.microsoft.com/office/drawing/2014/main" id="{47033183-2D55-A266-8B43-4D299DF0B993}"/>
              </a:ext>
            </a:extLst>
          </p:cNvPr>
          <p:cNvGrpSpPr/>
          <p:nvPr/>
        </p:nvGrpSpPr>
        <p:grpSpPr>
          <a:xfrm>
            <a:off x="3859123" y="241164"/>
            <a:ext cx="7181473" cy="6672924"/>
            <a:chOff x="2202194" y="245731"/>
            <a:chExt cx="7181473" cy="6672924"/>
          </a:xfrm>
        </p:grpSpPr>
        <p:sp>
          <p:nvSpPr>
            <p:cNvPr id="4" name="Ellipse 3">
              <a:extLst>
                <a:ext uri="{FF2B5EF4-FFF2-40B4-BE49-F238E27FC236}">
                  <a16:creationId xmlns:a16="http://schemas.microsoft.com/office/drawing/2014/main" id="{D51BE466-F844-C3E6-5C6D-67B1EFB4B079}"/>
                </a:ext>
              </a:extLst>
            </p:cNvPr>
            <p:cNvSpPr/>
            <p:nvPr/>
          </p:nvSpPr>
          <p:spPr>
            <a:xfrm>
              <a:off x="5027567" y="245731"/>
              <a:ext cx="1630680" cy="403225"/>
            </a:xfrm>
            <a:prstGeom prst="ellipse">
              <a:avLst/>
            </a:prstGeom>
            <a:solidFill>
              <a:schemeClr val="bg2"/>
            </a:solidFill>
            <a:ln>
              <a:noFill/>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 name="Ellipse 4">
              <a:extLst>
                <a:ext uri="{FF2B5EF4-FFF2-40B4-BE49-F238E27FC236}">
                  <a16:creationId xmlns:a16="http://schemas.microsoft.com/office/drawing/2014/main" id="{4256E84F-A590-2012-B199-5D5FEB638861}"/>
                </a:ext>
              </a:extLst>
            </p:cNvPr>
            <p:cNvSpPr/>
            <p:nvPr/>
          </p:nvSpPr>
          <p:spPr>
            <a:xfrm>
              <a:off x="5145677" y="6235052"/>
              <a:ext cx="1567180" cy="419780"/>
            </a:xfrm>
            <a:prstGeom prst="ellipse">
              <a:avLst/>
            </a:prstGeom>
            <a:solidFill>
              <a:schemeClr val="bg2"/>
            </a:solidFill>
            <a:ln>
              <a:noFill/>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13" name="Rectangle 12">
              <a:extLst>
                <a:ext uri="{FF2B5EF4-FFF2-40B4-BE49-F238E27FC236}">
                  <a16:creationId xmlns:a16="http://schemas.microsoft.com/office/drawing/2014/main" id="{0E33798C-630A-1C9C-D494-16317932E530}"/>
                </a:ext>
              </a:extLst>
            </p:cNvPr>
            <p:cNvSpPr/>
            <p:nvPr/>
          </p:nvSpPr>
          <p:spPr>
            <a:xfrm>
              <a:off x="4214767" y="877557"/>
              <a:ext cx="3200400" cy="5410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16" name="Rectangle 15">
              <a:extLst>
                <a:ext uri="{FF2B5EF4-FFF2-40B4-BE49-F238E27FC236}">
                  <a16:creationId xmlns:a16="http://schemas.microsoft.com/office/drawing/2014/main" id="{D34AB0B8-BD97-3FCE-E68B-825DCB64903F}"/>
                </a:ext>
              </a:extLst>
            </p:cNvPr>
            <p:cNvSpPr/>
            <p:nvPr/>
          </p:nvSpPr>
          <p:spPr>
            <a:xfrm>
              <a:off x="4595767" y="1644002"/>
              <a:ext cx="2613660" cy="5867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19" name="Rectangle 18">
              <a:extLst>
                <a:ext uri="{FF2B5EF4-FFF2-40B4-BE49-F238E27FC236}">
                  <a16:creationId xmlns:a16="http://schemas.microsoft.com/office/drawing/2014/main" id="{9E3660CA-ECA4-0D3C-AA32-E18DE668F727}"/>
                </a:ext>
              </a:extLst>
            </p:cNvPr>
            <p:cNvSpPr/>
            <p:nvPr/>
          </p:nvSpPr>
          <p:spPr>
            <a:xfrm>
              <a:off x="4593227" y="2500617"/>
              <a:ext cx="2613660" cy="5410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2" name="Rectangle 21">
              <a:extLst>
                <a:ext uri="{FF2B5EF4-FFF2-40B4-BE49-F238E27FC236}">
                  <a16:creationId xmlns:a16="http://schemas.microsoft.com/office/drawing/2014/main" id="{322FD7F5-D45E-75E1-D23A-B9D667568EFA}"/>
                </a:ext>
              </a:extLst>
            </p:cNvPr>
            <p:cNvSpPr/>
            <p:nvPr/>
          </p:nvSpPr>
          <p:spPr>
            <a:xfrm>
              <a:off x="4078877" y="4043667"/>
              <a:ext cx="3775710" cy="5416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3" name="Rectangle 22">
              <a:extLst>
                <a:ext uri="{FF2B5EF4-FFF2-40B4-BE49-F238E27FC236}">
                  <a16:creationId xmlns:a16="http://schemas.microsoft.com/office/drawing/2014/main" id="{8605FA0A-80E9-5787-F8D0-AED194018A7F}"/>
                </a:ext>
              </a:extLst>
            </p:cNvPr>
            <p:cNvSpPr/>
            <p:nvPr/>
          </p:nvSpPr>
          <p:spPr>
            <a:xfrm>
              <a:off x="2886347" y="3079737"/>
              <a:ext cx="1066800" cy="9601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4" name="Rectangle 23">
              <a:extLst>
                <a:ext uri="{FF2B5EF4-FFF2-40B4-BE49-F238E27FC236}">
                  <a16:creationId xmlns:a16="http://schemas.microsoft.com/office/drawing/2014/main" id="{9BC40A0A-F2AA-4F34-D36C-0AC8E52EBF8E}"/>
                </a:ext>
              </a:extLst>
            </p:cNvPr>
            <p:cNvSpPr/>
            <p:nvPr/>
          </p:nvSpPr>
          <p:spPr>
            <a:xfrm>
              <a:off x="7999367" y="3044812"/>
              <a:ext cx="1346200" cy="11938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5" name="Losange 24">
              <a:extLst>
                <a:ext uri="{FF2B5EF4-FFF2-40B4-BE49-F238E27FC236}">
                  <a16:creationId xmlns:a16="http://schemas.microsoft.com/office/drawing/2014/main" id="{35A1D95B-D77D-4FA3-85A7-F75A7A58C7E1}"/>
                </a:ext>
              </a:extLst>
            </p:cNvPr>
            <p:cNvSpPr/>
            <p:nvPr/>
          </p:nvSpPr>
          <p:spPr>
            <a:xfrm>
              <a:off x="5145677" y="3227057"/>
              <a:ext cx="1489710" cy="592455"/>
            </a:xfrm>
            <a:prstGeom prst="diamon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8" name="Losange 27">
              <a:extLst>
                <a:ext uri="{FF2B5EF4-FFF2-40B4-BE49-F238E27FC236}">
                  <a16:creationId xmlns:a16="http://schemas.microsoft.com/office/drawing/2014/main" id="{50FAE7E4-3689-3015-122F-AE10424353C3}"/>
                </a:ext>
              </a:extLst>
            </p:cNvPr>
            <p:cNvSpPr/>
            <p:nvPr/>
          </p:nvSpPr>
          <p:spPr>
            <a:xfrm>
              <a:off x="5148217" y="4729467"/>
              <a:ext cx="1489710" cy="704850"/>
            </a:xfrm>
            <a:prstGeom prst="diamon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33" name="Rectangle 32">
              <a:extLst>
                <a:ext uri="{FF2B5EF4-FFF2-40B4-BE49-F238E27FC236}">
                  <a16:creationId xmlns:a16="http://schemas.microsoft.com/office/drawing/2014/main" id="{74EC3A48-9638-B404-85EC-6416363CF8E4}"/>
                </a:ext>
              </a:extLst>
            </p:cNvPr>
            <p:cNvSpPr/>
            <p:nvPr/>
          </p:nvSpPr>
          <p:spPr>
            <a:xfrm>
              <a:off x="4663077" y="5542267"/>
              <a:ext cx="2613660" cy="5410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35" name="Flèche : bas 34">
              <a:extLst>
                <a:ext uri="{FF2B5EF4-FFF2-40B4-BE49-F238E27FC236}">
                  <a16:creationId xmlns:a16="http://schemas.microsoft.com/office/drawing/2014/main" id="{24C14394-6B5A-3E47-FB85-1AC9CE527653}"/>
                </a:ext>
              </a:extLst>
            </p:cNvPr>
            <p:cNvSpPr/>
            <p:nvPr/>
          </p:nvSpPr>
          <p:spPr>
            <a:xfrm>
              <a:off x="5738767" y="652132"/>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36" name="Flèche : bas 35">
              <a:extLst>
                <a:ext uri="{FF2B5EF4-FFF2-40B4-BE49-F238E27FC236}">
                  <a16:creationId xmlns:a16="http://schemas.microsoft.com/office/drawing/2014/main" id="{66FB2DC6-6847-8480-04DE-C596CA327940}"/>
                </a:ext>
              </a:extLst>
            </p:cNvPr>
            <p:cNvSpPr/>
            <p:nvPr/>
          </p:nvSpPr>
          <p:spPr>
            <a:xfrm>
              <a:off x="5738767" y="14185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0" name="Flèche : bas 39">
              <a:extLst>
                <a:ext uri="{FF2B5EF4-FFF2-40B4-BE49-F238E27FC236}">
                  <a16:creationId xmlns:a16="http://schemas.microsoft.com/office/drawing/2014/main" id="{2275E95C-8DF8-7141-0131-D218FBB2D73A}"/>
                </a:ext>
              </a:extLst>
            </p:cNvPr>
            <p:cNvSpPr/>
            <p:nvPr/>
          </p:nvSpPr>
          <p:spPr>
            <a:xfrm>
              <a:off x="5738767" y="2276462"/>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1" name="Flèche : bas 40">
              <a:extLst>
                <a:ext uri="{FF2B5EF4-FFF2-40B4-BE49-F238E27FC236}">
                  <a16:creationId xmlns:a16="http://schemas.microsoft.com/office/drawing/2014/main" id="{AEC5E2D3-2867-FE88-0740-0DEE590233E4}"/>
                </a:ext>
              </a:extLst>
            </p:cNvPr>
            <p:cNvSpPr/>
            <p:nvPr/>
          </p:nvSpPr>
          <p:spPr>
            <a:xfrm>
              <a:off x="5789567" y="30060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2" name="Flèche : bas 41">
              <a:extLst>
                <a:ext uri="{FF2B5EF4-FFF2-40B4-BE49-F238E27FC236}">
                  <a16:creationId xmlns:a16="http://schemas.microsoft.com/office/drawing/2014/main" id="{FDB5D374-18DA-D02C-8EA2-934D56100D34}"/>
                </a:ext>
              </a:extLst>
            </p:cNvPr>
            <p:cNvSpPr/>
            <p:nvPr/>
          </p:nvSpPr>
          <p:spPr>
            <a:xfrm>
              <a:off x="5789567" y="381379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3" name="Flèche : bas 42">
              <a:extLst>
                <a:ext uri="{FF2B5EF4-FFF2-40B4-BE49-F238E27FC236}">
                  <a16:creationId xmlns:a16="http://schemas.microsoft.com/office/drawing/2014/main" id="{8CED61E9-B90C-E459-CAF2-5B5DCDB49277}"/>
                </a:ext>
              </a:extLst>
            </p:cNvPr>
            <p:cNvSpPr/>
            <p:nvPr/>
          </p:nvSpPr>
          <p:spPr>
            <a:xfrm>
              <a:off x="5805442" y="45046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4" name="Flèche : bas 43">
              <a:extLst>
                <a:ext uri="{FF2B5EF4-FFF2-40B4-BE49-F238E27FC236}">
                  <a16:creationId xmlns:a16="http://schemas.microsoft.com/office/drawing/2014/main" id="{0D79DC4A-D433-A11F-D6C2-8D0EE7B694F1}"/>
                </a:ext>
              </a:extLst>
            </p:cNvPr>
            <p:cNvSpPr/>
            <p:nvPr/>
          </p:nvSpPr>
          <p:spPr>
            <a:xfrm>
              <a:off x="5789567" y="53174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5" name="Flèche : bas 44">
              <a:extLst>
                <a:ext uri="{FF2B5EF4-FFF2-40B4-BE49-F238E27FC236}">
                  <a16:creationId xmlns:a16="http://schemas.microsoft.com/office/drawing/2014/main" id="{6B00FC38-BF58-CA19-8D91-1193CA91FDDE}"/>
                </a:ext>
              </a:extLst>
            </p:cNvPr>
            <p:cNvSpPr/>
            <p:nvPr/>
          </p:nvSpPr>
          <p:spPr>
            <a:xfrm>
              <a:off x="5791472" y="600708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6" name="Flèche : angle droit 45">
              <a:extLst>
                <a:ext uri="{FF2B5EF4-FFF2-40B4-BE49-F238E27FC236}">
                  <a16:creationId xmlns:a16="http://schemas.microsoft.com/office/drawing/2014/main" id="{66C32873-9EEA-9189-A38F-6FB33C7ED1E0}"/>
                </a:ext>
              </a:extLst>
            </p:cNvPr>
            <p:cNvSpPr/>
            <p:nvPr/>
          </p:nvSpPr>
          <p:spPr>
            <a:xfrm flipH="1">
              <a:off x="3150507" y="4046207"/>
              <a:ext cx="1927860" cy="1089660"/>
            </a:xfrm>
            <a:prstGeom prst="bentUpArrow">
              <a:avLst>
                <a:gd name="adj1" fmla="val 7536"/>
                <a:gd name="adj2" fmla="val 14495"/>
                <a:gd name="adj3" fmla="val 1691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7" name="Flèche : angle droit 46">
              <a:extLst>
                <a:ext uri="{FF2B5EF4-FFF2-40B4-BE49-F238E27FC236}">
                  <a16:creationId xmlns:a16="http://schemas.microsoft.com/office/drawing/2014/main" id="{59D979FB-C578-3E40-4862-7D6BDD3A2880}"/>
                </a:ext>
              </a:extLst>
            </p:cNvPr>
            <p:cNvSpPr/>
            <p:nvPr/>
          </p:nvSpPr>
          <p:spPr>
            <a:xfrm rot="5400000" flipH="1">
              <a:off x="3321322" y="1814817"/>
              <a:ext cx="1238885" cy="1264285"/>
            </a:xfrm>
            <a:prstGeom prst="bentUpArrow">
              <a:avLst>
                <a:gd name="adj1" fmla="val 7536"/>
                <a:gd name="adj2" fmla="val 8240"/>
                <a:gd name="adj3" fmla="val 1691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8" name="Flèche : bas 47">
              <a:extLst>
                <a:ext uri="{FF2B5EF4-FFF2-40B4-BE49-F238E27FC236}">
                  <a16:creationId xmlns:a16="http://schemas.microsoft.com/office/drawing/2014/main" id="{4296C66C-2BCB-C712-BAD1-E96F3C71163B}"/>
                </a:ext>
              </a:extLst>
            </p:cNvPr>
            <p:cNvSpPr/>
            <p:nvPr/>
          </p:nvSpPr>
          <p:spPr>
            <a:xfrm rot="16200000">
              <a:off x="7268799" y="2871140"/>
              <a:ext cx="196215" cy="125730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9" name="Zone de texte 6">
              <a:extLst>
                <a:ext uri="{FF2B5EF4-FFF2-40B4-BE49-F238E27FC236}">
                  <a16:creationId xmlns:a16="http://schemas.microsoft.com/office/drawing/2014/main" id="{B7082C76-1197-FE67-491B-754D6D2F6293}"/>
                </a:ext>
              </a:extLst>
            </p:cNvPr>
            <p:cNvSpPr txBox="1">
              <a:spLocks noChangeArrowheads="1"/>
            </p:cNvSpPr>
            <p:nvPr/>
          </p:nvSpPr>
          <p:spPr bwMode="auto">
            <a:xfrm>
              <a:off x="5161443" y="301269"/>
              <a:ext cx="13287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Début</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0" name="Text Box 14">
              <a:extLst>
                <a:ext uri="{FF2B5EF4-FFF2-40B4-BE49-F238E27FC236}">
                  <a16:creationId xmlns:a16="http://schemas.microsoft.com/office/drawing/2014/main" id="{9F8E7D3D-915C-C541-9E82-6A3D50FE551F}"/>
                </a:ext>
              </a:extLst>
            </p:cNvPr>
            <p:cNvSpPr txBox="1">
              <a:spLocks noChangeArrowheads="1"/>
            </p:cNvSpPr>
            <p:nvPr/>
          </p:nvSpPr>
          <p:spPr bwMode="auto">
            <a:xfrm>
              <a:off x="4126235" y="949772"/>
              <a:ext cx="333533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G</a:t>
              </a:r>
              <a:r>
                <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n</a:t>
              </a:r>
              <a:r>
                <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ration de la population initiale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1" name="Text Box 13">
              <a:extLst>
                <a:ext uri="{FF2B5EF4-FFF2-40B4-BE49-F238E27FC236}">
                  <a16:creationId xmlns:a16="http://schemas.microsoft.com/office/drawing/2014/main" id="{2FC7D7C2-DA57-C8C2-0E81-C993A22CD3BF}"/>
                </a:ext>
              </a:extLst>
            </p:cNvPr>
            <p:cNvSpPr txBox="1">
              <a:spLocks noChangeArrowheads="1"/>
            </p:cNvSpPr>
            <p:nvPr/>
          </p:nvSpPr>
          <p:spPr bwMode="auto">
            <a:xfrm>
              <a:off x="4403412" y="1642142"/>
              <a:ext cx="28448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Evaluation de luminosit</a:t>
              </a:r>
              <a:r>
                <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 des lucioles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2" name="Text Box 12">
              <a:extLst>
                <a:ext uri="{FF2B5EF4-FFF2-40B4-BE49-F238E27FC236}">
                  <a16:creationId xmlns:a16="http://schemas.microsoft.com/office/drawing/2014/main" id="{E7672678-E14C-6A3D-17A9-B07381219AE9}"/>
                </a:ext>
              </a:extLst>
            </p:cNvPr>
            <p:cNvSpPr txBox="1">
              <a:spLocks noChangeArrowheads="1"/>
            </p:cNvSpPr>
            <p:nvPr/>
          </p:nvSpPr>
          <p:spPr bwMode="auto">
            <a:xfrm>
              <a:off x="4569732" y="2485962"/>
              <a:ext cx="26416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Classement des lucioles selon leur intensit</a:t>
              </a:r>
              <a:r>
                <a:rPr kumimoji="0" lang="fr-FR" altLang="fr-FR" sz="1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4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3" name="Text Box 11">
              <a:extLst>
                <a:ext uri="{FF2B5EF4-FFF2-40B4-BE49-F238E27FC236}">
                  <a16:creationId xmlns:a16="http://schemas.microsoft.com/office/drawing/2014/main" id="{C776D6F8-02A7-5485-8546-950CEBEE7575}"/>
                </a:ext>
              </a:extLst>
            </p:cNvPr>
            <p:cNvSpPr txBox="1">
              <a:spLocks noChangeArrowheads="1"/>
            </p:cNvSpPr>
            <p:nvPr/>
          </p:nvSpPr>
          <p:spPr bwMode="auto">
            <a:xfrm>
              <a:off x="5297601" y="3322784"/>
              <a:ext cx="11858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err="1">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Comapraison</a:t>
              </a:r>
              <a:r>
                <a:rPr kumimoji="0" lang="fr-FR" altLang="fr-FR" sz="12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 I(i) &lt;I(j)</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4" name="Zone de texte 7">
              <a:extLst>
                <a:ext uri="{FF2B5EF4-FFF2-40B4-BE49-F238E27FC236}">
                  <a16:creationId xmlns:a16="http://schemas.microsoft.com/office/drawing/2014/main" id="{67FCCB77-0B47-7098-0918-61543CFC7282}"/>
                </a:ext>
              </a:extLst>
            </p:cNvPr>
            <p:cNvSpPr txBox="1">
              <a:spLocks noChangeArrowheads="1"/>
            </p:cNvSpPr>
            <p:nvPr/>
          </p:nvSpPr>
          <p:spPr bwMode="auto">
            <a:xfrm>
              <a:off x="7961267" y="3195424"/>
              <a:ext cx="14224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Deplacement  de la luciole i vers j</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5" name="Text Box 9">
              <a:extLst>
                <a:ext uri="{FF2B5EF4-FFF2-40B4-BE49-F238E27FC236}">
                  <a16:creationId xmlns:a16="http://schemas.microsoft.com/office/drawing/2014/main" id="{296AC4D3-7C24-82E6-8B3F-E8F4E22A91B3}"/>
                </a:ext>
              </a:extLst>
            </p:cNvPr>
            <p:cNvSpPr txBox="1">
              <a:spLocks noChangeArrowheads="1"/>
            </p:cNvSpPr>
            <p:nvPr/>
          </p:nvSpPr>
          <p:spPr bwMode="auto">
            <a:xfrm>
              <a:off x="6379165" y="3339519"/>
              <a:ext cx="11858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oui</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6" name="Text Box 8">
              <a:extLst>
                <a:ext uri="{FF2B5EF4-FFF2-40B4-BE49-F238E27FC236}">
                  <a16:creationId xmlns:a16="http://schemas.microsoft.com/office/drawing/2014/main" id="{5ABA7E71-9BDC-494A-2E41-4A4970883D36}"/>
                </a:ext>
              </a:extLst>
            </p:cNvPr>
            <p:cNvSpPr txBox="1">
              <a:spLocks noChangeArrowheads="1"/>
            </p:cNvSpPr>
            <p:nvPr/>
          </p:nvSpPr>
          <p:spPr bwMode="auto">
            <a:xfrm>
              <a:off x="4872631" y="3735924"/>
              <a:ext cx="118586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Non </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7" name="Text Box 7">
              <a:extLst>
                <a:ext uri="{FF2B5EF4-FFF2-40B4-BE49-F238E27FC236}">
                  <a16:creationId xmlns:a16="http://schemas.microsoft.com/office/drawing/2014/main" id="{CEF9C8AD-3D5C-9246-16AA-91687CD95457}"/>
                </a:ext>
              </a:extLst>
            </p:cNvPr>
            <p:cNvSpPr txBox="1">
              <a:spLocks noChangeArrowheads="1"/>
            </p:cNvSpPr>
            <p:nvPr/>
          </p:nvSpPr>
          <p:spPr bwMode="auto">
            <a:xfrm>
              <a:off x="6083389" y="5199838"/>
              <a:ext cx="118586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oui</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8" name="Text Box 6">
              <a:extLst>
                <a:ext uri="{FF2B5EF4-FFF2-40B4-BE49-F238E27FC236}">
                  <a16:creationId xmlns:a16="http://schemas.microsoft.com/office/drawing/2014/main" id="{05DC6698-0AFF-9E9F-40A3-6E108B9B21BF}"/>
                </a:ext>
              </a:extLst>
            </p:cNvPr>
            <p:cNvSpPr txBox="1">
              <a:spLocks noChangeArrowheads="1"/>
            </p:cNvSpPr>
            <p:nvPr/>
          </p:nvSpPr>
          <p:spPr bwMode="auto">
            <a:xfrm>
              <a:off x="3044252" y="4735089"/>
              <a:ext cx="118586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Non </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9" name="Text Box 5">
              <a:extLst>
                <a:ext uri="{FF2B5EF4-FFF2-40B4-BE49-F238E27FC236}">
                  <a16:creationId xmlns:a16="http://schemas.microsoft.com/office/drawing/2014/main" id="{88E59576-9EFB-1656-7847-97C934BF6941}"/>
                </a:ext>
              </a:extLst>
            </p:cNvPr>
            <p:cNvSpPr txBox="1">
              <a:spLocks noChangeArrowheads="1"/>
            </p:cNvSpPr>
            <p:nvPr/>
          </p:nvSpPr>
          <p:spPr bwMode="auto">
            <a:xfrm>
              <a:off x="4744198" y="5633771"/>
              <a:ext cx="237013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Solution optimale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0" name="Text Box 4">
              <a:extLst>
                <a:ext uri="{FF2B5EF4-FFF2-40B4-BE49-F238E27FC236}">
                  <a16:creationId xmlns:a16="http://schemas.microsoft.com/office/drawing/2014/main" id="{19DA49D8-D152-744C-9260-A1F1EF4AF9FF}"/>
                </a:ext>
              </a:extLst>
            </p:cNvPr>
            <p:cNvSpPr txBox="1">
              <a:spLocks noChangeArrowheads="1"/>
            </p:cNvSpPr>
            <p:nvPr/>
          </p:nvSpPr>
          <p:spPr bwMode="auto">
            <a:xfrm>
              <a:off x="4744198" y="6286830"/>
              <a:ext cx="2370138"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Fin </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61" name="Text Box 3">
              <a:extLst>
                <a:ext uri="{FF2B5EF4-FFF2-40B4-BE49-F238E27FC236}">
                  <a16:creationId xmlns:a16="http://schemas.microsoft.com/office/drawing/2014/main" id="{2768789F-E5C7-1CE2-C798-82EBA6DB0981}"/>
                </a:ext>
              </a:extLst>
            </p:cNvPr>
            <p:cNvSpPr txBox="1">
              <a:spLocks noChangeArrowheads="1"/>
            </p:cNvSpPr>
            <p:nvPr/>
          </p:nvSpPr>
          <p:spPr bwMode="auto">
            <a:xfrm>
              <a:off x="2202194" y="3345245"/>
              <a:ext cx="2370138"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Gen+= 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2" name="Text Box 2">
              <a:extLst>
                <a:ext uri="{FF2B5EF4-FFF2-40B4-BE49-F238E27FC236}">
                  <a16:creationId xmlns:a16="http://schemas.microsoft.com/office/drawing/2014/main" id="{E89D9CDE-B4D8-DC3A-3F22-61749F622830}"/>
                </a:ext>
              </a:extLst>
            </p:cNvPr>
            <p:cNvSpPr txBox="1">
              <a:spLocks noChangeArrowheads="1"/>
            </p:cNvSpPr>
            <p:nvPr/>
          </p:nvSpPr>
          <p:spPr bwMode="auto">
            <a:xfrm>
              <a:off x="4023076" y="4040174"/>
              <a:ext cx="38682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Evaluation de la nouvelle solution et mise </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à</a:t>
              </a:r>
              <a:r>
                <a:rPr kumimoji="0" lang="fr-FR" altLang="fr-FR" sz="14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 jour des intensit</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4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s des lucioles et du classement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3" name="Text Box 1">
              <a:extLst>
                <a:ext uri="{FF2B5EF4-FFF2-40B4-BE49-F238E27FC236}">
                  <a16:creationId xmlns:a16="http://schemas.microsoft.com/office/drawing/2014/main" id="{CA49F887-CA45-1B3F-FCD5-C56932046027}"/>
                </a:ext>
              </a:extLst>
            </p:cNvPr>
            <p:cNvSpPr txBox="1">
              <a:spLocks noChangeArrowheads="1"/>
            </p:cNvSpPr>
            <p:nvPr/>
          </p:nvSpPr>
          <p:spPr bwMode="auto">
            <a:xfrm>
              <a:off x="5136982" y="4914919"/>
              <a:ext cx="14652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Gen</a:t>
              </a: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 &gt; </a:t>
              </a:r>
              <a:r>
                <a:rPr kumimoji="0" lang="fr-FR" altLang="fr-FR" sz="1400" b="0" i="0" u="none" strike="noStrike" cap="none" normalizeH="0" baseline="0" dirty="0" err="1">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maxGen</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grpSp>
      <p:sp>
        <p:nvSpPr>
          <p:cNvPr id="64" name="Rectangle 38">
            <a:extLst>
              <a:ext uri="{FF2B5EF4-FFF2-40B4-BE49-F238E27FC236}">
                <a16:creationId xmlns:a16="http://schemas.microsoft.com/office/drawing/2014/main" id="{19A0AE72-5F3B-A701-610D-33FC3B85C409}"/>
              </a:ext>
            </a:extLst>
          </p:cNvPr>
          <p:cNvSpPr>
            <a:spLocks noChangeArrowheads="1"/>
          </p:cNvSpPr>
          <p:nvPr/>
        </p:nvSpPr>
        <p:spPr bwMode="auto">
          <a:xfrm>
            <a:off x="2421213" y="-7372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5" name="Rectangle 54">
            <a:extLst>
              <a:ext uri="{FF2B5EF4-FFF2-40B4-BE49-F238E27FC236}">
                <a16:creationId xmlns:a16="http://schemas.microsoft.com/office/drawing/2014/main" id="{C02DE58D-AF51-CE05-4E30-8822DA765D71}"/>
              </a:ext>
            </a:extLst>
          </p:cNvPr>
          <p:cNvSpPr>
            <a:spLocks noChangeArrowheads="1"/>
          </p:cNvSpPr>
          <p:nvPr/>
        </p:nvSpPr>
        <p:spPr bwMode="auto">
          <a:xfrm>
            <a:off x="2421213" y="-2800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7" name="ZoneTexte 66">
            <a:extLst>
              <a:ext uri="{FF2B5EF4-FFF2-40B4-BE49-F238E27FC236}">
                <a16:creationId xmlns:a16="http://schemas.microsoft.com/office/drawing/2014/main" id="{580565EE-478A-1513-BB68-ABF45867F376}"/>
              </a:ext>
            </a:extLst>
          </p:cNvPr>
          <p:cNvSpPr txBox="1"/>
          <p:nvPr/>
        </p:nvSpPr>
        <p:spPr>
          <a:xfrm>
            <a:off x="365850" y="677644"/>
            <a:ext cx="4387166" cy="2231765"/>
          </a:xfrm>
          <a:prstGeom prst="rect">
            <a:avLst/>
          </a:prstGeom>
          <a:noFill/>
        </p:spPr>
        <p:txBody>
          <a:bodyPr wrap="square" rtlCol="0">
            <a:spAutoFit/>
          </a:bodyPr>
          <a:lstStyle/>
          <a:p>
            <a:pPr>
              <a:lnSpc>
                <a:spcPct val="150000"/>
              </a:lnSpc>
            </a:pPr>
            <a:r>
              <a:rPr lang="fr-FR" sz="3200" dirty="0">
                <a:solidFill>
                  <a:schemeClr val="tx2">
                    <a:lumMod val="75000"/>
                  </a:schemeClr>
                </a:solidFill>
                <a:latin typeface="Arial Black" panose="020B0A04020102020204" pitchFamily="34" charset="0"/>
              </a:rPr>
              <a:t>L’organigramme de l’algorithme des lucioles </a:t>
            </a:r>
          </a:p>
        </p:txBody>
      </p:sp>
      <p:sp>
        <p:nvSpPr>
          <p:cNvPr id="69" name="ZoneTexte 68">
            <a:extLst>
              <a:ext uri="{FF2B5EF4-FFF2-40B4-BE49-F238E27FC236}">
                <a16:creationId xmlns:a16="http://schemas.microsoft.com/office/drawing/2014/main" id="{8C23A063-FEE2-3232-43C4-8960D7B533A1}"/>
              </a:ext>
            </a:extLst>
          </p:cNvPr>
          <p:cNvSpPr txBox="1"/>
          <p:nvPr/>
        </p:nvSpPr>
        <p:spPr>
          <a:xfrm>
            <a:off x="14436749" y="728547"/>
            <a:ext cx="8266392" cy="5632311"/>
          </a:xfrm>
          <a:prstGeom prst="rect">
            <a:avLst/>
          </a:prstGeom>
          <a:noFill/>
        </p:spPr>
        <p:txBody>
          <a:bodyPr wrap="square">
            <a:spAutoFit/>
          </a:bodyPr>
          <a:lstStyle/>
          <a:p>
            <a:r>
              <a:rPr lang="fr-FR" b="1" dirty="0">
                <a:latin typeface="Aptos Display" panose="020B0004020202020204" pitchFamily="34" charset="0"/>
              </a:rPr>
              <a:t>Début</a:t>
            </a:r>
          </a:p>
          <a:p>
            <a:r>
              <a:rPr lang="fr-FR" dirty="0">
                <a:latin typeface="Aptos Display" panose="020B0004020202020204" pitchFamily="34" charset="0"/>
              </a:rPr>
              <a:t>    1. Fonction objectif : f(x), où x = (x1, x2, ..., </a:t>
            </a:r>
            <a:r>
              <a:rPr lang="fr-FR" dirty="0" err="1">
                <a:latin typeface="Aptos Display" panose="020B0004020202020204" pitchFamily="34" charset="0"/>
              </a:rPr>
              <a:t>xd</a:t>
            </a:r>
            <a:r>
              <a:rPr lang="fr-FR" dirty="0">
                <a:latin typeface="Aptos Display" panose="020B0004020202020204" pitchFamily="34" charset="0"/>
              </a:rPr>
              <a:t>);</a:t>
            </a:r>
          </a:p>
          <a:p>
            <a:r>
              <a:rPr lang="fr-FR" dirty="0">
                <a:latin typeface="Aptos Display" panose="020B0004020202020204" pitchFamily="34" charset="0"/>
              </a:rPr>
              <a:t>    2. Générer une population initiale de lucioles </a:t>
            </a:r>
            <a:r>
              <a:rPr lang="fr-FR" dirty="0" err="1">
                <a:latin typeface="Aptos Display" panose="020B0004020202020204" pitchFamily="34" charset="0"/>
              </a:rPr>
              <a:t>x_i</a:t>
            </a:r>
            <a:r>
              <a:rPr lang="fr-FR" dirty="0">
                <a:latin typeface="Aptos Display" panose="020B0004020202020204" pitchFamily="34" charset="0"/>
              </a:rPr>
              <a:t> (i = 1, 2, ..., n);</a:t>
            </a:r>
          </a:p>
          <a:p>
            <a:r>
              <a:rPr lang="fr-FR" dirty="0">
                <a:latin typeface="Aptos Display" panose="020B0004020202020204" pitchFamily="34" charset="0"/>
              </a:rPr>
              <a:t>    3. Formuler l'intensité lumineuse I de manière à ce qu'elle soit associée à f(x);</a:t>
            </a:r>
          </a:p>
          <a:p>
            <a:r>
              <a:rPr lang="fr-FR" dirty="0">
                <a:latin typeface="Aptos Display" panose="020B0004020202020204" pitchFamily="34" charset="0"/>
              </a:rPr>
              <a:t>    4. Définir le coefficient d'absorption γ;</a:t>
            </a:r>
          </a:p>
          <a:p>
            <a:endParaRPr lang="fr-FR" dirty="0">
              <a:latin typeface="Aptos Display" panose="020B0004020202020204" pitchFamily="34" charset="0"/>
            </a:endParaRPr>
          </a:p>
          <a:p>
            <a:r>
              <a:rPr lang="fr-FR" dirty="0">
                <a:latin typeface="Aptos Display" panose="020B0004020202020204" pitchFamily="34" charset="0"/>
              </a:rPr>
              <a:t>    Tant que (t &lt; </a:t>
            </a:r>
            <a:r>
              <a:rPr lang="fr-FR" dirty="0" err="1">
                <a:latin typeface="Aptos Display" panose="020B0004020202020204" pitchFamily="34" charset="0"/>
              </a:rPr>
              <a:t>MaxGeneration</a:t>
            </a:r>
            <a:r>
              <a:rPr lang="fr-FR" dirty="0">
                <a:latin typeface="Aptos Display" panose="020B0004020202020204" pitchFamily="34" charset="0"/>
              </a:rPr>
              <a:t>)</a:t>
            </a:r>
          </a:p>
          <a:p>
            <a:r>
              <a:rPr lang="fr-FR" dirty="0">
                <a:latin typeface="Aptos Display" panose="020B0004020202020204" pitchFamily="34" charset="0"/>
              </a:rPr>
              <a:t>        Pour i = 1 : n (pour toutes les n lucioles)</a:t>
            </a:r>
          </a:p>
          <a:p>
            <a:r>
              <a:rPr lang="fr-FR" dirty="0">
                <a:latin typeface="Aptos Display" panose="020B0004020202020204" pitchFamily="34" charset="0"/>
              </a:rPr>
              <a:t>            Pour j = 1 : n (pour toutes les n lucioles)</a:t>
            </a:r>
          </a:p>
          <a:p>
            <a:r>
              <a:rPr lang="fr-FR" dirty="0">
                <a:latin typeface="Aptos Display" panose="020B0004020202020204" pitchFamily="34" charset="0"/>
              </a:rPr>
              <a:t>                Si (I &gt; J),</a:t>
            </a:r>
          </a:p>
          <a:p>
            <a:r>
              <a:rPr lang="fr-FR" dirty="0">
                <a:latin typeface="Aptos Display" panose="020B0004020202020204" pitchFamily="34" charset="0"/>
              </a:rPr>
              <a:t>                    Modifier l'attractivité en fonction de la distance r via e^(-</a:t>
            </a:r>
            <a:r>
              <a:rPr lang="fr-FR" dirty="0" err="1">
                <a:latin typeface="Aptos Display" panose="020B0004020202020204" pitchFamily="34" charset="0"/>
              </a:rPr>
              <a:t>γr</a:t>
            </a:r>
            <a:r>
              <a:rPr lang="fr-FR" dirty="0">
                <a:latin typeface="Aptos Display" panose="020B0004020202020204" pitchFamily="34" charset="0"/>
              </a:rPr>
              <a:t>);</a:t>
            </a:r>
          </a:p>
          <a:p>
            <a:r>
              <a:rPr lang="fr-FR" dirty="0">
                <a:latin typeface="Aptos Display" panose="020B0004020202020204" pitchFamily="34" charset="0"/>
              </a:rPr>
              <a:t>                    Évaluer les nouvelles solutions et mettre à jour l'intensité lumineuse;</a:t>
            </a:r>
          </a:p>
          <a:p>
            <a:r>
              <a:rPr lang="fr-FR" dirty="0">
                <a:latin typeface="Aptos Display" panose="020B0004020202020204" pitchFamily="34" charset="0"/>
              </a:rPr>
              <a:t>                Fin si</a:t>
            </a:r>
          </a:p>
          <a:p>
            <a:r>
              <a:rPr lang="fr-FR" dirty="0">
                <a:latin typeface="Aptos Display" panose="020B0004020202020204" pitchFamily="34" charset="0"/>
              </a:rPr>
              <a:t>            Fin Pour j</a:t>
            </a:r>
          </a:p>
          <a:p>
            <a:r>
              <a:rPr lang="fr-FR" dirty="0">
                <a:latin typeface="Aptos Display" panose="020B0004020202020204" pitchFamily="34" charset="0"/>
              </a:rPr>
              <a:t>        Fin Pour i</a:t>
            </a:r>
          </a:p>
          <a:p>
            <a:r>
              <a:rPr lang="fr-FR" dirty="0">
                <a:latin typeface="Aptos Display" panose="020B0004020202020204" pitchFamily="34" charset="0"/>
              </a:rPr>
              <a:t>        Classer les lucioles et trouver la meilleure solution actuelle;</a:t>
            </a:r>
          </a:p>
          <a:p>
            <a:r>
              <a:rPr lang="fr-FR" dirty="0">
                <a:latin typeface="Aptos Display" panose="020B0004020202020204" pitchFamily="34" charset="0"/>
              </a:rPr>
              <a:t>    Fin Tant que</a:t>
            </a:r>
          </a:p>
          <a:p>
            <a:endParaRPr lang="fr-FR" dirty="0">
              <a:latin typeface="Aptos Display" panose="020B0004020202020204" pitchFamily="34" charset="0"/>
            </a:endParaRPr>
          </a:p>
          <a:p>
            <a:r>
              <a:rPr lang="fr-FR" dirty="0">
                <a:latin typeface="Aptos Display" panose="020B0004020202020204" pitchFamily="34" charset="0"/>
              </a:rPr>
              <a:t>résultats et visualisation;</a:t>
            </a:r>
          </a:p>
          <a:p>
            <a:r>
              <a:rPr lang="fr-FR" b="1" dirty="0">
                <a:latin typeface="Aptos Display" panose="020B0004020202020204" pitchFamily="34" charset="0"/>
              </a:rPr>
              <a:t>Fin</a:t>
            </a:r>
          </a:p>
        </p:txBody>
      </p:sp>
    </p:spTree>
    <p:extLst>
      <p:ext uri="{BB962C8B-B14F-4D97-AF65-F5344CB8AC3E}">
        <p14:creationId xmlns:p14="http://schemas.microsoft.com/office/powerpoint/2010/main" val="40916230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C191901-18F9-9885-0F3D-9787EE57D09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17023BD-6D42-34C0-27F3-EDC6B1560236}"/>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2CE01FA-3DB2-5028-1A0F-079B20718522}"/>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FFA2F238-32EE-1ECA-B94D-971123052B89}"/>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A1ADA567-B718-4D60-258A-72983B1ABEC9}"/>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6" name="Groupe 65">
            <a:extLst>
              <a:ext uri="{FF2B5EF4-FFF2-40B4-BE49-F238E27FC236}">
                <a16:creationId xmlns:a16="http://schemas.microsoft.com/office/drawing/2014/main" id="{3A4A02CE-4B30-4290-CFC4-E6DDC34E00A8}"/>
              </a:ext>
            </a:extLst>
          </p:cNvPr>
          <p:cNvGrpSpPr/>
          <p:nvPr/>
        </p:nvGrpSpPr>
        <p:grpSpPr>
          <a:xfrm>
            <a:off x="4070138" y="7767380"/>
            <a:ext cx="7181473" cy="6672924"/>
            <a:chOff x="2202194" y="245731"/>
            <a:chExt cx="7181473" cy="6672924"/>
          </a:xfrm>
        </p:grpSpPr>
        <p:sp>
          <p:nvSpPr>
            <p:cNvPr id="4" name="Ellipse 3">
              <a:extLst>
                <a:ext uri="{FF2B5EF4-FFF2-40B4-BE49-F238E27FC236}">
                  <a16:creationId xmlns:a16="http://schemas.microsoft.com/office/drawing/2014/main" id="{D64A2AB0-CB51-ABDA-5D83-9C581326FBD1}"/>
                </a:ext>
              </a:extLst>
            </p:cNvPr>
            <p:cNvSpPr/>
            <p:nvPr/>
          </p:nvSpPr>
          <p:spPr>
            <a:xfrm>
              <a:off x="5027567" y="245731"/>
              <a:ext cx="1630680" cy="403225"/>
            </a:xfrm>
            <a:prstGeom prst="ellipse">
              <a:avLst/>
            </a:prstGeom>
            <a:solidFill>
              <a:schemeClr val="bg2"/>
            </a:solidFill>
            <a:ln>
              <a:noFill/>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 name="Ellipse 4">
              <a:extLst>
                <a:ext uri="{FF2B5EF4-FFF2-40B4-BE49-F238E27FC236}">
                  <a16:creationId xmlns:a16="http://schemas.microsoft.com/office/drawing/2014/main" id="{1BF3BF5A-6BFE-061B-F92D-D960BEDC2454}"/>
                </a:ext>
              </a:extLst>
            </p:cNvPr>
            <p:cNvSpPr/>
            <p:nvPr/>
          </p:nvSpPr>
          <p:spPr>
            <a:xfrm>
              <a:off x="5145677" y="6235052"/>
              <a:ext cx="1567180" cy="419780"/>
            </a:xfrm>
            <a:prstGeom prst="ellipse">
              <a:avLst/>
            </a:prstGeom>
            <a:solidFill>
              <a:schemeClr val="bg2"/>
            </a:solidFill>
            <a:ln>
              <a:noFill/>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13" name="Rectangle 12">
              <a:extLst>
                <a:ext uri="{FF2B5EF4-FFF2-40B4-BE49-F238E27FC236}">
                  <a16:creationId xmlns:a16="http://schemas.microsoft.com/office/drawing/2014/main" id="{E11D6205-66EF-B3A8-FDB7-0B2AE79336FB}"/>
                </a:ext>
              </a:extLst>
            </p:cNvPr>
            <p:cNvSpPr/>
            <p:nvPr/>
          </p:nvSpPr>
          <p:spPr>
            <a:xfrm>
              <a:off x="4214767" y="877557"/>
              <a:ext cx="3200400" cy="5410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16" name="Rectangle 15">
              <a:extLst>
                <a:ext uri="{FF2B5EF4-FFF2-40B4-BE49-F238E27FC236}">
                  <a16:creationId xmlns:a16="http://schemas.microsoft.com/office/drawing/2014/main" id="{D3992121-E4FB-FEF5-86EE-10B3079CD73E}"/>
                </a:ext>
              </a:extLst>
            </p:cNvPr>
            <p:cNvSpPr/>
            <p:nvPr/>
          </p:nvSpPr>
          <p:spPr>
            <a:xfrm>
              <a:off x="4595767" y="1644002"/>
              <a:ext cx="2613660" cy="5867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19" name="Rectangle 18">
              <a:extLst>
                <a:ext uri="{FF2B5EF4-FFF2-40B4-BE49-F238E27FC236}">
                  <a16:creationId xmlns:a16="http://schemas.microsoft.com/office/drawing/2014/main" id="{940450AB-291C-9A9A-58F8-A2C02EFEE2F7}"/>
                </a:ext>
              </a:extLst>
            </p:cNvPr>
            <p:cNvSpPr/>
            <p:nvPr/>
          </p:nvSpPr>
          <p:spPr>
            <a:xfrm>
              <a:off x="4593227" y="2500617"/>
              <a:ext cx="2613660" cy="5410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2" name="Rectangle 21">
              <a:extLst>
                <a:ext uri="{FF2B5EF4-FFF2-40B4-BE49-F238E27FC236}">
                  <a16:creationId xmlns:a16="http://schemas.microsoft.com/office/drawing/2014/main" id="{14BDC012-DCFE-140F-72E7-675F4CDEE804}"/>
                </a:ext>
              </a:extLst>
            </p:cNvPr>
            <p:cNvSpPr/>
            <p:nvPr/>
          </p:nvSpPr>
          <p:spPr>
            <a:xfrm>
              <a:off x="4078877" y="4043667"/>
              <a:ext cx="3775710" cy="5416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3" name="Rectangle 22">
              <a:extLst>
                <a:ext uri="{FF2B5EF4-FFF2-40B4-BE49-F238E27FC236}">
                  <a16:creationId xmlns:a16="http://schemas.microsoft.com/office/drawing/2014/main" id="{B43B1226-9BAF-505A-5D98-467083B4674B}"/>
                </a:ext>
              </a:extLst>
            </p:cNvPr>
            <p:cNvSpPr/>
            <p:nvPr/>
          </p:nvSpPr>
          <p:spPr>
            <a:xfrm>
              <a:off x="2886347" y="3079737"/>
              <a:ext cx="1066800" cy="9601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4" name="Rectangle 23">
              <a:extLst>
                <a:ext uri="{FF2B5EF4-FFF2-40B4-BE49-F238E27FC236}">
                  <a16:creationId xmlns:a16="http://schemas.microsoft.com/office/drawing/2014/main" id="{CE144A87-C557-404F-560F-323F0E985B35}"/>
                </a:ext>
              </a:extLst>
            </p:cNvPr>
            <p:cNvSpPr/>
            <p:nvPr/>
          </p:nvSpPr>
          <p:spPr>
            <a:xfrm>
              <a:off x="7999367" y="3044812"/>
              <a:ext cx="1346200" cy="11938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5" name="Losange 24">
              <a:extLst>
                <a:ext uri="{FF2B5EF4-FFF2-40B4-BE49-F238E27FC236}">
                  <a16:creationId xmlns:a16="http://schemas.microsoft.com/office/drawing/2014/main" id="{43F22191-39BB-42E9-EBB5-89434A11F76F}"/>
                </a:ext>
              </a:extLst>
            </p:cNvPr>
            <p:cNvSpPr/>
            <p:nvPr/>
          </p:nvSpPr>
          <p:spPr>
            <a:xfrm>
              <a:off x="5145677" y="3227057"/>
              <a:ext cx="1489710" cy="592455"/>
            </a:xfrm>
            <a:prstGeom prst="diamon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8" name="Losange 27">
              <a:extLst>
                <a:ext uri="{FF2B5EF4-FFF2-40B4-BE49-F238E27FC236}">
                  <a16:creationId xmlns:a16="http://schemas.microsoft.com/office/drawing/2014/main" id="{31CCD9C6-623C-691D-BE6D-26FC82D122A1}"/>
                </a:ext>
              </a:extLst>
            </p:cNvPr>
            <p:cNvSpPr/>
            <p:nvPr/>
          </p:nvSpPr>
          <p:spPr>
            <a:xfrm>
              <a:off x="5148217" y="4729467"/>
              <a:ext cx="1489710" cy="704850"/>
            </a:xfrm>
            <a:prstGeom prst="diamon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33" name="Rectangle 32">
              <a:extLst>
                <a:ext uri="{FF2B5EF4-FFF2-40B4-BE49-F238E27FC236}">
                  <a16:creationId xmlns:a16="http://schemas.microsoft.com/office/drawing/2014/main" id="{2582BF5B-11E6-BBC2-5320-EAEF154F3365}"/>
                </a:ext>
              </a:extLst>
            </p:cNvPr>
            <p:cNvSpPr/>
            <p:nvPr/>
          </p:nvSpPr>
          <p:spPr>
            <a:xfrm>
              <a:off x="4663077" y="5542267"/>
              <a:ext cx="2613660" cy="5410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35" name="Flèche : bas 34">
              <a:extLst>
                <a:ext uri="{FF2B5EF4-FFF2-40B4-BE49-F238E27FC236}">
                  <a16:creationId xmlns:a16="http://schemas.microsoft.com/office/drawing/2014/main" id="{C50B023C-9923-8C18-1543-5E1F099E03CF}"/>
                </a:ext>
              </a:extLst>
            </p:cNvPr>
            <p:cNvSpPr/>
            <p:nvPr/>
          </p:nvSpPr>
          <p:spPr>
            <a:xfrm>
              <a:off x="5738767" y="652132"/>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36" name="Flèche : bas 35">
              <a:extLst>
                <a:ext uri="{FF2B5EF4-FFF2-40B4-BE49-F238E27FC236}">
                  <a16:creationId xmlns:a16="http://schemas.microsoft.com/office/drawing/2014/main" id="{26FF9478-4144-7CEB-93B0-E334F36374CE}"/>
                </a:ext>
              </a:extLst>
            </p:cNvPr>
            <p:cNvSpPr/>
            <p:nvPr/>
          </p:nvSpPr>
          <p:spPr>
            <a:xfrm>
              <a:off x="5738767" y="14185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0" name="Flèche : bas 39">
              <a:extLst>
                <a:ext uri="{FF2B5EF4-FFF2-40B4-BE49-F238E27FC236}">
                  <a16:creationId xmlns:a16="http://schemas.microsoft.com/office/drawing/2014/main" id="{D64D511A-6007-4D09-0951-F881E674AAC7}"/>
                </a:ext>
              </a:extLst>
            </p:cNvPr>
            <p:cNvSpPr/>
            <p:nvPr/>
          </p:nvSpPr>
          <p:spPr>
            <a:xfrm>
              <a:off x="5738767" y="2276462"/>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1" name="Flèche : bas 40">
              <a:extLst>
                <a:ext uri="{FF2B5EF4-FFF2-40B4-BE49-F238E27FC236}">
                  <a16:creationId xmlns:a16="http://schemas.microsoft.com/office/drawing/2014/main" id="{58FEFA46-ED9B-AE39-C122-05EB744F154F}"/>
                </a:ext>
              </a:extLst>
            </p:cNvPr>
            <p:cNvSpPr/>
            <p:nvPr/>
          </p:nvSpPr>
          <p:spPr>
            <a:xfrm>
              <a:off x="5789567" y="30060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2" name="Flèche : bas 41">
              <a:extLst>
                <a:ext uri="{FF2B5EF4-FFF2-40B4-BE49-F238E27FC236}">
                  <a16:creationId xmlns:a16="http://schemas.microsoft.com/office/drawing/2014/main" id="{201144F8-3CF9-63F6-D0CC-5149C5D84093}"/>
                </a:ext>
              </a:extLst>
            </p:cNvPr>
            <p:cNvSpPr/>
            <p:nvPr/>
          </p:nvSpPr>
          <p:spPr>
            <a:xfrm>
              <a:off x="5789567" y="381379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3" name="Flèche : bas 42">
              <a:extLst>
                <a:ext uri="{FF2B5EF4-FFF2-40B4-BE49-F238E27FC236}">
                  <a16:creationId xmlns:a16="http://schemas.microsoft.com/office/drawing/2014/main" id="{B064142E-CD5E-6FE8-CAD2-7B7002F05481}"/>
                </a:ext>
              </a:extLst>
            </p:cNvPr>
            <p:cNvSpPr/>
            <p:nvPr/>
          </p:nvSpPr>
          <p:spPr>
            <a:xfrm>
              <a:off x="5805442" y="45046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4" name="Flèche : bas 43">
              <a:extLst>
                <a:ext uri="{FF2B5EF4-FFF2-40B4-BE49-F238E27FC236}">
                  <a16:creationId xmlns:a16="http://schemas.microsoft.com/office/drawing/2014/main" id="{396CD0E4-4C36-8154-6C6F-56E9EA6DDE94}"/>
                </a:ext>
              </a:extLst>
            </p:cNvPr>
            <p:cNvSpPr/>
            <p:nvPr/>
          </p:nvSpPr>
          <p:spPr>
            <a:xfrm>
              <a:off x="5789567" y="531747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5" name="Flèche : bas 44">
              <a:extLst>
                <a:ext uri="{FF2B5EF4-FFF2-40B4-BE49-F238E27FC236}">
                  <a16:creationId xmlns:a16="http://schemas.microsoft.com/office/drawing/2014/main" id="{2D3CDA68-3FFF-BE4B-0645-8890CE109C13}"/>
                </a:ext>
              </a:extLst>
            </p:cNvPr>
            <p:cNvSpPr/>
            <p:nvPr/>
          </p:nvSpPr>
          <p:spPr>
            <a:xfrm>
              <a:off x="5791472" y="6007087"/>
              <a:ext cx="152400" cy="22479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6" name="Flèche : angle droit 45">
              <a:extLst>
                <a:ext uri="{FF2B5EF4-FFF2-40B4-BE49-F238E27FC236}">
                  <a16:creationId xmlns:a16="http://schemas.microsoft.com/office/drawing/2014/main" id="{99DF663F-DE57-61D5-6C8D-725EF5BFB5DB}"/>
                </a:ext>
              </a:extLst>
            </p:cNvPr>
            <p:cNvSpPr/>
            <p:nvPr/>
          </p:nvSpPr>
          <p:spPr>
            <a:xfrm flipH="1">
              <a:off x="3150507" y="4046207"/>
              <a:ext cx="1927860" cy="1089660"/>
            </a:xfrm>
            <a:prstGeom prst="bentUpArrow">
              <a:avLst>
                <a:gd name="adj1" fmla="val 7536"/>
                <a:gd name="adj2" fmla="val 14495"/>
                <a:gd name="adj3" fmla="val 1691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7" name="Flèche : angle droit 46">
              <a:extLst>
                <a:ext uri="{FF2B5EF4-FFF2-40B4-BE49-F238E27FC236}">
                  <a16:creationId xmlns:a16="http://schemas.microsoft.com/office/drawing/2014/main" id="{CFBF3689-8B86-1C14-CE62-0B41AD826B55}"/>
                </a:ext>
              </a:extLst>
            </p:cNvPr>
            <p:cNvSpPr/>
            <p:nvPr/>
          </p:nvSpPr>
          <p:spPr>
            <a:xfrm rot="5400000" flipH="1">
              <a:off x="3321322" y="1814817"/>
              <a:ext cx="1238885" cy="1264285"/>
            </a:xfrm>
            <a:prstGeom prst="bentUpArrow">
              <a:avLst>
                <a:gd name="adj1" fmla="val 7536"/>
                <a:gd name="adj2" fmla="val 8240"/>
                <a:gd name="adj3" fmla="val 1691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8" name="Flèche : bas 47">
              <a:extLst>
                <a:ext uri="{FF2B5EF4-FFF2-40B4-BE49-F238E27FC236}">
                  <a16:creationId xmlns:a16="http://schemas.microsoft.com/office/drawing/2014/main" id="{EA0BABE6-B508-B9B7-46A9-95E426DAE82A}"/>
                </a:ext>
              </a:extLst>
            </p:cNvPr>
            <p:cNvSpPr/>
            <p:nvPr/>
          </p:nvSpPr>
          <p:spPr>
            <a:xfrm rot="16200000">
              <a:off x="7268799" y="2871140"/>
              <a:ext cx="196215" cy="1257300"/>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49" name="Zone de texte 6">
              <a:extLst>
                <a:ext uri="{FF2B5EF4-FFF2-40B4-BE49-F238E27FC236}">
                  <a16:creationId xmlns:a16="http://schemas.microsoft.com/office/drawing/2014/main" id="{B60340DF-7F90-6481-D836-5CCF1B8ECF96}"/>
                </a:ext>
              </a:extLst>
            </p:cNvPr>
            <p:cNvSpPr txBox="1">
              <a:spLocks noChangeArrowheads="1"/>
            </p:cNvSpPr>
            <p:nvPr/>
          </p:nvSpPr>
          <p:spPr bwMode="auto">
            <a:xfrm>
              <a:off x="5161443" y="301269"/>
              <a:ext cx="13287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Début</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0" name="Text Box 14">
              <a:extLst>
                <a:ext uri="{FF2B5EF4-FFF2-40B4-BE49-F238E27FC236}">
                  <a16:creationId xmlns:a16="http://schemas.microsoft.com/office/drawing/2014/main" id="{0B0CB81C-ABEF-CB2F-4156-02E409F55120}"/>
                </a:ext>
              </a:extLst>
            </p:cNvPr>
            <p:cNvSpPr txBox="1">
              <a:spLocks noChangeArrowheads="1"/>
            </p:cNvSpPr>
            <p:nvPr/>
          </p:nvSpPr>
          <p:spPr bwMode="auto">
            <a:xfrm>
              <a:off x="4126235" y="949772"/>
              <a:ext cx="333533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G</a:t>
              </a:r>
              <a:r>
                <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n</a:t>
              </a:r>
              <a:r>
                <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ration de la population initiale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1" name="Text Box 13">
              <a:extLst>
                <a:ext uri="{FF2B5EF4-FFF2-40B4-BE49-F238E27FC236}">
                  <a16:creationId xmlns:a16="http://schemas.microsoft.com/office/drawing/2014/main" id="{1F70EBB5-95CD-B19E-2956-E237D689CADA}"/>
                </a:ext>
              </a:extLst>
            </p:cNvPr>
            <p:cNvSpPr txBox="1">
              <a:spLocks noChangeArrowheads="1"/>
            </p:cNvSpPr>
            <p:nvPr/>
          </p:nvSpPr>
          <p:spPr bwMode="auto">
            <a:xfrm>
              <a:off x="4403412" y="1642142"/>
              <a:ext cx="28448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Evaluation de luminosit</a:t>
              </a:r>
              <a:r>
                <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 des lucioles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2" name="Text Box 12">
              <a:extLst>
                <a:ext uri="{FF2B5EF4-FFF2-40B4-BE49-F238E27FC236}">
                  <a16:creationId xmlns:a16="http://schemas.microsoft.com/office/drawing/2014/main" id="{25E364F9-E61B-9A3C-B035-4DF60ECB18F3}"/>
                </a:ext>
              </a:extLst>
            </p:cNvPr>
            <p:cNvSpPr txBox="1">
              <a:spLocks noChangeArrowheads="1"/>
            </p:cNvSpPr>
            <p:nvPr/>
          </p:nvSpPr>
          <p:spPr bwMode="auto">
            <a:xfrm>
              <a:off x="4569732" y="2485962"/>
              <a:ext cx="26416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Classement des lucioles selon leur intensit</a:t>
              </a:r>
              <a:r>
                <a:rPr kumimoji="0" lang="fr-FR" altLang="fr-FR" sz="1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4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3" name="Text Box 11">
              <a:extLst>
                <a:ext uri="{FF2B5EF4-FFF2-40B4-BE49-F238E27FC236}">
                  <a16:creationId xmlns:a16="http://schemas.microsoft.com/office/drawing/2014/main" id="{D421AF4B-C250-98A0-E87F-4268FCBA2F99}"/>
                </a:ext>
              </a:extLst>
            </p:cNvPr>
            <p:cNvSpPr txBox="1">
              <a:spLocks noChangeArrowheads="1"/>
            </p:cNvSpPr>
            <p:nvPr/>
          </p:nvSpPr>
          <p:spPr bwMode="auto">
            <a:xfrm>
              <a:off x="5297601" y="3322784"/>
              <a:ext cx="11858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err="1">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Comapraison</a:t>
              </a:r>
              <a:r>
                <a:rPr kumimoji="0" lang="fr-FR" altLang="fr-FR" sz="12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 I(i) &lt;I(j)</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4" name="Zone de texte 7">
              <a:extLst>
                <a:ext uri="{FF2B5EF4-FFF2-40B4-BE49-F238E27FC236}">
                  <a16:creationId xmlns:a16="http://schemas.microsoft.com/office/drawing/2014/main" id="{E8DDFA41-965B-DB13-5A5F-82C73CFB96CD}"/>
                </a:ext>
              </a:extLst>
            </p:cNvPr>
            <p:cNvSpPr txBox="1">
              <a:spLocks noChangeArrowheads="1"/>
            </p:cNvSpPr>
            <p:nvPr/>
          </p:nvSpPr>
          <p:spPr bwMode="auto">
            <a:xfrm>
              <a:off x="7961267" y="3195424"/>
              <a:ext cx="14224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Deplacement  de la luciole i vers j</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5" name="Text Box 9">
              <a:extLst>
                <a:ext uri="{FF2B5EF4-FFF2-40B4-BE49-F238E27FC236}">
                  <a16:creationId xmlns:a16="http://schemas.microsoft.com/office/drawing/2014/main" id="{DECDB666-2AA4-EE9B-F1D7-85560F13E75F}"/>
                </a:ext>
              </a:extLst>
            </p:cNvPr>
            <p:cNvSpPr txBox="1">
              <a:spLocks noChangeArrowheads="1"/>
            </p:cNvSpPr>
            <p:nvPr/>
          </p:nvSpPr>
          <p:spPr bwMode="auto">
            <a:xfrm>
              <a:off x="6379165" y="3339519"/>
              <a:ext cx="11858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oui</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6" name="Text Box 8">
              <a:extLst>
                <a:ext uri="{FF2B5EF4-FFF2-40B4-BE49-F238E27FC236}">
                  <a16:creationId xmlns:a16="http://schemas.microsoft.com/office/drawing/2014/main" id="{9FD32436-47D4-7BCD-54B6-B0B6515885B6}"/>
                </a:ext>
              </a:extLst>
            </p:cNvPr>
            <p:cNvSpPr txBox="1">
              <a:spLocks noChangeArrowheads="1"/>
            </p:cNvSpPr>
            <p:nvPr/>
          </p:nvSpPr>
          <p:spPr bwMode="auto">
            <a:xfrm>
              <a:off x="4872631" y="3735924"/>
              <a:ext cx="118586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Non </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7" name="Text Box 7">
              <a:extLst>
                <a:ext uri="{FF2B5EF4-FFF2-40B4-BE49-F238E27FC236}">
                  <a16:creationId xmlns:a16="http://schemas.microsoft.com/office/drawing/2014/main" id="{DFC4DD9E-3292-1371-A7B7-AEEC2796825A}"/>
                </a:ext>
              </a:extLst>
            </p:cNvPr>
            <p:cNvSpPr txBox="1">
              <a:spLocks noChangeArrowheads="1"/>
            </p:cNvSpPr>
            <p:nvPr/>
          </p:nvSpPr>
          <p:spPr bwMode="auto">
            <a:xfrm>
              <a:off x="6083389" y="5199838"/>
              <a:ext cx="118586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oui</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8" name="Text Box 6">
              <a:extLst>
                <a:ext uri="{FF2B5EF4-FFF2-40B4-BE49-F238E27FC236}">
                  <a16:creationId xmlns:a16="http://schemas.microsoft.com/office/drawing/2014/main" id="{E3BC77E9-6157-2007-872D-2613E98A9C43}"/>
                </a:ext>
              </a:extLst>
            </p:cNvPr>
            <p:cNvSpPr txBox="1">
              <a:spLocks noChangeArrowheads="1"/>
            </p:cNvSpPr>
            <p:nvPr/>
          </p:nvSpPr>
          <p:spPr bwMode="auto">
            <a:xfrm>
              <a:off x="3044252" y="4735089"/>
              <a:ext cx="118586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Non </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59" name="Text Box 5">
              <a:extLst>
                <a:ext uri="{FF2B5EF4-FFF2-40B4-BE49-F238E27FC236}">
                  <a16:creationId xmlns:a16="http://schemas.microsoft.com/office/drawing/2014/main" id="{CEDAE05D-C85A-DD34-4D91-1D424C73A1BA}"/>
                </a:ext>
              </a:extLst>
            </p:cNvPr>
            <p:cNvSpPr txBox="1">
              <a:spLocks noChangeArrowheads="1"/>
            </p:cNvSpPr>
            <p:nvPr/>
          </p:nvSpPr>
          <p:spPr bwMode="auto">
            <a:xfrm>
              <a:off x="4744198" y="5633771"/>
              <a:ext cx="237013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Solution optimale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0" name="Text Box 4">
              <a:extLst>
                <a:ext uri="{FF2B5EF4-FFF2-40B4-BE49-F238E27FC236}">
                  <a16:creationId xmlns:a16="http://schemas.microsoft.com/office/drawing/2014/main" id="{FB5EBE3D-7631-EE1A-5EC0-103BA6656F60}"/>
                </a:ext>
              </a:extLst>
            </p:cNvPr>
            <p:cNvSpPr txBox="1">
              <a:spLocks noChangeArrowheads="1"/>
            </p:cNvSpPr>
            <p:nvPr/>
          </p:nvSpPr>
          <p:spPr bwMode="auto">
            <a:xfrm>
              <a:off x="4744198" y="6286830"/>
              <a:ext cx="2370138"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Fin </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sp>
          <p:nvSpPr>
            <p:cNvPr id="61" name="Text Box 3">
              <a:extLst>
                <a:ext uri="{FF2B5EF4-FFF2-40B4-BE49-F238E27FC236}">
                  <a16:creationId xmlns:a16="http://schemas.microsoft.com/office/drawing/2014/main" id="{C5B2CB04-63D9-48F0-6E44-424DCFB9B24A}"/>
                </a:ext>
              </a:extLst>
            </p:cNvPr>
            <p:cNvSpPr txBox="1">
              <a:spLocks noChangeArrowheads="1"/>
            </p:cNvSpPr>
            <p:nvPr/>
          </p:nvSpPr>
          <p:spPr bwMode="auto">
            <a:xfrm>
              <a:off x="2202194" y="3345245"/>
              <a:ext cx="2370138"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Gen+= 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2" name="Text Box 2">
              <a:extLst>
                <a:ext uri="{FF2B5EF4-FFF2-40B4-BE49-F238E27FC236}">
                  <a16:creationId xmlns:a16="http://schemas.microsoft.com/office/drawing/2014/main" id="{347DE774-B0F4-D3A0-01F8-1F3D4E5E6218}"/>
                </a:ext>
              </a:extLst>
            </p:cNvPr>
            <p:cNvSpPr txBox="1">
              <a:spLocks noChangeArrowheads="1"/>
            </p:cNvSpPr>
            <p:nvPr/>
          </p:nvSpPr>
          <p:spPr bwMode="auto">
            <a:xfrm>
              <a:off x="4023076" y="4040174"/>
              <a:ext cx="38682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Evaluation de la nouvelle solution et mise </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à</a:t>
              </a:r>
              <a:r>
                <a:rPr kumimoji="0" lang="fr-FR" altLang="fr-FR" sz="14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 jour des intensit</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fr-FR" altLang="fr-FR" sz="1400" b="0" i="0" u="none" strike="noStrike" cap="none" normalizeH="0" baseline="0" dirty="0">
                  <a:ln>
                    <a:noFill/>
                  </a:ln>
                  <a:solidFill>
                    <a:schemeClr val="tx1"/>
                  </a:solidFill>
                  <a:effectLst/>
                  <a:latin typeface="Aptos Display" panose="020B0004020202020204" pitchFamily="34" charset="0"/>
                  <a:ea typeface="Calibri" panose="020F0502020204030204" pitchFamily="34" charset="0"/>
                  <a:cs typeface="Arial" panose="020B0604020202020204" pitchFamily="34" charset="0"/>
                </a:rPr>
                <a:t>s des lucioles et du classement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3" name="Text Box 1">
              <a:extLst>
                <a:ext uri="{FF2B5EF4-FFF2-40B4-BE49-F238E27FC236}">
                  <a16:creationId xmlns:a16="http://schemas.microsoft.com/office/drawing/2014/main" id="{E6A27F67-E1CA-2846-85E9-6A411A97B16F}"/>
                </a:ext>
              </a:extLst>
            </p:cNvPr>
            <p:cNvSpPr txBox="1">
              <a:spLocks noChangeArrowheads="1"/>
            </p:cNvSpPr>
            <p:nvPr/>
          </p:nvSpPr>
          <p:spPr bwMode="auto">
            <a:xfrm>
              <a:off x="5136982" y="4914919"/>
              <a:ext cx="14652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Gen</a:t>
              </a:r>
              <a:r>
                <a:rPr kumimoji="0" lang="fr-FR" altLang="fr-FR" sz="1400" b="0" i="0" u="none" strike="noStrike" cap="none" normalizeH="0" baseline="0" dirty="0">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 &gt; </a:t>
              </a:r>
              <a:r>
                <a:rPr kumimoji="0" lang="fr-FR" altLang="fr-FR" sz="1400" b="0" i="0" u="none" strike="noStrike" cap="none" normalizeH="0" baseline="0" dirty="0" err="1">
                  <a:ln>
                    <a:noFill/>
                  </a:ln>
                  <a:solidFill>
                    <a:schemeClr val="tx1"/>
                  </a:solidFill>
                  <a:effectLst/>
                  <a:latin typeface="Aharoni" panose="02010803020104030203" pitchFamily="2" charset="-79"/>
                  <a:ea typeface="Calibri" panose="020F0502020204030204" pitchFamily="34" charset="0"/>
                  <a:cs typeface="Aharoni" panose="02010803020104030203" pitchFamily="2" charset="-79"/>
                </a:rPr>
                <a:t>maxGen</a:t>
              </a:r>
              <a:endParaRPr kumimoji="0" lang="fr-FR" altLang="fr-FR" sz="1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p:txBody>
        </p:sp>
      </p:grpSp>
      <p:sp>
        <p:nvSpPr>
          <p:cNvPr id="64" name="Rectangle 38">
            <a:extLst>
              <a:ext uri="{FF2B5EF4-FFF2-40B4-BE49-F238E27FC236}">
                <a16:creationId xmlns:a16="http://schemas.microsoft.com/office/drawing/2014/main" id="{CA9E0780-096F-89FD-70D6-0210956A33F3}"/>
              </a:ext>
            </a:extLst>
          </p:cNvPr>
          <p:cNvSpPr>
            <a:spLocks noChangeArrowheads="1"/>
          </p:cNvSpPr>
          <p:nvPr/>
        </p:nvSpPr>
        <p:spPr bwMode="auto">
          <a:xfrm>
            <a:off x="2421213" y="-7372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5" name="Rectangle 54">
            <a:extLst>
              <a:ext uri="{FF2B5EF4-FFF2-40B4-BE49-F238E27FC236}">
                <a16:creationId xmlns:a16="http://schemas.microsoft.com/office/drawing/2014/main" id="{A2A23AC8-2A60-0C11-0C8E-049F653B824D}"/>
              </a:ext>
            </a:extLst>
          </p:cNvPr>
          <p:cNvSpPr>
            <a:spLocks noChangeArrowheads="1"/>
          </p:cNvSpPr>
          <p:nvPr/>
        </p:nvSpPr>
        <p:spPr bwMode="auto">
          <a:xfrm>
            <a:off x="2421213" y="-2800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7" name="ZoneTexte 66">
            <a:extLst>
              <a:ext uri="{FF2B5EF4-FFF2-40B4-BE49-F238E27FC236}">
                <a16:creationId xmlns:a16="http://schemas.microsoft.com/office/drawing/2014/main" id="{DD1A8A81-1E51-F222-C280-B6181BF29073}"/>
              </a:ext>
            </a:extLst>
          </p:cNvPr>
          <p:cNvSpPr txBox="1"/>
          <p:nvPr/>
        </p:nvSpPr>
        <p:spPr>
          <a:xfrm>
            <a:off x="305532" y="3010391"/>
            <a:ext cx="3536880" cy="837217"/>
          </a:xfrm>
          <a:prstGeom prst="rect">
            <a:avLst/>
          </a:prstGeom>
          <a:noFill/>
        </p:spPr>
        <p:txBody>
          <a:bodyPr wrap="square" rtlCol="0">
            <a:spAutoFit/>
          </a:bodyPr>
          <a:lstStyle/>
          <a:p>
            <a:pPr>
              <a:lnSpc>
                <a:spcPct val="150000"/>
              </a:lnSpc>
            </a:pPr>
            <a:r>
              <a:rPr lang="fr-FR" sz="3600" dirty="0">
                <a:solidFill>
                  <a:schemeClr val="tx2">
                    <a:lumMod val="75000"/>
                  </a:schemeClr>
                </a:solidFill>
                <a:latin typeface="Arial Black" panose="020B0A04020102020204" pitchFamily="34" charset="0"/>
              </a:rPr>
              <a:t>Pseudo code </a:t>
            </a:r>
          </a:p>
        </p:txBody>
      </p:sp>
      <p:sp>
        <p:nvSpPr>
          <p:cNvPr id="68" name="ZoneTexte 67">
            <a:extLst>
              <a:ext uri="{FF2B5EF4-FFF2-40B4-BE49-F238E27FC236}">
                <a16:creationId xmlns:a16="http://schemas.microsoft.com/office/drawing/2014/main" id="{224D406B-3BD8-B853-0CB2-215A64CA0BAE}"/>
              </a:ext>
            </a:extLst>
          </p:cNvPr>
          <p:cNvSpPr txBox="1"/>
          <p:nvPr/>
        </p:nvSpPr>
        <p:spPr>
          <a:xfrm>
            <a:off x="3473515" y="659094"/>
            <a:ext cx="8266392" cy="5632311"/>
          </a:xfrm>
          <a:prstGeom prst="rect">
            <a:avLst/>
          </a:prstGeom>
          <a:noFill/>
        </p:spPr>
        <p:txBody>
          <a:bodyPr wrap="square">
            <a:spAutoFit/>
          </a:bodyPr>
          <a:lstStyle/>
          <a:p>
            <a:r>
              <a:rPr lang="fr-FR" b="1" dirty="0">
                <a:latin typeface="Aptos Display" panose="020B0004020202020204" pitchFamily="34" charset="0"/>
              </a:rPr>
              <a:t>Début</a:t>
            </a:r>
          </a:p>
          <a:p>
            <a:r>
              <a:rPr lang="fr-FR" dirty="0">
                <a:latin typeface="Aptos Display" panose="020B0004020202020204" pitchFamily="34" charset="0"/>
              </a:rPr>
              <a:t>    1. Fonction objectif : f(x), où x = (x1, x2, ..., </a:t>
            </a:r>
            <a:r>
              <a:rPr lang="fr-FR" dirty="0" err="1">
                <a:latin typeface="Aptos Display" panose="020B0004020202020204" pitchFamily="34" charset="0"/>
              </a:rPr>
              <a:t>xd</a:t>
            </a:r>
            <a:r>
              <a:rPr lang="fr-FR" dirty="0">
                <a:latin typeface="Aptos Display" panose="020B0004020202020204" pitchFamily="34" charset="0"/>
              </a:rPr>
              <a:t>);</a:t>
            </a:r>
          </a:p>
          <a:p>
            <a:r>
              <a:rPr lang="fr-FR" dirty="0">
                <a:latin typeface="Aptos Display" panose="020B0004020202020204" pitchFamily="34" charset="0"/>
              </a:rPr>
              <a:t>    2. Générer une population initiale de lucioles </a:t>
            </a:r>
            <a:r>
              <a:rPr lang="fr-FR" dirty="0" err="1">
                <a:latin typeface="Aptos Display" panose="020B0004020202020204" pitchFamily="34" charset="0"/>
              </a:rPr>
              <a:t>x_i</a:t>
            </a:r>
            <a:r>
              <a:rPr lang="fr-FR" dirty="0">
                <a:latin typeface="Aptos Display" panose="020B0004020202020204" pitchFamily="34" charset="0"/>
              </a:rPr>
              <a:t> (i = 1, 2, ..., n);</a:t>
            </a:r>
          </a:p>
          <a:p>
            <a:r>
              <a:rPr lang="fr-FR" dirty="0">
                <a:latin typeface="Aptos Display" panose="020B0004020202020204" pitchFamily="34" charset="0"/>
              </a:rPr>
              <a:t>    3. Formuler l'intensité lumineuse I de manière à ce qu'elle soit associée à f(x);</a:t>
            </a:r>
          </a:p>
          <a:p>
            <a:r>
              <a:rPr lang="fr-FR" dirty="0">
                <a:latin typeface="Aptos Display" panose="020B0004020202020204" pitchFamily="34" charset="0"/>
              </a:rPr>
              <a:t>    4. Définir le coefficient d'absorption γ;</a:t>
            </a:r>
          </a:p>
          <a:p>
            <a:endParaRPr lang="fr-FR" dirty="0">
              <a:latin typeface="Aptos Display" panose="020B0004020202020204" pitchFamily="34" charset="0"/>
            </a:endParaRPr>
          </a:p>
          <a:p>
            <a:r>
              <a:rPr lang="fr-FR" dirty="0">
                <a:latin typeface="Aptos Display" panose="020B0004020202020204" pitchFamily="34" charset="0"/>
              </a:rPr>
              <a:t>    Tant que (t &lt; </a:t>
            </a:r>
            <a:r>
              <a:rPr lang="fr-FR" dirty="0" err="1">
                <a:latin typeface="Aptos Display" panose="020B0004020202020204" pitchFamily="34" charset="0"/>
              </a:rPr>
              <a:t>MaxGeneration</a:t>
            </a:r>
            <a:r>
              <a:rPr lang="fr-FR" dirty="0">
                <a:latin typeface="Aptos Display" panose="020B0004020202020204" pitchFamily="34" charset="0"/>
              </a:rPr>
              <a:t>)</a:t>
            </a:r>
          </a:p>
          <a:p>
            <a:r>
              <a:rPr lang="fr-FR" dirty="0">
                <a:latin typeface="Aptos Display" panose="020B0004020202020204" pitchFamily="34" charset="0"/>
              </a:rPr>
              <a:t>        Pour i = 1 : n (pour toutes les n lucioles)</a:t>
            </a:r>
          </a:p>
          <a:p>
            <a:r>
              <a:rPr lang="fr-FR" dirty="0">
                <a:latin typeface="Aptos Display" panose="020B0004020202020204" pitchFamily="34" charset="0"/>
              </a:rPr>
              <a:t>            Pour j = 1 : n (pour toutes les n lucioles)</a:t>
            </a:r>
          </a:p>
          <a:p>
            <a:r>
              <a:rPr lang="fr-FR" dirty="0">
                <a:latin typeface="Aptos Display" panose="020B0004020202020204" pitchFamily="34" charset="0"/>
              </a:rPr>
              <a:t>                Si (I &gt; J),</a:t>
            </a:r>
          </a:p>
          <a:p>
            <a:r>
              <a:rPr lang="fr-FR" dirty="0">
                <a:latin typeface="Aptos Display" panose="020B0004020202020204" pitchFamily="34" charset="0"/>
              </a:rPr>
              <a:t>                    Modifier l'attractivité en fonction de la distance r via e^(-</a:t>
            </a:r>
            <a:r>
              <a:rPr lang="fr-FR" dirty="0" err="1">
                <a:latin typeface="Aptos Display" panose="020B0004020202020204" pitchFamily="34" charset="0"/>
              </a:rPr>
              <a:t>γr</a:t>
            </a:r>
            <a:r>
              <a:rPr lang="fr-FR" dirty="0">
                <a:latin typeface="Aptos Display" panose="020B0004020202020204" pitchFamily="34" charset="0"/>
              </a:rPr>
              <a:t>);</a:t>
            </a:r>
          </a:p>
          <a:p>
            <a:r>
              <a:rPr lang="fr-FR" dirty="0">
                <a:latin typeface="Aptos Display" panose="020B0004020202020204" pitchFamily="34" charset="0"/>
              </a:rPr>
              <a:t>                    Évaluer les nouvelles solutions et mettre à jour l'intensité lumineuse;</a:t>
            </a:r>
          </a:p>
          <a:p>
            <a:r>
              <a:rPr lang="fr-FR" dirty="0">
                <a:latin typeface="Aptos Display" panose="020B0004020202020204" pitchFamily="34" charset="0"/>
              </a:rPr>
              <a:t>                Fin si</a:t>
            </a:r>
          </a:p>
          <a:p>
            <a:r>
              <a:rPr lang="fr-FR" dirty="0">
                <a:latin typeface="Aptos Display" panose="020B0004020202020204" pitchFamily="34" charset="0"/>
              </a:rPr>
              <a:t>            Fin Pour j</a:t>
            </a:r>
          </a:p>
          <a:p>
            <a:r>
              <a:rPr lang="fr-FR" dirty="0">
                <a:latin typeface="Aptos Display" panose="020B0004020202020204" pitchFamily="34" charset="0"/>
              </a:rPr>
              <a:t>        Fin Pour i</a:t>
            </a:r>
          </a:p>
          <a:p>
            <a:r>
              <a:rPr lang="fr-FR" dirty="0">
                <a:latin typeface="Aptos Display" panose="020B0004020202020204" pitchFamily="34" charset="0"/>
              </a:rPr>
              <a:t>        Classer les lucioles et trouver la meilleure solution actuelle;</a:t>
            </a:r>
          </a:p>
          <a:p>
            <a:r>
              <a:rPr lang="fr-FR" dirty="0">
                <a:latin typeface="Aptos Display" panose="020B0004020202020204" pitchFamily="34" charset="0"/>
              </a:rPr>
              <a:t>    Fin Tant que</a:t>
            </a:r>
          </a:p>
          <a:p>
            <a:endParaRPr lang="fr-FR" dirty="0">
              <a:latin typeface="Aptos Display" panose="020B0004020202020204" pitchFamily="34" charset="0"/>
            </a:endParaRPr>
          </a:p>
          <a:p>
            <a:r>
              <a:rPr lang="fr-FR" dirty="0">
                <a:latin typeface="Aptos Display" panose="020B0004020202020204" pitchFamily="34" charset="0"/>
              </a:rPr>
              <a:t>résultats et visualisation;</a:t>
            </a:r>
          </a:p>
          <a:p>
            <a:r>
              <a:rPr lang="fr-FR" b="1" dirty="0">
                <a:latin typeface="Aptos Display" panose="020B0004020202020204" pitchFamily="34" charset="0"/>
              </a:rPr>
              <a:t>Fin</a:t>
            </a:r>
          </a:p>
        </p:txBody>
      </p:sp>
    </p:spTree>
    <p:extLst>
      <p:ext uri="{BB962C8B-B14F-4D97-AF65-F5344CB8AC3E}">
        <p14:creationId xmlns:p14="http://schemas.microsoft.com/office/powerpoint/2010/main" val="18384866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DC2CBE6-ADCB-730D-AE64-557121F51C11}"/>
            </a:ext>
          </a:extLst>
        </p:cNvPr>
        <p:cNvGrpSpPr/>
        <p:nvPr/>
      </p:nvGrpSpPr>
      <p:grpSpPr>
        <a:xfrm>
          <a:off x="0" y="0"/>
          <a:ext cx="0" cy="0"/>
          <a:chOff x="0" y="0"/>
          <a:chExt cx="0" cy="0"/>
        </a:xfrm>
      </p:grpSpPr>
      <p:pic>
        <p:nvPicPr>
          <p:cNvPr id="31" name="Image 30">
            <a:extLst>
              <a:ext uri="{FF2B5EF4-FFF2-40B4-BE49-F238E27FC236}">
                <a16:creationId xmlns:a16="http://schemas.microsoft.com/office/drawing/2014/main" id="{97FA70C9-BDA6-00BB-E5DE-DCF9E28C2A63}"/>
              </a:ext>
            </a:extLst>
          </p:cNvPr>
          <p:cNvPicPr>
            <a:picLocks noChangeAspect="1"/>
          </p:cNvPicPr>
          <p:nvPr/>
        </p:nvPicPr>
        <p:blipFill>
          <a:blip r:embed="rId3"/>
          <a:stretch>
            <a:fillRect/>
          </a:stretch>
        </p:blipFill>
        <p:spPr>
          <a:xfrm>
            <a:off x="747359" y="1376279"/>
            <a:ext cx="9960480" cy="4953749"/>
          </a:xfrm>
          <a:prstGeom prst="rect">
            <a:avLst/>
          </a:prstGeom>
        </p:spPr>
      </p:pic>
      <p:sp>
        <p:nvSpPr>
          <p:cNvPr id="10" name="Rectangle 9">
            <a:extLst>
              <a:ext uri="{FF2B5EF4-FFF2-40B4-BE49-F238E27FC236}">
                <a16:creationId xmlns:a16="http://schemas.microsoft.com/office/drawing/2014/main" id="{44D66F4E-B944-D82B-7DF5-64892AEB21B6}"/>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C7E7D9B6-825F-8C22-BF67-F9162DF229BF}"/>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AE83B08A-6533-8EF5-2EF6-E036E4182735}"/>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3059463B-9968-0BF3-4764-C84AC8D12A9A}"/>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38">
            <a:extLst>
              <a:ext uri="{FF2B5EF4-FFF2-40B4-BE49-F238E27FC236}">
                <a16:creationId xmlns:a16="http://schemas.microsoft.com/office/drawing/2014/main" id="{65AAE7A9-5210-365F-FD48-8F16F85EDA4F}"/>
              </a:ext>
            </a:extLst>
          </p:cNvPr>
          <p:cNvSpPr>
            <a:spLocks noChangeArrowheads="1"/>
          </p:cNvSpPr>
          <p:nvPr/>
        </p:nvSpPr>
        <p:spPr bwMode="auto">
          <a:xfrm>
            <a:off x="2421213" y="-7372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5" name="Rectangle 54">
            <a:extLst>
              <a:ext uri="{FF2B5EF4-FFF2-40B4-BE49-F238E27FC236}">
                <a16:creationId xmlns:a16="http://schemas.microsoft.com/office/drawing/2014/main" id="{D40D28B2-7435-C55C-F0DF-2F915FF6BCE6}"/>
              </a:ext>
            </a:extLst>
          </p:cNvPr>
          <p:cNvSpPr>
            <a:spLocks noChangeArrowheads="1"/>
          </p:cNvSpPr>
          <p:nvPr/>
        </p:nvSpPr>
        <p:spPr bwMode="auto">
          <a:xfrm>
            <a:off x="2421213" y="-2800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7" name="ZoneTexte 66">
            <a:extLst>
              <a:ext uri="{FF2B5EF4-FFF2-40B4-BE49-F238E27FC236}">
                <a16:creationId xmlns:a16="http://schemas.microsoft.com/office/drawing/2014/main" id="{CF7B696D-0D33-56FA-3609-A592E817FA11}"/>
              </a:ext>
            </a:extLst>
          </p:cNvPr>
          <p:cNvSpPr txBox="1"/>
          <p:nvPr/>
        </p:nvSpPr>
        <p:spPr>
          <a:xfrm>
            <a:off x="747359" y="215779"/>
            <a:ext cx="7522965" cy="837217"/>
          </a:xfrm>
          <a:prstGeom prst="rect">
            <a:avLst/>
          </a:prstGeom>
          <a:noFill/>
        </p:spPr>
        <p:txBody>
          <a:bodyPr wrap="square" rtlCol="0">
            <a:spAutoFit/>
          </a:bodyPr>
          <a:lstStyle/>
          <a:p>
            <a:pPr>
              <a:lnSpc>
                <a:spcPct val="150000"/>
              </a:lnSpc>
            </a:pPr>
            <a:r>
              <a:rPr lang="fr-FR" sz="3600" dirty="0">
                <a:solidFill>
                  <a:schemeClr val="tx2">
                    <a:lumMod val="75000"/>
                  </a:schemeClr>
                </a:solidFill>
                <a:latin typeface="Arial Black" panose="020B0A04020102020204" pitchFamily="34" charset="0"/>
              </a:rPr>
              <a:t>Code en langage python </a:t>
            </a:r>
          </a:p>
        </p:txBody>
      </p:sp>
      <p:pic>
        <p:nvPicPr>
          <p:cNvPr id="26" name="Image 25">
            <a:extLst>
              <a:ext uri="{FF2B5EF4-FFF2-40B4-BE49-F238E27FC236}">
                <a16:creationId xmlns:a16="http://schemas.microsoft.com/office/drawing/2014/main" id="{158F621F-0CB2-EAC5-1D4F-39DFFE2C633F}"/>
              </a:ext>
            </a:extLst>
          </p:cNvPr>
          <p:cNvPicPr>
            <a:picLocks noChangeAspect="1"/>
          </p:cNvPicPr>
          <p:nvPr/>
        </p:nvPicPr>
        <p:blipFill>
          <a:blip r:embed="rId4"/>
          <a:stretch>
            <a:fillRect/>
          </a:stretch>
        </p:blipFill>
        <p:spPr>
          <a:xfrm>
            <a:off x="7007321" y="2086988"/>
            <a:ext cx="2526006" cy="884405"/>
          </a:xfrm>
          <a:prstGeom prst="rect">
            <a:avLst/>
          </a:prstGeom>
        </p:spPr>
      </p:pic>
      <p:cxnSp>
        <p:nvCxnSpPr>
          <p:cNvPr id="29" name="Connecteur droit avec flèche 28">
            <a:extLst>
              <a:ext uri="{FF2B5EF4-FFF2-40B4-BE49-F238E27FC236}">
                <a16:creationId xmlns:a16="http://schemas.microsoft.com/office/drawing/2014/main" id="{1D28A5D8-4887-5826-07B4-6E885B5457CE}"/>
              </a:ext>
            </a:extLst>
          </p:cNvPr>
          <p:cNvCxnSpPr/>
          <p:nvPr/>
        </p:nvCxnSpPr>
        <p:spPr>
          <a:xfrm>
            <a:off x="3722451" y="2529191"/>
            <a:ext cx="3015575" cy="0"/>
          </a:xfrm>
          <a:prstGeom prst="straightConnector1">
            <a:avLst/>
          </a:prstGeom>
          <a:ln>
            <a:headEnd type="triangle"/>
            <a:tailEnd type="triangle"/>
          </a:ln>
        </p:spPr>
        <p:style>
          <a:lnRef idx="3">
            <a:schemeClr val="accent3"/>
          </a:lnRef>
          <a:fillRef idx="0">
            <a:schemeClr val="accent3"/>
          </a:fillRef>
          <a:effectRef idx="2">
            <a:schemeClr val="accent3"/>
          </a:effectRef>
          <a:fontRef idx="minor">
            <a:schemeClr val="tx1"/>
          </a:fontRef>
        </p:style>
      </p:cxnSp>
      <p:sp>
        <p:nvSpPr>
          <p:cNvPr id="32" name="ZoneTexte 31">
            <a:extLst>
              <a:ext uri="{FF2B5EF4-FFF2-40B4-BE49-F238E27FC236}">
                <a16:creationId xmlns:a16="http://schemas.microsoft.com/office/drawing/2014/main" id="{BE4237EF-540D-F748-F465-6A2C61932020}"/>
              </a:ext>
            </a:extLst>
          </p:cNvPr>
          <p:cNvSpPr txBox="1"/>
          <p:nvPr/>
        </p:nvSpPr>
        <p:spPr>
          <a:xfrm>
            <a:off x="14329084" y="1036997"/>
            <a:ext cx="8266392" cy="5632311"/>
          </a:xfrm>
          <a:prstGeom prst="rect">
            <a:avLst/>
          </a:prstGeom>
          <a:noFill/>
        </p:spPr>
        <p:txBody>
          <a:bodyPr wrap="square">
            <a:spAutoFit/>
          </a:bodyPr>
          <a:lstStyle/>
          <a:p>
            <a:r>
              <a:rPr lang="fr-FR" b="1" dirty="0">
                <a:latin typeface="Aptos Display" panose="020B0004020202020204" pitchFamily="34" charset="0"/>
              </a:rPr>
              <a:t>Début</a:t>
            </a:r>
          </a:p>
          <a:p>
            <a:r>
              <a:rPr lang="fr-FR" dirty="0">
                <a:latin typeface="Aptos Display" panose="020B0004020202020204" pitchFamily="34" charset="0"/>
              </a:rPr>
              <a:t>    1. Fonction objectif : f(x), où x = (x1, x2, ..., </a:t>
            </a:r>
            <a:r>
              <a:rPr lang="fr-FR" dirty="0" err="1">
                <a:latin typeface="Aptos Display" panose="020B0004020202020204" pitchFamily="34" charset="0"/>
              </a:rPr>
              <a:t>xd</a:t>
            </a:r>
            <a:r>
              <a:rPr lang="fr-FR" dirty="0">
                <a:latin typeface="Aptos Display" panose="020B0004020202020204" pitchFamily="34" charset="0"/>
              </a:rPr>
              <a:t>);</a:t>
            </a:r>
          </a:p>
          <a:p>
            <a:r>
              <a:rPr lang="fr-FR" dirty="0">
                <a:latin typeface="Aptos Display" panose="020B0004020202020204" pitchFamily="34" charset="0"/>
              </a:rPr>
              <a:t>    2. Générer une population initiale de lucioles </a:t>
            </a:r>
            <a:r>
              <a:rPr lang="fr-FR" dirty="0" err="1">
                <a:latin typeface="Aptos Display" panose="020B0004020202020204" pitchFamily="34" charset="0"/>
              </a:rPr>
              <a:t>x_i</a:t>
            </a:r>
            <a:r>
              <a:rPr lang="fr-FR" dirty="0">
                <a:latin typeface="Aptos Display" panose="020B0004020202020204" pitchFamily="34" charset="0"/>
              </a:rPr>
              <a:t> (i = 1, 2, ..., n);</a:t>
            </a:r>
          </a:p>
          <a:p>
            <a:r>
              <a:rPr lang="fr-FR" dirty="0">
                <a:latin typeface="Aptos Display" panose="020B0004020202020204" pitchFamily="34" charset="0"/>
              </a:rPr>
              <a:t>    3. Formuler l'intensité lumineuse I de manière à ce qu'elle soit associée à f(x);</a:t>
            </a:r>
          </a:p>
          <a:p>
            <a:r>
              <a:rPr lang="fr-FR" dirty="0">
                <a:latin typeface="Aptos Display" panose="020B0004020202020204" pitchFamily="34" charset="0"/>
              </a:rPr>
              <a:t>    4. Définir le coefficient d'absorption γ;</a:t>
            </a:r>
          </a:p>
          <a:p>
            <a:endParaRPr lang="fr-FR" dirty="0">
              <a:latin typeface="Aptos Display" panose="020B0004020202020204" pitchFamily="34" charset="0"/>
            </a:endParaRPr>
          </a:p>
          <a:p>
            <a:r>
              <a:rPr lang="fr-FR" dirty="0">
                <a:latin typeface="Aptos Display" panose="020B0004020202020204" pitchFamily="34" charset="0"/>
              </a:rPr>
              <a:t>    Tant que (t &lt; </a:t>
            </a:r>
            <a:r>
              <a:rPr lang="fr-FR" dirty="0" err="1">
                <a:latin typeface="Aptos Display" panose="020B0004020202020204" pitchFamily="34" charset="0"/>
              </a:rPr>
              <a:t>MaxGeneration</a:t>
            </a:r>
            <a:r>
              <a:rPr lang="fr-FR" dirty="0">
                <a:latin typeface="Aptos Display" panose="020B0004020202020204" pitchFamily="34" charset="0"/>
              </a:rPr>
              <a:t>)</a:t>
            </a:r>
          </a:p>
          <a:p>
            <a:r>
              <a:rPr lang="fr-FR" dirty="0">
                <a:latin typeface="Aptos Display" panose="020B0004020202020204" pitchFamily="34" charset="0"/>
              </a:rPr>
              <a:t>        Pour i = 1 : n (pour toutes les n lucioles)</a:t>
            </a:r>
          </a:p>
          <a:p>
            <a:r>
              <a:rPr lang="fr-FR" dirty="0">
                <a:latin typeface="Aptos Display" panose="020B0004020202020204" pitchFamily="34" charset="0"/>
              </a:rPr>
              <a:t>            Pour j = 1 : n (pour toutes les n lucioles)</a:t>
            </a:r>
          </a:p>
          <a:p>
            <a:r>
              <a:rPr lang="fr-FR" dirty="0">
                <a:latin typeface="Aptos Display" panose="020B0004020202020204" pitchFamily="34" charset="0"/>
              </a:rPr>
              <a:t>                Si (I &gt; J),</a:t>
            </a:r>
          </a:p>
          <a:p>
            <a:r>
              <a:rPr lang="fr-FR" dirty="0">
                <a:latin typeface="Aptos Display" panose="020B0004020202020204" pitchFamily="34" charset="0"/>
              </a:rPr>
              <a:t>                    Modifier l'attractivité en fonction de la distance r via e^(-</a:t>
            </a:r>
            <a:r>
              <a:rPr lang="fr-FR" dirty="0" err="1">
                <a:latin typeface="Aptos Display" panose="020B0004020202020204" pitchFamily="34" charset="0"/>
              </a:rPr>
              <a:t>γr</a:t>
            </a:r>
            <a:r>
              <a:rPr lang="fr-FR" dirty="0">
                <a:latin typeface="Aptos Display" panose="020B0004020202020204" pitchFamily="34" charset="0"/>
              </a:rPr>
              <a:t>);</a:t>
            </a:r>
          </a:p>
          <a:p>
            <a:r>
              <a:rPr lang="fr-FR" dirty="0">
                <a:latin typeface="Aptos Display" panose="020B0004020202020204" pitchFamily="34" charset="0"/>
              </a:rPr>
              <a:t>                    Évaluer les nouvelles solutions et mettre à jour l'intensité lumineuse;</a:t>
            </a:r>
          </a:p>
          <a:p>
            <a:r>
              <a:rPr lang="fr-FR" dirty="0">
                <a:latin typeface="Aptos Display" panose="020B0004020202020204" pitchFamily="34" charset="0"/>
              </a:rPr>
              <a:t>                Fin si</a:t>
            </a:r>
          </a:p>
          <a:p>
            <a:r>
              <a:rPr lang="fr-FR" dirty="0">
                <a:latin typeface="Aptos Display" panose="020B0004020202020204" pitchFamily="34" charset="0"/>
              </a:rPr>
              <a:t>            Fin Pour j</a:t>
            </a:r>
          </a:p>
          <a:p>
            <a:r>
              <a:rPr lang="fr-FR" dirty="0">
                <a:latin typeface="Aptos Display" panose="020B0004020202020204" pitchFamily="34" charset="0"/>
              </a:rPr>
              <a:t>        Fin Pour i</a:t>
            </a:r>
          </a:p>
          <a:p>
            <a:r>
              <a:rPr lang="fr-FR" dirty="0">
                <a:latin typeface="Aptos Display" panose="020B0004020202020204" pitchFamily="34" charset="0"/>
              </a:rPr>
              <a:t>        Classer les lucioles et trouver la meilleure solution actuelle;</a:t>
            </a:r>
          </a:p>
          <a:p>
            <a:r>
              <a:rPr lang="fr-FR" dirty="0">
                <a:latin typeface="Aptos Display" panose="020B0004020202020204" pitchFamily="34" charset="0"/>
              </a:rPr>
              <a:t>    Fin Tant que</a:t>
            </a:r>
          </a:p>
          <a:p>
            <a:endParaRPr lang="fr-FR" dirty="0">
              <a:latin typeface="Aptos Display" panose="020B0004020202020204" pitchFamily="34" charset="0"/>
            </a:endParaRPr>
          </a:p>
          <a:p>
            <a:r>
              <a:rPr lang="fr-FR" dirty="0">
                <a:latin typeface="Aptos Display" panose="020B0004020202020204" pitchFamily="34" charset="0"/>
              </a:rPr>
              <a:t>résultats et visualisation;</a:t>
            </a:r>
          </a:p>
          <a:p>
            <a:r>
              <a:rPr lang="fr-FR" b="1" dirty="0">
                <a:latin typeface="Aptos Display" panose="020B0004020202020204" pitchFamily="34" charset="0"/>
              </a:rPr>
              <a:t>Fin</a:t>
            </a:r>
          </a:p>
        </p:txBody>
      </p:sp>
    </p:spTree>
    <p:extLst>
      <p:ext uri="{BB962C8B-B14F-4D97-AF65-F5344CB8AC3E}">
        <p14:creationId xmlns:p14="http://schemas.microsoft.com/office/powerpoint/2010/main" val="14203804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EF3BBE8-1C4D-C16C-C145-7FC50FD53891}"/>
            </a:ext>
          </a:extLst>
        </p:cNvPr>
        <p:cNvGrpSpPr/>
        <p:nvPr/>
      </p:nvGrpSpPr>
      <p:grpSpPr>
        <a:xfrm>
          <a:off x="0" y="0"/>
          <a:ext cx="0" cy="0"/>
          <a:chOff x="0" y="0"/>
          <a:chExt cx="0" cy="0"/>
        </a:xfrm>
      </p:grpSpPr>
      <p:pic>
        <p:nvPicPr>
          <p:cNvPr id="31" name="Image 30">
            <a:extLst>
              <a:ext uri="{FF2B5EF4-FFF2-40B4-BE49-F238E27FC236}">
                <a16:creationId xmlns:a16="http://schemas.microsoft.com/office/drawing/2014/main" id="{580135F6-EB15-103F-C3EA-42987F501D2F}"/>
              </a:ext>
            </a:extLst>
          </p:cNvPr>
          <p:cNvPicPr>
            <a:picLocks noChangeAspect="1"/>
          </p:cNvPicPr>
          <p:nvPr/>
        </p:nvPicPr>
        <p:blipFill>
          <a:blip r:embed="rId3"/>
          <a:stretch>
            <a:fillRect/>
          </a:stretch>
        </p:blipFill>
        <p:spPr>
          <a:xfrm>
            <a:off x="13640399" y="1162919"/>
            <a:ext cx="9960480" cy="4953749"/>
          </a:xfrm>
          <a:prstGeom prst="rect">
            <a:avLst/>
          </a:prstGeom>
        </p:spPr>
      </p:pic>
      <p:sp>
        <p:nvSpPr>
          <p:cNvPr id="10" name="Rectangle 9">
            <a:extLst>
              <a:ext uri="{FF2B5EF4-FFF2-40B4-BE49-F238E27FC236}">
                <a16:creationId xmlns:a16="http://schemas.microsoft.com/office/drawing/2014/main" id="{C89E6FE5-6BB8-8AC9-9650-466A73866760}"/>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8D8AC74B-0074-4315-7432-4E6B92AEBC52}"/>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169B5D01-27CF-ECB3-EA03-7D8179082C09}"/>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01785F92-691A-71CE-16A8-BE345678FF30}"/>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38">
            <a:extLst>
              <a:ext uri="{FF2B5EF4-FFF2-40B4-BE49-F238E27FC236}">
                <a16:creationId xmlns:a16="http://schemas.microsoft.com/office/drawing/2014/main" id="{C0D2D22E-A436-A23D-2465-15D24C370401}"/>
              </a:ext>
            </a:extLst>
          </p:cNvPr>
          <p:cNvSpPr>
            <a:spLocks noChangeArrowheads="1"/>
          </p:cNvSpPr>
          <p:nvPr/>
        </p:nvSpPr>
        <p:spPr bwMode="auto">
          <a:xfrm>
            <a:off x="2421213" y="-7372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5" name="Rectangle 54">
            <a:extLst>
              <a:ext uri="{FF2B5EF4-FFF2-40B4-BE49-F238E27FC236}">
                <a16:creationId xmlns:a16="http://schemas.microsoft.com/office/drawing/2014/main" id="{4D4C8906-1286-F804-9898-8AEB33A9563B}"/>
              </a:ext>
            </a:extLst>
          </p:cNvPr>
          <p:cNvSpPr>
            <a:spLocks noChangeArrowheads="1"/>
          </p:cNvSpPr>
          <p:nvPr/>
        </p:nvSpPr>
        <p:spPr bwMode="auto">
          <a:xfrm>
            <a:off x="2421213" y="-2800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7" name="ZoneTexte 66">
            <a:extLst>
              <a:ext uri="{FF2B5EF4-FFF2-40B4-BE49-F238E27FC236}">
                <a16:creationId xmlns:a16="http://schemas.microsoft.com/office/drawing/2014/main" id="{68B442CD-CDAF-92CE-6AED-65047140C3B3}"/>
              </a:ext>
            </a:extLst>
          </p:cNvPr>
          <p:cNvSpPr txBox="1"/>
          <p:nvPr/>
        </p:nvSpPr>
        <p:spPr>
          <a:xfrm>
            <a:off x="424414" y="744310"/>
            <a:ext cx="7522965" cy="837217"/>
          </a:xfrm>
          <a:prstGeom prst="rect">
            <a:avLst/>
          </a:prstGeom>
          <a:noFill/>
        </p:spPr>
        <p:txBody>
          <a:bodyPr wrap="square" rtlCol="0">
            <a:spAutoFit/>
          </a:bodyPr>
          <a:lstStyle/>
          <a:p>
            <a:pPr>
              <a:lnSpc>
                <a:spcPct val="150000"/>
              </a:lnSpc>
            </a:pPr>
            <a:r>
              <a:rPr lang="fr-FR" sz="3600" b="1" dirty="0">
                <a:solidFill>
                  <a:schemeClr val="tx2">
                    <a:lumMod val="75000"/>
                  </a:schemeClr>
                </a:solidFill>
                <a:latin typeface="Aptos Display" panose="020B0004020202020204" pitchFamily="34" charset="0"/>
              </a:rPr>
              <a:t>Boucle principale </a:t>
            </a:r>
          </a:p>
        </p:txBody>
      </p:sp>
      <p:pic>
        <p:nvPicPr>
          <p:cNvPr id="26" name="Image 25">
            <a:extLst>
              <a:ext uri="{FF2B5EF4-FFF2-40B4-BE49-F238E27FC236}">
                <a16:creationId xmlns:a16="http://schemas.microsoft.com/office/drawing/2014/main" id="{6891CBC5-64D0-5D3C-29E5-B4E1BBC43964}"/>
              </a:ext>
            </a:extLst>
          </p:cNvPr>
          <p:cNvPicPr>
            <a:picLocks noChangeAspect="1"/>
          </p:cNvPicPr>
          <p:nvPr/>
        </p:nvPicPr>
        <p:blipFill>
          <a:blip r:embed="rId4"/>
          <a:stretch>
            <a:fillRect/>
          </a:stretch>
        </p:blipFill>
        <p:spPr>
          <a:xfrm>
            <a:off x="19900361" y="1873628"/>
            <a:ext cx="2526006" cy="884405"/>
          </a:xfrm>
          <a:prstGeom prst="rect">
            <a:avLst/>
          </a:prstGeom>
        </p:spPr>
      </p:pic>
      <p:cxnSp>
        <p:nvCxnSpPr>
          <p:cNvPr id="29" name="Connecteur droit avec flèche 28">
            <a:extLst>
              <a:ext uri="{FF2B5EF4-FFF2-40B4-BE49-F238E27FC236}">
                <a16:creationId xmlns:a16="http://schemas.microsoft.com/office/drawing/2014/main" id="{536AA089-92C1-1832-023C-298524B27123}"/>
              </a:ext>
            </a:extLst>
          </p:cNvPr>
          <p:cNvCxnSpPr/>
          <p:nvPr/>
        </p:nvCxnSpPr>
        <p:spPr>
          <a:xfrm>
            <a:off x="16615491" y="2315831"/>
            <a:ext cx="3015575" cy="0"/>
          </a:xfrm>
          <a:prstGeom prst="straightConnector1">
            <a:avLst/>
          </a:prstGeom>
          <a:ln>
            <a:headEnd type="triangle"/>
            <a:tailEnd type="triangle"/>
          </a:ln>
        </p:spPr>
        <p:style>
          <a:lnRef idx="3">
            <a:schemeClr val="accent3"/>
          </a:lnRef>
          <a:fillRef idx="0">
            <a:schemeClr val="accent3"/>
          </a:fillRef>
          <a:effectRef idx="2">
            <a:schemeClr val="accent3"/>
          </a:effectRef>
          <a:fontRef idx="minor">
            <a:schemeClr val="tx1"/>
          </a:fontRef>
        </p:style>
      </p:cxnSp>
      <p:pic>
        <p:nvPicPr>
          <p:cNvPr id="3" name="Image 2">
            <a:extLst>
              <a:ext uri="{FF2B5EF4-FFF2-40B4-BE49-F238E27FC236}">
                <a16:creationId xmlns:a16="http://schemas.microsoft.com/office/drawing/2014/main" id="{60D30E12-558F-CF35-E51F-7B34EEBFC0BF}"/>
              </a:ext>
            </a:extLst>
          </p:cNvPr>
          <p:cNvPicPr>
            <a:picLocks noChangeAspect="1"/>
          </p:cNvPicPr>
          <p:nvPr/>
        </p:nvPicPr>
        <p:blipFill>
          <a:blip r:embed="rId5"/>
          <a:srcRect r="2116"/>
          <a:stretch/>
        </p:blipFill>
        <p:spPr>
          <a:xfrm>
            <a:off x="424414" y="1953792"/>
            <a:ext cx="11351026" cy="3372002"/>
          </a:xfrm>
          <a:prstGeom prst="rect">
            <a:avLst/>
          </a:prstGeom>
        </p:spPr>
      </p:pic>
    </p:spTree>
    <p:extLst>
      <p:ext uri="{BB962C8B-B14F-4D97-AF65-F5344CB8AC3E}">
        <p14:creationId xmlns:p14="http://schemas.microsoft.com/office/powerpoint/2010/main" val="23964075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B4939BE-4417-3DEA-F2E9-B97EB811CC1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8D9352B-5295-AC78-38FD-04548D2BE580}"/>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5E472456-02BC-CF55-C601-CABDEB70C045}"/>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CCFEB810-0320-DC98-7C94-73BF872DF622}"/>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BCB79DB6-C5EE-37F5-C5A1-3CD7A8F04668}"/>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38">
            <a:extLst>
              <a:ext uri="{FF2B5EF4-FFF2-40B4-BE49-F238E27FC236}">
                <a16:creationId xmlns:a16="http://schemas.microsoft.com/office/drawing/2014/main" id="{6D812F41-B90A-8013-929A-EBE7D54BABAB}"/>
              </a:ext>
            </a:extLst>
          </p:cNvPr>
          <p:cNvSpPr>
            <a:spLocks noChangeArrowheads="1"/>
          </p:cNvSpPr>
          <p:nvPr/>
        </p:nvSpPr>
        <p:spPr bwMode="auto">
          <a:xfrm>
            <a:off x="2421213" y="-7372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5" name="Rectangle 54">
            <a:extLst>
              <a:ext uri="{FF2B5EF4-FFF2-40B4-BE49-F238E27FC236}">
                <a16:creationId xmlns:a16="http://schemas.microsoft.com/office/drawing/2014/main" id="{60B04168-1B7A-07C1-6997-091B1285CD9A}"/>
              </a:ext>
            </a:extLst>
          </p:cNvPr>
          <p:cNvSpPr>
            <a:spLocks noChangeArrowheads="1"/>
          </p:cNvSpPr>
          <p:nvPr/>
        </p:nvSpPr>
        <p:spPr bwMode="auto">
          <a:xfrm>
            <a:off x="2421213" y="-2800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7" name="ZoneTexte 66">
            <a:extLst>
              <a:ext uri="{FF2B5EF4-FFF2-40B4-BE49-F238E27FC236}">
                <a16:creationId xmlns:a16="http://schemas.microsoft.com/office/drawing/2014/main" id="{D345D0A6-7DCA-FDA8-D806-B5F6F71E30DD}"/>
              </a:ext>
            </a:extLst>
          </p:cNvPr>
          <p:cNvSpPr txBox="1"/>
          <p:nvPr/>
        </p:nvSpPr>
        <p:spPr>
          <a:xfrm>
            <a:off x="424414" y="427544"/>
            <a:ext cx="7522965" cy="837217"/>
          </a:xfrm>
          <a:prstGeom prst="rect">
            <a:avLst/>
          </a:prstGeom>
          <a:noFill/>
        </p:spPr>
        <p:txBody>
          <a:bodyPr wrap="square" rtlCol="0">
            <a:spAutoFit/>
          </a:bodyPr>
          <a:lstStyle/>
          <a:p>
            <a:pPr>
              <a:lnSpc>
                <a:spcPct val="150000"/>
              </a:lnSpc>
            </a:pPr>
            <a:r>
              <a:rPr lang="fr-FR" sz="3600" b="1" dirty="0">
                <a:solidFill>
                  <a:schemeClr val="tx2">
                    <a:lumMod val="75000"/>
                  </a:schemeClr>
                </a:solidFill>
                <a:latin typeface="Aptos Display" panose="020B0004020202020204" pitchFamily="34" charset="0"/>
              </a:rPr>
              <a:t>Résultat </a:t>
            </a:r>
          </a:p>
        </p:txBody>
      </p:sp>
      <p:pic>
        <p:nvPicPr>
          <p:cNvPr id="5" name="Image 4">
            <a:extLst>
              <a:ext uri="{FF2B5EF4-FFF2-40B4-BE49-F238E27FC236}">
                <a16:creationId xmlns:a16="http://schemas.microsoft.com/office/drawing/2014/main" id="{C958CE23-2474-65CA-5FFD-593BD7B1D0F0}"/>
              </a:ext>
            </a:extLst>
          </p:cNvPr>
          <p:cNvPicPr>
            <a:picLocks noChangeAspect="1"/>
          </p:cNvPicPr>
          <p:nvPr/>
        </p:nvPicPr>
        <p:blipFill>
          <a:blip r:embed="rId3"/>
          <a:stretch>
            <a:fillRect/>
          </a:stretch>
        </p:blipFill>
        <p:spPr>
          <a:xfrm>
            <a:off x="424414" y="1515117"/>
            <a:ext cx="11351026" cy="1815058"/>
          </a:xfrm>
          <a:prstGeom prst="rect">
            <a:avLst/>
          </a:prstGeom>
        </p:spPr>
      </p:pic>
      <p:pic>
        <p:nvPicPr>
          <p:cNvPr id="11" name="Image 10">
            <a:extLst>
              <a:ext uri="{FF2B5EF4-FFF2-40B4-BE49-F238E27FC236}">
                <a16:creationId xmlns:a16="http://schemas.microsoft.com/office/drawing/2014/main" id="{0E59132E-678A-A51A-0795-6D90533E5263}"/>
              </a:ext>
            </a:extLst>
          </p:cNvPr>
          <p:cNvPicPr>
            <a:picLocks noChangeAspect="1"/>
          </p:cNvPicPr>
          <p:nvPr/>
        </p:nvPicPr>
        <p:blipFill>
          <a:blip r:embed="rId4"/>
          <a:stretch>
            <a:fillRect/>
          </a:stretch>
        </p:blipFill>
        <p:spPr>
          <a:xfrm>
            <a:off x="3772402" y="4127064"/>
            <a:ext cx="6176875" cy="1082080"/>
          </a:xfrm>
          <a:prstGeom prst="rect">
            <a:avLst/>
          </a:prstGeom>
        </p:spPr>
      </p:pic>
      <p:sp>
        <p:nvSpPr>
          <p:cNvPr id="12" name="ZoneTexte 11">
            <a:extLst>
              <a:ext uri="{FF2B5EF4-FFF2-40B4-BE49-F238E27FC236}">
                <a16:creationId xmlns:a16="http://schemas.microsoft.com/office/drawing/2014/main" id="{D4F9DF75-ED37-A65B-FB7F-E056B202B4BF}"/>
              </a:ext>
            </a:extLst>
          </p:cNvPr>
          <p:cNvSpPr txBox="1"/>
          <p:nvPr/>
        </p:nvSpPr>
        <p:spPr>
          <a:xfrm>
            <a:off x="1135614" y="4127064"/>
            <a:ext cx="7522965" cy="837217"/>
          </a:xfrm>
          <a:prstGeom prst="rect">
            <a:avLst/>
          </a:prstGeom>
          <a:noFill/>
        </p:spPr>
        <p:txBody>
          <a:bodyPr wrap="square" rtlCol="0">
            <a:spAutoFit/>
          </a:bodyPr>
          <a:lstStyle/>
          <a:p>
            <a:pPr>
              <a:lnSpc>
                <a:spcPct val="150000"/>
              </a:lnSpc>
            </a:pPr>
            <a:r>
              <a:rPr lang="fr-FR" sz="3600" b="1" dirty="0">
                <a:solidFill>
                  <a:schemeClr val="tx2">
                    <a:lumMod val="75000"/>
                  </a:schemeClr>
                </a:solidFill>
                <a:latin typeface="Aptos Display" panose="020B0004020202020204" pitchFamily="34" charset="0"/>
              </a:rPr>
              <a:t>Sortie </a:t>
            </a:r>
          </a:p>
        </p:txBody>
      </p:sp>
      <p:pic>
        <p:nvPicPr>
          <p:cNvPr id="14" name="Image 13">
            <a:extLst>
              <a:ext uri="{FF2B5EF4-FFF2-40B4-BE49-F238E27FC236}">
                <a16:creationId xmlns:a16="http://schemas.microsoft.com/office/drawing/2014/main" id="{BF0CA182-0ECA-1950-9572-7AB12A759512}"/>
              </a:ext>
            </a:extLst>
          </p:cNvPr>
          <p:cNvPicPr>
            <a:picLocks noChangeAspect="1"/>
          </p:cNvPicPr>
          <p:nvPr/>
        </p:nvPicPr>
        <p:blipFill>
          <a:blip r:embed="rId5"/>
          <a:srcRect r="2116"/>
          <a:stretch/>
        </p:blipFill>
        <p:spPr>
          <a:xfrm>
            <a:off x="12829774" y="1742999"/>
            <a:ext cx="11351026" cy="3372002"/>
          </a:xfrm>
          <a:prstGeom prst="rect">
            <a:avLst/>
          </a:prstGeom>
        </p:spPr>
      </p:pic>
    </p:spTree>
    <p:extLst>
      <p:ext uri="{BB962C8B-B14F-4D97-AF65-F5344CB8AC3E}">
        <p14:creationId xmlns:p14="http://schemas.microsoft.com/office/powerpoint/2010/main" val="31420394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F540A65B-6B5F-9542-C51F-994B6F8C01E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C440132-9E68-58A7-5D07-A41ABCA44614}"/>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39D79057-4888-3034-44F6-E37BB332F2FF}"/>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6AF4756A-E861-4DCC-CFD5-05EE6A82501C}"/>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7BDE8AC2-5611-732F-19C0-6603F8C91FB1}"/>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38">
            <a:extLst>
              <a:ext uri="{FF2B5EF4-FFF2-40B4-BE49-F238E27FC236}">
                <a16:creationId xmlns:a16="http://schemas.microsoft.com/office/drawing/2014/main" id="{6E1CA587-FE8B-6745-9183-88A5151C2DAA}"/>
              </a:ext>
            </a:extLst>
          </p:cNvPr>
          <p:cNvSpPr>
            <a:spLocks noChangeArrowheads="1"/>
          </p:cNvSpPr>
          <p:nvPr/>
        </p:nvSpPr>
        <p:spPr bwMode="auto">
          <a:xfrm>
            <a:off x="2421213" y="-7372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5" name="Rectangle 54">
            <a:extLst>
              <a:ext uri="{FF2B5EF4-FFF2-40B4-BE49-F238E27FC236}">
                <a16:creationId xmlns:a16="http://schemas.microsoft.com/office/drawing/2014/main" id="{EA8375A9-9FA5-98A8-054E-83B63E0BB80B}"/>
              </a:ext>
            </a:extLst>
          </p:cNvPr>
          <p:cNvSpPr>
            <a:spLocks noChangeArrowheads="1"/>
          </p:cNvSpPr>
          <p:nvPr/>
        </p:nvSpPr>
        <p:spPr bwMode="auto">
          <a:xfrm>
            <a:off x="2421213" y="-2800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7" name="ZoneTexte 66">
            <a:extLst>
              <a:ext uri="{FF2B5EF4-FFF2-40B4-BE49-F238E27FC236}">
                <a16:creationId xmlns:a16="http://schemas.microsoft.com/office/drawing/2014/main" id="{431C44E0-0937-4EAC-C3D3-C9FCBFCD9D01}"/>
              </a:ext>
            </a:extLst>
          </p:cNvPr>
          <p:cNvSpPr txBox="1"/>
          <p:nvPr/>
        </p:nvSpPr>
        <p:spPr>
          <a:xfrm>
            <a:off x="473171" y="527972"/>
            <a:ext cx="9684641" cy="837217"/>
          </a:xfrm>
          <a:prstGeom prst="rect">
            <a:avLst/>
          </a:prstGeom>
          <a:noFill/>
        </p:spPr>
        <p:txBody>
          <a:bodyPr wrap="square" rtlCol="0">
            <a:spAutoFit/>
          </a:bodyPr>
          <a:lstStyle/>
          <a:p>
            <a:pPr>
              <a:lnSpc>
                <a:spcPct val="150000"/>
              </a:lnSpc>
            </a:pPr>
            <a:r>
              <a:rPr lang="fr-FR" sz="3600" dirty="0">
                <a:solidFill>
                  <a:schemeClr val="tx2">
                    <a:lumMod val="75000"/>
                  </a:schemeClr>
                </a:solidFill>
                <a:latin typeface="Arial Black" panose="020B0A04020102020204" pitchFamily="34" charset="0"/>
              </a:rPr>
              <a:t>Visualisation des résultats  </a:t>
            </a:r>
          </a:p>
        </p:txBody>
      </p:sp>
      <p:pic>
        <p:nvPicPr>
          <p:cNvPr id="11" name="Image 10">
            <a:extLst>
              <a:ext uri="{FF2B5EF4-FFF2-40B4-BE49-F238E27FC236}">
                <a16:creationId xmlns:a16="http://schemas.microsoft.com/office/drawing/2014/main" id="{1F7B70F7-8C72-1AE3-D970-B384CDDABB8B}"/>
              </a:ext>
            </a:extLst>
          </p:cNvPr>
          <p:cNvPicPr>
            <a:picLocks noChangeAspect="1"/>
          </p:cNvPicPr>
          <p:nvPr/>
        </p:nvPicPr>
        <p:blipFill>
          <a:blip r:embed="rId3"/>
          <a:stretch>
            <a:fillRect/>
          </a:stretch>
        </p:blipFill>
        <p:spPr>
          <a:xfrm>
            <a:off x="-7405773" y="3480971"/>
            <a:ext cx="6089816" cy="3166870"/>
          </a:xfrm>
          <a:prstGeom prst="rect">
            <a:avLst/>
          </a:prstGeom>
        </p:spPr>
      </p:pic>
      <p:pic>
        <p:nvPicPr>
          <p:cNvPr id="14" name="Image 13">
            <a:extLst>
              <a:ext uri="{FF2B5EF4-FFF2-40B4-BE49-F238E27FC236}">
                <a16:creationId xmlns:a16="http://schemas.microsoft.com/office/drawing/2014/main" id="{3E0DF3D9-1D24-70CC-0597-9A46C34FC705}"/>
              </a:ext>
            </a:extLst>
          </p:cNvPr>
          <p:cNvPicPr>
            <a:picLocks noChangeAspect="1"/>
          </p:cNvPicPr>
          <p:nvPr/>
        </p:nvPicPr>
        <p:blipFill>
          <a:blip r:embed="rId4"/>
          <a:stretch>
            <a:fillRect/>
          </a:stretch>
        </p:blipFill>
        <p:spPr>
          <a:xfrm>
            <a:off x="12415257" y="1125817"/>
            <a:ext cx="5094662" cy="5073725"/>
          </a:xfrm>
          <a:prstGeom prst="rect">
            <a:avLst/>
          </a:prstGeom>
        </p:spPr>
      </p:pic>
      <p:pic>
        <p:nvPicPr>
          <p:cNvPr id="3" name="Image 2">
            <a:extLst>
              <a:ext uri="{FF2B5EF4-FFF2-40B4-BE49-F238E27FC236}">
                <a16:creationId xmlns:a16="http://schemas.microsoft.com/office/drawing/2014/main" id="{B8E88F1A-8D94-1166-C478-8AF6257F28C0}"/>
              </a:ext>
            </a:extLst>
          </p:cNvPr>
          <p:cNvPicPr>
            <a:picLocks noChangeAspect="1"/>
          </p:cNvPicPr>
          <p:nvPr/>
        </p:nvPicPr>
        <p:blipFill>
          <a:blip r:embed="rId5"/>
          <a:stretch>
            <a:fillRect/>
          </a:stretch>
        </p:blipFill>
        <p:spPr>
          <a:xfrm>
            <a:off x="1685779" y="1365189"/>
            <a:ext cx="9216324" cy="4677327"/>
          </a:xfrm>
          <a:prstGeom prst="rect">
            <a:avLst/>
          </a:prstGeom>
        </p:spPr>
      </p:pic>
      <p:pic>
        <p:nvPicPr>
          <p:cNvPr id="4" name="Image 3">
            <a:extLst>
              <a:ext uri="{FF2B5EF4-FFF2-40B4-BE49-F238E27FC236}">
                <a16:creationId xmlns:a16="http://schemas.microsoft.com/office/drawing/2014/main" id="{C8C5CF13-3F45-748A-E7B0-37ABE5C338D3}"/>
              </a:ext>
            </a:extLst>
          </p:cNvPr>
          <p:cNvPicPr>
            <a:picLocks noChangeAspect="1"/>
          </p:cNvPicPr>
          <p:nvPr/>
        </p:nvPicPr>
        <p:blipFill>
          <a:blip r:embed="rId6"/>
          <a:stretch>
            <a:fillRect/>
          </a:stretch>
        </p:blipFill>
        <p:spPr>
          <a:xfrm>
            <a:off x="751407" y="8092897"/>
            <a:ext cx="11351026" cy="1815058"/>
          </a:xfrm>
          <a:prstGeom prst="rect">
            <a:avLst/>
          </a:prstGeom>
        </p:spPr>
      </p:pic>
      <p:pic>
        <p:nvPicPr>
          <p:cNvPr id="5" name="Image 4">
            <a:extLst>
              <a:ext uri="{FF2B5EF4-FFF2-40B4-BE49-F238E27FC236}">
                <a16:creationId xmlns:a16="http://schemas.microsoft.com/office/drawing/2014/main" id="{8EE70CE0-1B47-84F2-44D0-4D2D6FB7F09F}"/>
              </a:ext>
            </a:extLst>
          </p:cNvPr>
          <p:cNvPicPr>
            <a:picLocks noChangeAspect="1"/>
          </p:cNvPicPr>
          <p:nvPr/>
        </p:nvPicPr>
        <p:blipFill>
          <a:blip r:embed="rId7"/>
          <a:stretch>
            <a:fillRect/>
          </a:stretch>
        </p:blipFill>
        <p:spPr>
          <a:xfrm>
            <a:off x="4099395" y="10704844"/>
            <a:ext cx="6176875" cy="1082080"/>
          </a:xfrm>
          <a:prstGeom prst="rect">
            <a:avLst/>
          </a:prstGeom>
        </p:spPr>
      </p:pic>
      <p:sp>
        <p:nvSpPr>
          <p:cNvPr id="6" name="ZoneTexte 5">
            <a:extLst>
              <a:ext uri="{FF2B5EF4-FFF2-40B4-BE49-F238E27FC236}">
                <a16:creationId xmlns:a16="http://schemas.microsoft.com/office/drawing/2014/main" id="{8BE70D85-A75E-25A6-AD54-1B09130ED4D3}"/>
              </a:ext>
            </a:extLst>
          </p:cNvPr>
          <p:cNvSpPr txBox="1"/>
          <p:nvPr/>
        </p:nvSpPr>
        <p:spPr>
          <a:xfrm>
            <a:off x="1462607" y="10704844"/>
            <a:ext cx="7522965" cy="837217"/>
          </a:xfrm>
          <a:prstGeom prst="rect">
            <a:avLst/>
          </a:prstGeom>
          <a:noFill/>
        </p:spPr>
        <p:txBody>
          <a:bodyPr wrap="square" rtlCol="0">
            <a:spAutoFit/>
          </a:bodyPr>
          <a:lstStyle/>
          <a:p>
            <a:pPr>
              <a:lnSpc>
                <a:spcPct val="150000"/>
              </a:lnSpc>
            </a:pPr>
            <a:r>
              <a:rPr lang="fr-FR" sz="3600" b="1" dirty="0">
                <a:solidFill>
                  <a:schemeClr val="tx2">
                    <a:lumMod val="75000"/>
                  </a:schemeClr>
                </a:solidFill>
                <a:latin typeface="Aptos Display" panose="020B0004020202020204" pitchFamily="34" charset="0"/>
              </a:rPr>
              <a:t>Output </a:t>
            </a:r>
          </a:p>
        </p:txBody>
      </p:sp>
    </p:spTree>
    <p:extLst>
      <p:ext uri="{BB962C8B-B14F-4D97-AF65-F5344CB8AC3E}">
        <p14:creationId xmlns:p14="http://schemas.microsoft.com/office/powerpoint/2010/main" val="25944596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232FA6B-F7F0-4DB5-4A11-6D6B63ACF1A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594DAC4-01ED-593F-8267-4D2613B8A51F}"/>
              </a:ext>
            </a:extLst>
          </p:cNvPr>
          <p:cNvSpPr/>
          <p:nvPr/>
        </p:nvSpPr>
        <p:spPr>
          <a:xfrm>
            <a:off x="0" y="0"/>
            <a:ext cx="8128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9745CCD7-FB6F-CD29-18D3-BFD6B06D3EC6}"/>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C89041DC-70B0-53CC-5B82-08127C966278}"/>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F5012C17-2CAC-B980-3549-28423371688B}"/>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38">
            <a:extLst>
              <a:ext uri="{FF2B5EF4-FFF2-40B4-BE49-F238E27FC236}">
                <a16:creationId xmlns:a16="http://schemas.microsoft.com/office/drawing/2014/main" id="{BF2E5DCF-7E77-E4D3-5A1E-CA8E701AA1F3}"/>
              </a:ext>
            </a:extLst>
          </p:cNvPr>
          <p:cNvSpPr>
            <a:spLocks noChangeArrowheads="1"/>
          </p:cNvSpPr>
          <p:nvPr/>
        </p:nvSpPr>
        <p:spPr bwMode="auto">
          <a:xfrm>
            <a:off x="2421213" y="-7372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5" name="Rectangle 54">
            <a:extLst>
              <a:ext uri="{FF2B5EF4-FFF2-40B4-BE49-F238E27FC236}">
                <a16:creationId xmlns:a16="http://schemas.microsoft.com/office/drawing/2014/main" id="{6AA7A9AA-1830-3BCF-4852-B69C10ACDC32}"/>
              </a:ext>
            </a:extLst>
          </p:cNvPr>
          <p:cNvSpPr>
            <a:spLocks noChangeArrowheads="1"/>
          </p:cNvSpPr>
          <p:nvPr/>
        </p:nvSpPr>
        <p:spPr bwMode="auto">
          <a:xfrm>
            <a:off x="2421213" y="-28001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7" name="ZoneTexte 66">
            <a:extLst>
              <a:ext uri="{FF2B5EF4-FFF2-40B4-BE49-F238E27FC236}">
                <a16:creationId xmlns:a16="http://schemas.microsoft.com/office/drawing/2014/main" id="{7419D081-57FC-A98B-2A23-0271A1D9AF84}"/>
              </a:ext>
            </a:extLst>
          </p:cNvPr>
          <p:cNvSpPr txBox="1"/>
          <p:nvPr/>
        </p:nvSpPr>
        <p:spPr>
          <a:xfrm>
            <a:off x="473171" y="527972"/>
            <a:ext cx="6003719" cy="1668214"/>
          </a:xfrm>
          <a:prstGeom prst="rect">
            <a:avLst/>
          </a:prstGeom>
          <a:noFill/>
        </p:spPr>
        <p:txBody>
          <a:bodyPr wrap="square" rtlCol="0">
            <a:spAutoFit/>
          </a:bodyPr>
          <a:lstStyle/>
          <a:p>
            <a:pPr>
              <a:lnSpc>
                <a:spcPct val="150000"/>
              </a:lnSpc>
            </a:pPr>
            <a:r>
              <a:rPr lang="fr-FR" sz="3600" dirty="0">
                <a:solidFill>
                  <a:schemeClr val="tx2">
                    <a:lumMod val="75000"/>
                  </a:schemeClr>
                </a:solidFill>
                <a:latin typeface="Arial Black" panose="020B0A04020102020204" pitchFamily="34" charset="0"/>
              </a:rPr>
              <a:t>Visualisation des résultats  </a:t>
            </a:r>
          </a:p>
        </p:txBody>
      </p:sp>
      <p:pic>
        <p:nvPicPr>
          <p:cNvPr id="11" name="Image 10">
            <a:extLst>
              <a:ext uri="{FF2B5EF4-FFF2-40B4-BE49-F238E27FC236}">
                <a16:creationId xmlns:a16="http://schemas.microsoft.com/office/drawing/2014/main" id="{DE0E6B34-837B-BAA3-A859-E4F08048EA4E}"/>
              </a:ext>
            </a:extLst>
          </p:cNvPr>
          <p:cNvPicPr>
            <a:picLocks noChangeAspect="1"/>
          </p:cNvPicPr>
          <p:nvPr/>
        </p:nvPicPr>
        <p:blipFill>
          <a:blip r:embed="rId3"/>
          <a:stretch>
            <a:fillRect/>
          </a:stretch>
        </p:blipFill>
        <p:spPr>
          <a:xfrm>
            <a:off x="331458" y="2798992"/>
            <a:ext cx="6089816" cy="3166870"/>
          </a:xfrm>
          <a:prstGeom prst="rect">
            <a:avLst/>
          </a:prstGeom>
        </p:spPr>
      </p:pic>
      <p:pic>
        <p:nvPicPr>
          <p:cNvPr id="14" name="Image 13">
            <a:extLst>
              <a:ext uri="{FF2B5EF4-FFF2-40B4-BE49-F238E27FC236}">
                <a16:creationId xmlns:a16="http://schemas.microsoft.com/office/drawing/2014/main" id="{026ECBCC-C0DE-876A-D79A-736A491C16B3}"/>
              </a:ext>
            </a:extLst>
          </p:cNvPr>
          <p:cNvPicPr>
            <a:picLocks noChangeAspect="1"/>
          </p:cNvPicPr>
          <p:nvPr/>
        </p:nvPicPr>
        <p:blipFill>
          <a:blip r:embed="rId4"/>
          <a:stretch>
            <a:fillRect/>
          </a:stretch>
        </p:blipFill>
        <p:spPr>
          <a:xfrm>
            <a:off x="6593577" y="892137"/>
            <a:ext cx="5094662" cy="5073725"/>
          </a:xfrm>
          <a:prstGeom prst="rect">
            <a:avLst/>
          </a:prstGeom>
        </p:spPr>
      </p:pic>
      <p:pic>
        <p:nvPicPr>
          <p:cNvPr id="2" name="Image 1">
            <a:extLst>
              <a:ext uri="{FF2B5EF4-FFF2-40B4-BE49-F238E27FC236}">
                <a16:creationId xmlns:a16="http://schemas.microsoft.com/office/drawing/2014/main" id="{5544CE6C-326E-8D7D-8696-2D4B11903FFF}"/>
              </a:ext>
            </a:extLst>
          </p:cNvPr>
          <p:cNvPicPr>
            <a:picLocks noChangeAspect="1"/>
          </p:cNvPicPr>
          <p:nvPr/>
        </p:nvPicPr>
        <p:blipFill>
          <a:blip r:embed="rId5"/>
          <a:stretch>
            <a:fillRect/>
          </a:stretch>
        </p:blipFill>
        <p:spPr>
          <a:xfrm>
            <a:off x="1487838" y="10302503"/>
            <a:ext cx="9216324" cy="4677327"/>
          </a:xfrm>
          <a:prstGeom prst="rect">
            <a:avLst/>
          </a:prstGeom>
        </p:spPr>
      </p:pic>
    </p:spTree>
    <p:extLst>
      <p:ext uri="{BB962C8B-B14F-4D97-AF65-F5344CB8AC3E}">
        <p14:creationId xmlns:p14="http://schemas.microsoft.com/office/powerpoint/2010/main" val="30526561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A2D399B-1506-87E8-6571-DCE3C9474011}"/>
            </a:ext>
          </a:extLst>
        </p:cNvPr>
        <p:cNvGrpSpPr/>
        <p:nvPr/>
      </p:nvGrpSpPr>
      <p:grpSpPr>
        <a:xfrm>
          <a:off x="0" y="0"/>
          <a:ext cx="0" cy="0"/>
          <a:chOff x="0" y="0"/>
          <a:chExt cx="0" cy="0"/>
        </a:xfrm>
      </p:grpSpPr>
      <p:sp>
        <p:nvSpPr>
          <p:cNvPr id="1036" name="Rectangle 1035">
            <a:extLst>
              <a:ext uri="{FF2B5EF4-FFF2-40B4-BE49-F238E27FC236}">
                <a16:creationId xmlns:a16="http://schemas.microsoft.com/office/drawing/2014/main" id="{DC533555-72C7-AD98-9F6B-5335B992A79A}"/>
              </a:ext>
            </a:extLst>
          </p:cNvPr>
          <p:cNvSpPr/>
          <p:nvPr/>
        </p:nvSpPr>
        <p:spPr>
          <a:xfrm>
            <a:off x="0" y="0"/>
            <a:ext cx="12212246"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373BC621-7511-4396-F63A-4B62690F39F6}"/>
              </a:ext>
            </a:extLst>
          </p:cNvPr>
          <p:cNvSpPr txBox="1"/>
          <p:nvPr/>
        </p:nvSpPr>
        <p:spPr>
          <a:xfrm>
            <a:off x="1066354" y="2154916"/>
            <a:ext cx="6801618" cy="2308324"/>
          </a:xfrm>
          <a:prstGeom prst="rect">
            <a:avLst/>
          </a:prstGeom>
          <a:noFill/>
        </p:spPr>
        <p:txBody>
          <a:bodyPr wrap="square" rtlCol="0">
            <a:spAutoFit/>
          </a:bodyPr>
          <a:lstStyle/>
          <a:p>
            <a:r>
              <a:rPr lang="fr-FR" sz="4800" dirty="0">
                <a:solidFill>
                  <a:schemeClr val="bg1"/>
                </a:solidFill>
                <a:latin typeface="Aharoni" panose="02010803020104030203" pitchFamily="2" charset="-79"/>
                <a:cs typeface="Aharoni" panose="02010803020104030203" pitchFamily="2" charset="-79"/>
              </a:rPr>
              <a:t>Applications de l’algorithme des lucioles </a:t>
            </a:r>
          </a:p>
        </p:txBody>
      </p:sp>
      <p:sp>
        <p:nvSpPr>
          <p:cNvPr id="8" name="Rectangle 7">
            <a:extLst>
              <a:ext uri="{FF2B5EF4-FFF2-40B4-BE49-F238E27FC236}">
                <a16:creationId xmlns:a16="http://schemas.microsoft.com/office/drawing/2014/main" id="{B201E77F-BEFE-B694-BC36-06423339CF8A}"/>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4F238AE0-D261-4416-DC77-854732592130}"/>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38" name="Image 1037">
            <a:extLst>
              <a:ext uri="{FF2B5EF4-FFF2-40B4-BE49-F238E27FC236}">
                <a16:creationId xmlns:a16="http://schemas.microsoft.com/office/drawing/2014/main" id="{0E69BFA7-767A-98C9-E08D-2A0A2AAE70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5840" y="1041065"/>
            <a:ext cx="4036438" cy="4267869"/>
          </a:xfrm>
          <a:prstGeom prst="rect">
            <a:avLst/>
          </a:prstGeom>
        </p:spPr>
      </p:pic>
      <p:pic>
        <p:nvPicPr>
          <p:cNvPr id="4" name="Image 3">
            <a:extLst>
              <a:ext uri="{FF2B5EF4-FFF2-40B4-BE49-F238E27FC236}">
                <a16:creationId xmlns:a16="http://schemas.microsoft.com/office/drawing/2014/main" id="{BE0B98EF-85B4-35DF-A70B-F46F38C5B565}"/>
              </a:ext>
            </a:extLst>
          </p:cNvPr>
          <p:cNvPicPr>
            <a:picLocks noChangeAspect="1"/>
          </p:cNvPicPr>
          <p:nvPr/>
        </p:nvPicPr>
        <p:blipFill>
          <a:blip r:embed="rId3"/>
          <a:stretch>
            <a:fillRect/>
          </a:stretch>
        </p:blipFill>
        <p:spPr>
          <a:xfrm>
            <a:off x="-7607818" y="2815061"/>
            <a:ext cx="6089816" cy="3166870"/>
          </a:xfrm>
          <a:prstGeom prst="rect">
            <a:avLst/>
          </a:prstGeom>
        </p:spPr>
      </p:pic>
      <p:pic>
        <p:nvPicPr>
          <p:cNvPr id="10" name="Image 9">
            <a:extLst>
              <a:ext uri="{FF2B5EF4-FFF2-40B4-BE49-F238E27FC236}">
                <a16:creationId xmlns:a16="http://schemas.microsoft.com/office/drawing/2014/main" id="{2F111D52-F38D-A025-5278-DD2C3D10F6C0}"/>
              </a:ext>
            </a:extLst>
          </p:cNvPr>
          <p:cNvPicPr>
            <a:picLocks noChangeAspect="1"/>
          </p:cNvPicPr>
          <p:nvPr/>
        </p:nvPicPr>
        <p:blipFill>
          <a:blip r:embed="rId4"/>
          <a:stretch>
            <a:fillRect/>
          </a:stretch>
        </p:blipFill>
        <p:spPr>
          <a:xfrm>
            <a:off x="14000217" y="1362079"/>
            <a:ext cx="5094662" cy="5073725"/>
          </a:xfrm>
          <a:prstGeom prst="rect">
            <a:avLst/>
          </a:prstGeom>
        </p:spPr>
      </p:pic>
      <p:pic>
        <p:nvPicPr>
          <p:cNvPr id="2" name="Image 1">
            <a:extLst>
              <a:ext uri="{FF2B5EF4-FFF2-40B4-BE49-F238E27FC236}">
                <a16:creationId xmlns:a16="http://schemas.microsoft.com/office/drawing/2014/main" id="{426A8D24-FC40-6134-DDAD-D90388C221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10475" y="-4737904"/>
            <a:ext cx="6607058" cy="3086735"/>
          </a:xfrm>
          <a:prstGeom prst="rect">
            <a:avLst/>
          </a:prstGeom>
        </p:spPr>
      </p:pic>
      <p:pic>
        <p:nvPicPr>
          <p:cNvPr id="3" name="Image 2">
            <a:extLst>
              <a:ext uri="{FF2B5EF4-FFF2-40B4-BE49-F238E27FC236}">
                <a16:creationId xmlns:a16="http://schemas.microsoft.com/office/drawing/2014/main" id="{668AB0BA-2EEF-6D8D-29FE-A0AEB240BB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394" y="7911616"/>
            <a:ext cx="7302926" cy="3400425"/>
          </a:xfrm>
          <a:prstGeom prst="rect">
            <a:avLst/>
          </a:prstGeom>
        </p:spPr>
      </p:pic>
    </p:spTree>
    <p:extLst>
      <p:ext uri="{BB962C8B-B14F-4D97-AF65-F5344CB8AC3E}">
        <p14:creationId xmlns:p14="http://schemas.microsoft.com/office/powerpoint/2010/main" val="42884905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8D28DB0-4545-A678-C8A4-18FDD0EAF1A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55BD1D2-856E-42C6-DE31-A77EC156E996}"/>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1A37537B-7022-4FEB-51A1-A995F2BACC75}"/>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a:extLst>
              <a:ext uri="{FF2B5EF4-FFF2-40B4-BE49-F238E27FC236}">
                <a16:creationId xmlns:a16="http://schemas.microsoft.com/office/drawing/2014/main" id="{88D27FEA-FDD3-1BA6-4B6F-89E42BE9A4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6372" y="629377"/>
            <a:ext cx="6607058" cy="3086735"/>
          </a:xfrm>
          <a:prstGeom prst="rect">
            <a:avLst/>
          </a:prstGeom>
        </p:spPr>
      </p:pic>
      <p:pic>
        <p:nvPicPr>
          <p:cNvPr id="14" name="Image 13">
            <a:extLst>
              <a:ext uri="{FF2B5EF4-FFF2-40B4-BE49-F238E27FC236}">
                <a16:creationId xmlns:a16="http://schemas.microsoft.com/office/drawing/2014/main" id="{48BBDD47-41F7-24AF-E504-5E514D2A13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230" y="3096427"/>
            <a:ext cx="7302926" cy="3400425"/>
          </a:xfrm>
          <a:prstGeom prst="rect">
            <a:avLst/>
          </a:prstGeom>
        </p:spPr>
      </p:pic>
      <p:sp>
        <p:nvSpPr>
          <p:cNvPr id="15" name="ZoneTexte 14">
            <a:extLst>
              <a:ext uri="{FF2B5EF4-FFF2-40B4-BE49-F238E27FC236}">
                <a16:creationId xmlns:a16="http://schemas.microsoft.com/office/drawing/2014/main" id="{F457A7DA-DE6B-16E9-8DA3-401CAC486A57}"/>
              </a:ext>
            </a:extLst>
          </p:cNvPr>
          <p:cNvSpPr txBox="1"/>
          <p:nvPr/>
        </p:nvSpPr>
        <p:spPr>
          <a:xfrm>
            <a:off x="547246" y="354339"/>
            <a:ext cx="4679126" cy="1569660"/>
          </a:xfrm>
          <a:prstGeom prst="rect">
            <a:avLst/>
          </a:prstGeom>
          <a:noFill/>
        </p:spPr>
        <p:txBody>
          <a:bodyPr wrap="square" rtlCol="0">
            <a:spAutoFit/>
          </a:bodyPr>
          <a:lstStyle/>
          <a:p>
            <a:r>
              <a:rPr lang="fr-FR" sz="4800" dirty="0">
                <a:solidFill>
                  <a:schemeClr val="tx2">
                    <a:lumMod val="75000"/>
                  </a:schemeClr>
                </a:solidFill>
                <a:latin typeface="Aharoni" panose="02010803020104030203" pitchFamily="2" charset="-79"/>
                <a:cs typeface="Aharoni" panose="02010803020104030203" pitchFamily="2" charset="-79"/>
              </a:rPr>
              <a:t> 1ère Application</a:t>
            </a:r>
          </a:p>
        </p:txBody>
      </p:sp>
      <p:pic>
        <p:nvPicPr>
          <p:cNvPr id="2" name="Image 1">
            <a:extLst>
              <a:ext uri="{FF2B5EF4-FFF2-40B4-BE49-F238E27FC236}">
                <a16:creationId xmlns:a16="http://schemas.microsoft.com/office/drawing/2014/main" id="{88D25145-2420-CCAA-E8E5-FA5436899A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047327"/>
            <a:ext cx="6733547" cy="3166871"/>
          </a:xfrm>
          <a:prstGeom prst="rect">
            <a:avLst/>
          </a:prstGeom>
        </p:spPr>
      </p:pic>
      <p:pic>
        <p:nvPicPr>
          <p:cNvPr id="3" name="Image 2">
            <a:extLst>
              <a:ext uri="{FF2B5EF4-FFF2-40B4-BE49-F238E27FC236}">
                <a16:creationId xmlns:a16="http://schemas.microsoft.com/office/drawing/2014/main" id="{2F3510B7-B880-730F-22D2-B139E2C4ACEF}"/>
              </a:ext>
            </a:extLst>
          </p:cNvPr>
          <p:cNvPicPr>
            <a:picLocks noChangeAspect="1"/>
          </p:cNvPicPr>
          <p:nvPr/>
        </p:nvPicPr>
        <p:blipFill>
          <a:blip r:embed="rId5">
            <a:extLst>
              <a:ext uri="{28A0092B-C50C-407E-A947-70E740481C1C}">
                <a14:useLocalDpi xmlns:a14="http://schemas.microsoft.com/office/drawing/2010/main" val="0"/>
              </a:ext>
            </a:extLst>
          </a:blip>
          <a:srcRect t="4489"/>
          <a:stretch/>
        </p:blipFill>
        <p:spPr>
          <a:xfrm>
            <a:off x="6834903" y="8454110"/>
            <a:ext cx="5855725" cy="3548922"/>
          </a:xfrm>
          <a:prstGeom prst="rect">
            <a:avLst/>
          </a:prstGeom>
        </p:spPr>
      </p:pic>
      <p:sp>
        <p:nvSpPr>
          <p:cNvPr id="4" name="ZoneTexte 3">
            <a:extLst>
              <a:ext uri="{FF2B5EF4-FFF2-40B4-BE49-F238E27FC236}">
                <a16:creationId xmlns:a16="http://schemas.microsoft.com/office/drawing/2014/main" id="{DAE3AC8B-F0EE-1210-0B84-91253A10A27B}"/>
              </a:ext>
            </a:extLst>
          </p:cNvPr>
          <p:cNvSpPr txBox="1"/>
          <p:nvPr/>
        </p:nvSpPr>
        <p:spPr>
          <a:xfrm>
            <a:off x="547246" y="2051361"/>
            <a:ext cx="4072705" cy="523220"/>
          </a:xfrm>
          <a:prstGeom prst="rect">
            <a:avLst/>
          </a:prstGeom>
          <a:noFill/>
        </p:spPr>
        <p:txBody>
          <a:bodyPr wrap="square" rtlCol="0">
            <a:spAutoFit/>
          </a:bodyPr>
          <a:lstStyle/>
          <a:p>
            <a:r>
              <a:rPr lang="fr-FR" sz="2800" b="1" dirty="0">
                <a:solidFill>
                  <a:schemeClr val="tx2">
                    <a:lumMod val="60000"/>
                    <a:lumOff val="40000"/>
                  </a:schemeClr>
                </a:solidFill>
              </a:rPr>
              <a:t>Voyageur de commerce </a:t>
            </a:r>
          </a:p>
        </p:txBody>
      </p:sp>
    </p:spTree>
    <p:extLst>
      <p:ext uri="{BB962C8B-B14F-4D97-AF65-F5344CB8AC3E}">
        <p14:creationId xmlns:p14="http://schemas.microsoft.com/office/powerpoint/2010/main" val="3887202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07404B0-9A26-9D90-4A1F-68B76A48C05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2643D31-372F-3C44-13EE-3464320BAB2A}"/>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83B532E7-A3D4-F804-B311-84E6479A0B50}"/>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074E0262-A4B2-FCB1-D532-3A53C69525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025" y="565333"/>
            <a:ext cx="6733547" cy="3166871"/>
          </a:xfrm>
          <a:prstGeom prst="rect">
            <a:avLst/>
          </a:prstGeom>
        </p:spPr>
      </p:pic>
      <p:pic>
        <p:nvPicPr>
          <p:cNvPr id="5" name="Image 4">
            <a:extLst>
              <a:ext uri="{FF2B5EF4-FFF2-40B4-BE49-F238E27FC236}">
                <a16:creationId xmlns:a16="http://schemas.microsoft.com/office/drawing/2014/main" id="{A8FCBB72-9ED2-3B26-B90B-FEB0A3DB795E}"/>
              </a:ext>
            </a:extLst>
          </p:cNvPr>
          <p:cNvPicPr>
            <a:picLocks noChangeAspect="1"/>
          </p:cNvPicPr>
          <p:nvPr/>
        </p:nvPicPr>
        <p:blipFill>
          <a:blip r:embed="rId3">
            <a:extLst>
              <a:ext uri="{28A0092B-C50C-407E-A947-70E740481C1C}">
                <a14:useLocalDpi xmlns:a14="http://schemas.microsoft.com/office/drawing/2010/main" val="0"/>
              </a:ext>
            </a:extLst>
          </a:blip>
          <a:srcRect t="4489"/>
          <a:stretch/>
        </p:blipFill>
        <p:spPr>
          <a:xfrm>
            <a:off x="5756104" y="2886882"/>
            <a:ext cx="5855725" cy="3548922"/>
          </a:xfrm>
          <a:prstGeom prst="rect">
            <a:avLst/>
          </a:prstGeom>
        </p:spPr>
      </p:pic>
      <p:sp>
        <p:nvSpPr>
          <p:cNvPr id="7" name="ZoneTexte 6">
            <a:extLst>
              <a:ext uri="{FF2B5EF4-FFF2-40B4-BE49-F238E27FC236}">
                <a16:creationId xmlns:a16="http://schemas.microsoft.com/office/drawing/2014/main" id="{EDC7ED4A-E5BE-CCB0-FE7C-B63DDB9CA37B}"/>
              </a:ext>
            </a:extLst>
          </p:cNvPr>
          <p:cNvSpPr txBox="1"/>
          <p:nvPr/>
        </p:nvSpPr>
        <p:spPr>
          <a:xfrm>
            <a:off x="728025" y="4314562"/>
            <a:ext cx="4251960" cy="769441"/>
          </a:xfrm>
          <a:prstGeom prst="rect">
            <a:avLst/>
          </a:prstGeom>
          <a:noFill/>
        </p:spPr>
        <p:txBody>
          <a:bodyPr wrap="square" rtlCol="0">
            <a:spAutoFit/>
          </a:bodyPr>
          <a:lstStyle/>
          <a:p>
            <a:r>
              <a:rPr lang="fr-FR" sz="4400" dirty="0" err="1">
                <a:solidFill>
                  <a:schemeClr val="tx2">
                    <a:lumMod val="75000"/>
                  </a:schemeClr>
                </a:solidFill>
                <a:latin typeface="Aharoni" panose="02010803020104030203" pitchFamily="2" charset="-79"/>
                <a:cs typeface="Aharoni" panose="02010803020104030203" pitchFamily="2" charset="-79"/>
              </a:rPr>
              <a:t>Resultat</a:t>
            </a:r>
            <a:r>
              <a:rPr lang="fr-FR" sz="4400" dirty="0">
                <a:solidFill>
                  <a:schemeClr val="tx2">
                    <a:lumMod val="75000"/>
                  </a:schemeClr>
                </a:solidFill>
                <a:latin typeface="Aharoni" panose="02010803020104030203" pitchFamily="2" charset="-79"/>
                <a:cs typeface="Aharoni" panose="02010803020104030203" pitchFamily="2" charset="-79"/>
              </a:rPr>
              <a:t> </a:t>
            </a:r>
          </a:p>
        </p:txBody>
      </p:sp>
      <p:pic>
        <p:nvPicPr>
          <p:cNvPr id="15" name="Image 14">
            <a:extLst>
              <a:ext uri="{FF2B5EF4-FFF2-40B4-BE49-F238E27FC236}">
                <a16:creationId xmlns:a16="http://schemas.microsoft.com/office/drawing/2014/main" id="{C71ADB12-B53A-C5B3-351A-A05590A82D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8300" y="-5902421"/>
            <a:ext cx="6607058" cy="3086735"/>
          </a:xfrm>
          <a:prstGeom prst="rect">
            <a:avLst/>
          </a:prstGeom>
        </p:spPr>
      </p:pic>
      <p:pic>
        <p:nvPicPr>
          <p:cNvPr id="16" name="Image 15">
            <a:extLst>
              <a:ext uri="{FF2B5EF4-FFF2-40B4-BE49-F238E27FC236}">
                <a16:creationId xmlns:a16="http://schemas.microsoft.com/office/drawing/2014/main" id="{59EF376C-AB6E-C022-F34C-4D00670F50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9941" y="9033313"/>
            <a:ext cx="7302926" cy="3400425"/>
          </a:xfrm>
          <a:prstGeom prst="rect">
            <a:avLst/>
          </a:prstGeom>
        </p:spPr>
      </p:pic>
      <p:sp>
        <p:nvSpPr>
          <p:cNvPr id="17" name="ZoneTexte 16">
            <a:extLst>
              <a:ext uri="{FF2B5EF4-FFF2-40B4-BE49-F238E27FC236}">
                <a16:creationId xmlns:a16="http://schemas.microsoft.com/office/drawing/2014/main" id="{5D44FC64-3682-18FE-E5BD-3F7C23CA5C5B}"/>
              </a:ext>
            </a:extLst>
          </p:cNvPr>
          <p:cNvSpPr txBox="1"/>
          <p:nvPr/>
        </p:nvSpPr>
        <p:spPr>
          <a:xfrm>
            <a:off x="0" y="-5749653"/>
            <a:ext cx="4679126" cy="830997"/>
          </a:xfrm>
          <a:prstGeom prst="rect">
            <a:avLst/>
          </a:prstGeom>
          <a:noFill/>
        </p:spPr>
        <p:txBody>
          <a:bodyPr wrap="square" rtlCol="0">
            <a:spAutoFit/>
          </a:bodyPr>
          <a:lstStyle/>
          <a:p>
            <a:r>
              <a:rPr lang="fr-FR" sz="4800" dirty="0">
                <a:solidFill>
                  <a:schemeClr val="tx2">
                    <a:lumMod val="75000"/>
                  </a:schemeClr>
                </a:solidFill>
                <a:latin typeface="Aharoni" panose="02010803020104030203" pitchFamily="2" charset="-79"/>
                <a:cs typeface="Aharoni" panose="02010803020104030203" pitchFamily="2" charset="-79"/>
              </a:rPr>
              <a:t> 2</a:t>
            </a:r>
            <a:r>
              <a:rPr lang="fr-FR" sz="4800" baseline="30000" dirty="0">
                <a:solidFill>
                  <a:schemeClr val="tx2">
                    <a:lumMod val="75000"/>
                  </a:schemeClr>
                </a:solidFill>
                <a:latin typeface="Aharoni" panose="02010803020104030203" pitchFamily="2" charset="-79"/>
                <a:cs typeface="Aharoni" panose="02010803020104030203" pitchFamily="2" charset="-79"/>
              </a:rPr>
              <a:t>ère</a:t>
            </a:r>
            <a:r>
              <a:rPr lang="fr-FR" sz="4800" dirty="0">
                <a:solidFill>
                  <a:schemeClr val="tx2">
                    <a:lumMod val="75000"/>
                  </a:schemeClr>
                </a:solidFill>
                <a:latin typeface="Aharoni" panose="02010803020104030203" pitchFamily="2" charset="-79"/>
                <a:cs typeface="Aharoni" panose="02010803020104030203" pitchFamily="2" charset="-79"/>
              </a:rPr>
              <a:t> Application</a:t>
            </a:r>
          </a:p>
        </p:txBody>
      </p:sp>
      <p:sp>
        <p:nvSpPr>
          <p:cNvPr id="18" name="ZoneTexte 17">
            <a:extLst>
              <a:ext uri="{FF2B5EF4-FFF2-40B4-BE49-F238E27FC236}">
                <a16:creationId xmlns:a16="http://schemas.microsoft.com/office/drawing/2014/main" id="{A0A86691-B028-A9D4-BA6C-A10F65F28190}"/>
              </a:ext>
            </a:extLst>
          </p:cNvPr>
          <p:cNvSpPr txBox="1"/>
          <p:nvPr/>
        </p:nvSpPr>
        <p:spPr>
          <a:xfrm>
            <a:off x="205542" y="-4735776"/>
            <a:ext cx="4937760" cy="3785652"/>
          </a:xfrm>
          <a:prstGeom prst="rect">
            <a:avLst/>
          </a:prstGeom>
          <a:noFill/>
        </p:spPr>
        <p:txBody>
          <a:bodyPr wrap="square" rtlCol="0">
            <a:spAutoFit/>
          </a:bodyPr>
          <a:lstStyle/>
          <a:p>
            <a:r>
              <a:rPr lang="fr-FR" sz="2000" dirty="0">
                <a:latin typeface="Aptos Display" panose="020B0004020202020204" pitchFamily="34" charset="0"/>
              </a:rPr>
              <a:t>Cette application simule l'utilisation de l'algorithme de luciole pour optimiser une tournée de livraison. Des véhicules (représentés par des lucioles) partent d'un entrepôt pour livrer des colis à différents clients. L'algorithme trouve l'itinéraire optimal en utilisant la méthode du plus proche voisin. Les véhicules suivent cet itinéraire tout en explorant aléatoirement la zone, puis retournent à l'entrepôt après avoir livré les colis. L'application visualise en temps réel ce processus sur une carte.</a:t>
            </a:r>
          </a:p>
        </p:txBody>
      </p:sp>
      <p:pic>
        <p:nvPicPr>
          <p:cNvPr id="20" name="Image 19">
            <a:extLst>
              <a:ext uri="{FF2B5EF4-FFF2-40B4-BE49-F238E27FC236}">
                <a16:creationId xmlns:a16="http://schemas.microsoft.com/office/drawing/2014/main" id="{B3F2771D-3578-5721-3473-FA48B5C2FA42}"/>
              </a:ext>
            </a:extLst>
          </p:cNvPr>
          <p:cNvPicPr>
            <a:picLocks noChangeAspect="1"/>
          </p:cNvPicPr>
          <p:nvPr/>
        </p:nvPicPr>
        <p:blipFill>
          <a:blip r:embed="rId6">
            <a:extLst>
              <a:ext uri="{28A0092B-C50C-407E-A947-70E740481C1C}">
                <a14:useLocalDpi xmlns:a14="http://schemas.microsoft.com/office/drawing/2010/main" val="0"/>
              </a:ext>
            </a:extLst>
          </a:blip>
          <a:srcRect l="8928" t="7717" r="26921" b="2500"/>
          <a:stretch/>
        </p:blipFill>
        <p:spPr>
          <a:xfrm>
            <a:off x="13769910" y="686829"/>
            <a:ext cx="5406056" cy="5058701"/>
          </a:xfrm>
          <a:prstGeom prst="rect">
            <a:avLst/>
          </a:prstGeom>
        </p:spPr>
      </p:pic>
    </p:spTree>
    <p:extLst>
      <p:ext uri="{BB962C8B-B14F-4D97-AF65-F5344CB8AC3E}">
        <p14:creationId xmlns:p14="http://schemas.microsoft.com/office/powerpoint/2010/main" val="30912580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E3EC420-796B-2624-0F0F-A8886FDDBBB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C8676E4-FD19-F0E6-B073-CD6C238125BE}"/>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8572C006-6803-2F28-72F0-408867A3B023}"/>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C538F2FC-E87C-8212-D8A5-D384CFF234C1}"/>
              </a:ext>
            </a:extLst>
          </p:cNvPr>
          <p:cNvSpPr txBox="1"/>
          <p:nvPr/>
        </p:nvSpPr>
        <p:spPr>
          <a:xfrm>
            <a:off x="388818" y="559840"/>
            <a:ext cx="4679126" cy="830997"/>
          </a:xfrm>
          <a:prstGeom prst="rect">
            <a:avLst/>
          </a:prstGeom>
          <a:noFill/>
        </p:spPr>
        <p:txBody>
          <a:bodyPr wrap="square" rtlCol="0">
            <a:spAutoFit/>
          </a:bodyPr>
          <a:lstStyle/>
          <a:p>
            <a:r>
              <a:rPr lang="fr-FR" sz="4800" dirty="0">
                <a:solidFill>
                  <a:schemeClr val="tx2">
                    <a:lumMod val="75000"/>
                  </a:schemeClr>
                </a:solidFill>
                <a:latin typeface="Aharoni" panose="02010803020104030203" pitchFamily="2" charset="-79"/>
                <a:cs typeface="Aharoni" panose="02010803020104030203" pitchFamily="2" charset="-79"/>
              </a:rPr>
              <a:t> 2</a:t>
            </a:r>
            <a:r>
              <a:rPr lang="fr-FR" sz="4800" baseline="30000" dirty="0">
                <a:solidFill>
                  <a:schemeClr val="tx2">
                    <a:lumMod val="75000"/>
                  </a:schemeClr>
                </a:solidFill>
                <a:latin typeface="Aharoni" panose="02010803020104030203" pitchFamily="2" charset="-79"/>
                <a:cs typeface="Aharoni" panose="02010803020104030203" pitchFamily="2" charset="-79"/>
              </a:rPr>
              <a:t>ère</a:t>
            </a:r>
            <a:r>
              <a:rPr lang="fr-FR" sz="4800" dirty="0">
                <a:solidFill>
                  <a:schemeClr val="tx2">
                    <a:lumMod val="75000"/>
                  </a:schemeClr>
                </a:solidFill>
                <a:latin typeface="Aharoni" panose="02010803020104030203" pitchFamily="2" charset="-79"/>
                <a:cs typeface="Aharoni" panose="02010803020104030203" pitchFamily="2" charset="-79"/>
              </a:rPr>
              <a:t> Application</a:t>
            </a:r>
          </a:p>
        </p:txBody>
      </p:sp>
      <p:sp>
        <p:nvSpPr>
          <p:cNvPr id="16" name="ZoneTexte 15">
            <a:extLst>
              <a:ext uri="{FF2B5EF4-FFF2-40B4-BE49-F238E27FC236}">
                <a16:creationId xmlns:a16="http://schemas.microsoft.com/office/drawing/2014/main" id="{792298EC-E805-FA11-3837-B08DD2F0AB50}"/>
              </a:ext>
            </a:extLst>
          </p:cNvPr>
          <p:cNvSpPr txBox="1"/>
          <p:nvPr/>
        </p:nvSpPr>
        <p:spPr>
          <a:xfrm>
            <a:off x="594360" y="2127024"/>
            <a:ext cx="4937760" cy="3785652"/>
          </a:xfrm>
          <a:prstGeom prst="rect">
            <a:avLst/>
          </a:prstGeom>
          <a:noFill/>
        </p:spPr>
        <p:txBody>
          <a:bodyPr wrap="square" rtlCol="0">
            <a:spAutoFit/>
          </a:bodyPr>
          <a:lstStyle/>
          <a:p>
            <a:r>
              <a:rPr lang="fr-FR" sz="2000" dirty="0">
                <a:latin typeface="Aptos Display" panose="020B0004020202020204" pitchFamily="34" charset="0"/>
              </a:rPr>
              <a:t>Cette application simule l'utilisation de l'algorithme de luciole pour optimiser une tournée de livraison. Des véhicules (représentés par des lucioles) partent d'un entrepôt pour livrer des colis à différents clients. L'algorithme trouve l'itinéraire optimal en utilisant la méthode du plus proche voisin. Les véhicules suivent cet itinéraire tout en explorant aléatoirement la zone, puis retournent à l'entrepôt après avoir livré les colis. L'application visualise en temps réel ce processus sur une carte.</a:t>
            </a:r>
          </a:p>
        </p:txBody>
      </p:sp>
      <p:pic>
        <p:nvPicPr>
          <p:cNvPr id="17" name="Image 16">
            <a:extLst>
              <a:ext uri="{FF2B5EF4-FFF2-40B4-BE49-F238E27FC236}">
                <a16:creationId xmlns:a16="http://schemas.microsoft.com/office/drawing/2014/main" id="{EEF69574-5053-89EC-39B2-59E48F4C92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085628"/>
            <a:ext cx="6733547" cy="3166871"/>
          </a:xfrm>
          <a:prstGeom prst="rect">
            <a:avLst/>
          </a:prstGeom>
        </p:spPr>
      </p:pic>
      <p:sp>
        <p:nvSpPr>
          <p:cNvPr id="21" name="ZoneTexte 20">
            <a:extLst>
              <a:ext uri="{FF2B5EF4-FFF2-40B4-BE49-F238E27FC236}">
                <a16:creationId xmlns:a16="http://schemas.microsoft.com/office/drawing/2014/main" id="{77BA7D1A-39AB-9479-48B6-EE30B469DF7E}"/>
              </a:ext>
            </a:extLst>
          </p:cNvPr>
          <p:cNvSpPr txBox="1"/>
          <p:nvPr/>
        </p:nvSpPr>
        <p:spPr>
          <a:xfrm>
            <a:off x="183276" y="9775133"/>
            <a:ext cx="4679126" cy="830997"/>
          </a:xfrm>
          <a:prstGeom prst="rect">
            <a:avLst/>
          </a:prstGeom>
          <a:noFill/>
        </p:spPr>
        <p:txBody>
          <a:bodyPr wrap="square" rtlCol="0">
            <a:spAutoFit/>
          </a:bodyPr>
          <a:lstStyle/>
          <a:p>
            <a:r>
              <a:rPr lang="fr-FR" sz="4800" dirty="0">
                <a:solidFill>
                  <a:schemeClr val="tx2">
                    <a:lumMod val="75000"/>
                  </a:schemeClr>
                </a:solidFill>
                <a:latin typeface="Aharoni" panose="02010803020104030203" pitchFamily="2" charset="-79"/>
                <a:cs typeface="Aharoni" panose="02010803020104030203" pitchFamily="2" charset="-79"/>
              </a:rPr>
              <a:t> 3</a:t>
            </a:r>
            <a:r>
              <a:rPr lang="fr-FR" sz="4800" baseline="30000" dirty="0">
                <a:solidFill>
                  <a:schemeClr val="tx2">
                    <a:lumMod val="75000"/>
                  </a:schemeClr>
                </a:solidFill>
                <a:latin typeface="Aharoni" panose="02010803020104030203" pitchFamily="2" charset="-79"/>
                <a:cs typeface="Aharoni" panose="02010803020104030203" pitchFamily="2" charset="-79"/>
              </a:rPr>
              <a:t>ère</a:t>
            </a:r>
            <a:r>
              <a:rPr lang="fr-FR" sz="4800" dirty="0">
                <a:solidFill>
                  <a:schemeClr val="tx2">
                    <a:lumMod val="75000"/>
                  </a:schemeClr>
                </a:solidFill>
                <a:latin typeface="Aharoni" panose="02010803020104030203" pitchFamily="2" charset="-79"/>
                <a:cs typeface="Aharoni" panose="02010803020104030203" pitchFamily="2" charset="-79"/>
              </a:rPr>
              <a:t> Application</a:t>
            </a:r>
          </a:p>
        </p:txBody>
      </p:sp>
      <p:sp>
        <p:nvSpPr>
          <p:cNvPr id="23" name="ZoneTexte 22">
            <a:extLst>
              <a:ext uri="{FF2B5EF4-FFF2-40B4-BE49-F238E27FC236}">
                <a16:creationId xmlns:a16="http://schemas.microsoft.com/office/drawing/2014/main" id="{308C74BA-6A95-7057-5A66-94C1441B7918}"/>
              </a:ext>
            </a:extLst>
          </p:cNvPr>
          <p:cNvSpPr txBox="1"/>
          <p:nvPr/>
        </p:nvSpPr>
        <p:spPr>
          <a:xfrm>
            <a:off x="388818" y="10789010"/>
            <a:ext cx="4937760" cy="3785652"/>
          </a:xfrm>
          <a:prstGeom prst="rect">
            <a:avLst/>
          </a:prstGeom>
          <a:noFill/>
        </p:spPr>
        <p:txBody>
          <a:bodyPr wrap="square" rtlCol="0">
            <a:spAutoFit/>
          </a:bodyPr>
          <a:lstStyle/>
          <a:p>
            <a:r>
              <a:rPr lang="fr-FR" sz="2000" dirty="0">
                <a:latin typeface="Aptos Display" panose="020B0004020202020204" pitchFamily="34" charset="0"/>
              </a:rPr>
              <a:t>L'application optimise un emploi du temps en utilisant l'algorithme de luciole. L'utilisateur entre ses cours et ses créneaux horaires disponibles. L'algorithme génère des emplois du temps aléatoires, puis améliore ces solutions par itérations. Les lucioles (solutions) se déplacent vers la meilleure option en fonction des disponibilités. Le résultat final est un emploi du temps optimisé, affiché sous forme de tableau. Cela permet une meilleure gestion du temps et des ressources disponibles.</a:t>
            </a:r>
          </a:p>
        </p:txBody>
      </p:sp>
      <p:pic>
        <p:nvPicPr>
          <p:cNvPr id="25" name="Image 24">
            <a:extLst>
              <a:ext uri="{FF2B5EF4-FFF2-40B4-BE49-F238E27FC236}">
                <a16:creationId xmlns:a16="http://schemas.microsoft.com/office/drawing/2014/main" id="{E1F04758-6E93-064B-F1A3-56C6E23DE435}"/>
              </a:ext>
            </a:extLst>
          </p:cNvPr>
          <p:cNvPicPr>
            <a:picLocks noChangeAspect="1"/>
          </p:cNvPicPr>
          <p:nvPr/>
        </p:nvPicPr>
        <p:blipFill>
          <a:blip r:embed="rId3">
            <a:extLst>
              <a:ext uri="{28A0092B-C50C-407E-A947-70E740481C1C}">
                <a14:useLocalDpi xmlns:a14="http://schemas.microsoft.com/office/drawing/2010/main" val="0"/>
              </a:ext>
            </a:extLst>
          </a:blip>
          <a:srcRect l="8928" t="7717" r="26921" b="2500"/>
          <a:stretch/>
        </p:blipFill>
        <p:spPr>
          <a:xfrm>
            <a:off x="6032679" y="975339"/>
            <a:ext cx="5406056" cy="5058701"/>
          </a:xfrm>
          <a:prstGeom prst="rect">
            <a:avLst/>
          </a:prstGeom>
        </p:spPr>
      </p:pic>
      <p:sp>
        <p:nvSpPr>
          <p:cNvPr id="2" name="ZoneTexte 1">
            <a:extLst>
              <a:ext uri="{FF2B5EF4-FFF2-40B4-BE49-F238E27FC236}">
                <a16:creationId xmlns:a16="http://schemas.microsoft.com/office/drawing/2014/main" id="{6C14295E-C22B-0DCC-B1AC-E13CCD7AC09D}"/>
              </a:ext>
            </a:extLst>
          </p:cNvPr>
          <p:cNvSpPr txBox="1"/>
          <p:nvPr/>
        </p:nvSpPr>
        <p:spPr>
          <a:xfrm>
            <a:off x="594360" y="1390837"/>
            <a:ext cx="4072705" cy="523220"/>
          </a:xfrm>
          <a:prstGeom prst="rect">
            <a:avLst/>
          </a:prstGeom>
          <a:noFill/>
        </p:spPr>
        <p:txBody>
          <a:bodyPr wrap="square" rtlCol="0">
            <a:spAutoFit/>
          </a:bodyPr>
          <a:lstStyle/>
          <a:p>
            <a:r>
              <a:rPr lang="fr-FR" sz="2800" b="1" dirty="0">
                <a:solidFill>
                  <a:schemeClr val="tx2">
                    <a:lumMod val="60000"/>
                    <a:lumOff val="40000"/>
                  </a:schemeClr>
                </a:solidFill>
              </a:rPr>
              <a:t>Tournée De Livraison</a:t>
            </a:r>
          </a:p>
        </p:txBody>
      </p:sp>
    </p:spTree>
    <p:extLst>
      <p:ext uri="{BB962C8B-B14F-4D97-AF65-F5344CB8AC3E}">
        <p14:creationId xmlns:p14="http://schemas.microsoft.com/office/powerpoint/2010/main" val="478712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56A1AE13-A6D7-7DBE-E2EF-859FF8EC59F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8B0A8CF-626D-5DB7-FAD0-CD8620FB6804}"/>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085AF50D-14F0-A85B-891C-27683D01B811}"/>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CD552CDC-5F93-812E-C53C-AFF4864CB610}"/>
              </a:ext>
            </a:extLst>
          </p:cNvPr>
          <p:cNvSpPr txBox="1"/>
          <p:nvPr/>
        </p:nvSpPr>
        <p:spPr>
          <a:xfrm>
            <a:off x="394817" y="812759"/>
            <a:ext cx="4679126" cy="830997"/>
          </a:xfrm>
          <a:prstGeom prst="rect">
            <a:avLst/>
          </a:prstGeom>
          <a:noFill/>
        </p:spPr>
        <p:txBody>
          <a:bodyPr wrap="square" rtlCol="0">
            <a:spAutoFit/>
          </a:bodyPr>
          <a:lstStyle/>
          <a:p>
            <a:r>
              <a:rPr lang="fr-FR" sz="4800" dirty="0">
                <a:solidFill>
                  <a:schemeClr val="tx2">
                    <a:lumMod val="75000"/>
                  </a:schemeClr>
                </a:solidFill>
                <a:latin typeface="Aharoni" panose="02010803020104030203" pitchFamily="2" charset="-79"/>
                <a:cs typeface="Aharoni" panose="02010803020104030203" pitchFamily="2" charset="-79"/>
              </a:rPr>
              <a:t> 3</a:t>
            </a:r>
            <a:r>
              <a:rPr lang="fr-FR" sz="4800" baseline="30000" dirty="0">
                <a:solidFill>
                  <a:schemeClr val="tx2">
                    <a:lumMod val="75000"/>
                  </a:schemeClr>
                </a:solidFill>
                <a:latin typeface="Aharoni" panose="02010803020104030203" pitchFamily="2" charset="-79"/>
                <a:cs typeface="Aharoni" panose="02010803020104030203" pitchFamily="2" charset="-79"/>
              </a:rPr>
              <a:t>ère</a:t>
            </a:r>
            <a:r>
              <a:rPr lang="fr-FR" sz="4800" dirty="0">
                <a:solidFill>
                  <a:schemeClr val="tx2">
                    <a:lumMod val="75000"/>
                  </a:schemeClr>
                </a:solidFill>
                <a:latin typeface="Aharoni" panose="02010803020104030203" pitchFamily="2" charset="-79"/>
                <a:cs typeface="Aharoni" panose="02010803020104030203" pitchFamily="2" charset="-79"/>
              </a:rPr>
              <a:t> Application</a:t>
            </a:r>
          </a:p>
        </p:txBody>
      </p:sp>
      <p:sp>
        <p:nvSpPr>
          <p:cNvPr id="16" name="ZoneTexte 15">
            <a:extLst>
              <a:ext uri="{FF2B5EF4-FFF2-40B4-BE49-F238E27FC236}">
                <a16:creationId xmlns:a16="http://schemas.microsoft.com/office/drawing/2014/main" id="{54BCBD9B-7574-7080-408E-69D1584A1E19}"/>
              </a:ext>
            </a:extLst>
          </p:cNvPr>
          <p:cNvSpPr txBox="1"/>
          <p:nvPr/>
        </p:nvSpPr>
        <p:spPr>
          <a:xfrm>
            <a:off x="629541" y="2379943"/>
            <a:ext cx="10932917" cy="3108543"/>
          </a:xfrm>
          <a:prstGeom prst="rect">
            <a:avLst/>
          </a:prstGeom>
          <a:noFill/>
        </p:spPr>
        <p:txBody>
          <a:bodyPr wrap="square" rtlCol="0">
            <a:spAutoFit/>
          </a:bodyPr>
          <a:lstStyle/>
          <a:p>
            <a:r>
              <a:rPr lang="fr-FR" sz="2800" dirty="0">
                <a:latin typeface="Aptos Display" panose="020B0004020202020204" pitchFamily="34" charset="0"/>
              </a:rPr>
              <a:t>L'application optimise un emploi du temps en utilisant l'algorithme de luciole. L'utilisateur entre ses cours et ses créneaux horaires disponibles. L'algorithme génère des emplois du temps aléatoires, puis améliore ces solutions par itérations. Les lucioles (solutions) se déplacent vers la meilleure option en fonction des disponibilités. Le résultat final est un emploi du temps optimisé, affiché sous forme de tableau. Cela permet une meilleure gestion du temps et des ressources disponibles.</a:t>
            </a:r>
          </a:p>
        </p:txBody>
      </p:sp>
      <p:sp>
        <p:nvSpPr>
          <p:cNvPr id="2" name="ZoneTexte 1">
            <a:extLst>
              <a:ext uri="{FF2B5EF4-FFF2-40B4-BE49-F238E27FC236}">
                <a16:creationId xmlns:a16="http://schemas.microsoft.com/office/drawing/2014/main" id="{BAB316FD-C799-804E-9857-779EAC2FF4B9}"/>
              </a:ext>
            </a:extLst>
          </p:cNvPr>
          <p:cNvSpPr txBox="1"/>
          <p:nvPr/>
        </p:nvSpPr>
        <p:spPr>
          <a:xfrm>
            <a:off x="-7550624" y="1113146"/>
            <a:ext cx="4679126" cy="830997"/>
          </a:xfrm>
          <a:prstGeom prst="rect">
            <a:avLst/>
          </a:prstGeom>
          <a:noFill/>
        </p:spPr>
        <p:txBody>
          <a:bodyPr wrap="square" rtlCol="0">
            <a:spAutoFit/>
          </a:bodyPr>
          <a:lstStyle/>
          <a:p>
            <a:r>
              <a:rPr lang="fr-FR" sz="4800" dirty="0">
                <a:solidFill>
                  <a:schemeClr val="tx2">
                    <a:lumMod val="75000"/>
                  </a:schemeClr>
                </a:solidFill>
                <a:latin typeface="Aharoni" panose="02010803020104030203" pitchFamily="2" charset="-79"/>
                <a:cs typeface="Aharoni" panose="02010803020104030203" pitchFamily="2" charset="-79"/>
              </a:rPr>
              <a:t> 2</a:t>
            </a:r>
            <a:r>
              <a:rPr lang="fr-FR" sz="4800" baseline="30000" dirty="0">
                <a:solidFill>
                  <a:schemeClr val="tx2">
                    <a:lumMod val="75000"/>
                  </a:schemeClr>
                </a:solidFill>
                <a:latin typeface="Aharoni" panose="02010803020104030203" pitchFamily="2" charset="-79"/>
                <a:cs typeface="Aharoni" panose="02010803020104030203" pitchFamily="2" charset="-79"/>
              </a:rPr>
              <a:t>ère</a:t>
            </a:r>
            <a:r>
              <a:rPr lang="fr-FR" sz="4800" dirty="0">
                <a:solidFill>
                  <a:schemeClr val="tx2">
                    <a:lumMod val="75000"/>
                  </a:schemeClr>
                </a:solidFill>
                <a:latin typeface="Aharoni" panose="02010803020104030203" pitchFamily="2" charset="-79"/>
                <a:cs typeface="Aharoni" panose="02010803020104030203" pitchFamily="2" charset="-79"/>
              </a:rPr>
              <a:t> Application</a:t>
            </a:r>
          </a:p>
        </p:txBody>
      </p:sp>
      <p:sp>
        <p:nvSpPr>
          <p:cNvPr id="3" name="ZoneTexte 2">
            <a:extLst>
              <a:ext uri="{FF2B5EF4-FFF2-40B4-BE49-F238E27FC236}">
                <a16:creationId xmlns:a16="http://schemas.microsoft.com/office/drawing/2014/main" id="{555E43A5-9444-BB4F-74A3-67DE8B13865D}"/>
              </a:ext>
            </a:extLst>
          </p:cNvPr>
          <p:cNvSpPr txBox="1"/>
          <p:nvPr/>
        </p:nvSpPr>
        <p:spPr>
          <a:xfrm>
            <a:off x="-7550624" y="2172300"/>
            <a:ext cx="4937760" cy="3785652"/>
          </a:xfrm>
          <a:prstGeom prst="rect">
            <a:avLst/>
          </a:prstGeom>
          <a:noFill/>
        </p:spPr>
        <p:txBody>
          <a:bodyPr wrap="square" rtlCol="0">
            <a:spAutoFit/>
          </a:bodyPr>
          <a:lstStyle/>
          <a:p>
            <a:r>
              <a:rPr lang="fr-FR" sz="2000" dirty="0">
                <a:latin typeface="Aptos Display" panose="020B0004020202020204" pitchFamily="34" charset="0"/>
              </a:rPr>
              <a:t>Cette application simule l'utilisation de l'algorithme de luciole pour optimiser une tournée de livraison. Des véhicules (représentés par des lucioles) partent d'un entrepôt pour livrer des colis à différents clients. L'algorithme trouve l'itinéraire optimal en utilisant la méthode du plus proche voisin. Les véhicules suivent cet itinéraire tout en explorant aléatoirement la zone, puis retournent à l'entrepôt après avoir livré les colis. L'application visualise en temps réel ce processus sur une carte.</a:t>
            </a:r>
          </a:p>
        </p:txBody>
      </p:sp>
      <p:sp>
        <p:nvSpPr>
          <p:cNvPr id="4" name="ZoneTexte 3">
            <a:extLst>
              <a:ext uri="{FF2B5EF4-FFF2-40B4-BE49-F238E27FC236}">
                <a16:creationId xmlns:a16="http://schemas.microsoft.com/office/drawing/2014/main" id="{5AC5B50B-1F44-2B26-27E8-67816E32BFDF}"/>
              </a:ext>
            </a:extLst>
          </p:cNvPr>
          <p:cNvSpPr txBox="1"/>
          <p:nvPr/>
        </p:nvSpPr>
        <p:spPr>
          <a:xfrm>
            <a:off x="629542" y="1643756"/>
            <a:ext cx="4072705" cy="523220"/>
          </a:xfrm>
          <a:prstGeom prst="rect">
            <a:avLst/>
          </a:prstGeom>
          <a:noFill/>
        </p:spPr>
        <p:txBody>
          <a:bodyPr wrap="square" rtlCol="0">
            <a:spAutoFit/>
          </a:bodyPr>
          <a:lstStyle/>
          <a:p>
            <a:r>
              <a:rPr lang="fr-FR" sz="2800" b="1" dirty="0">
                <a:solidFill>
                  <a:schemeClr val="tx2">
                    <a:lumMod val="60000"/>
                    <a:lumOff val="40000"/>
                  </a:schemeClr>
                </a:solidFill>
              </a:rPr>
              <a:t>Emploi Du Temps </a:t>
            </a:r>
          </a:p>
        </p:txBody>
      </p:sp>
    </p:spTree>
    <p:extLst>
      <p:ext uri="{BB962C8B-B14F-4D97-AF65-F5344CB8AC3E}">
        <p14:creationId xmlns:p14="http://schemas.microsoft.com/office/powerpoint/2010/main" val="37455255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5CE8231B-496A-4E80-B721-2C2970461E0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44A0906-7E98-9350-8772-67BCC054ACA3}"/>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7DAAF4D8-8DF9-3111-FE99-3CD377CD0AE0}"/>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BEBE1D44-2A80-4F61-3AC7-F6A73E7A02CD}"/>
              </a:ext>
            </a:extLst>
          </p:cNvPr>
          <p:cNvSpPr txBox="1"/>
          <p:nvPr/>
        </p:nvSpPr>
        <p:spPr>
          <a:xfrm>
            <a:off x="-13069275" y="1957209"/>
            <a:ext cx="4679126" cy="830997"/>
          </a:xfrm>
          <a:prstGeom prst="rect">
            <a:avLst/>
          </a:prstGeom>
          <a:noFill/>
        </p:spPr>
        <p:txBody>
          <a:bodyPr wrap="square" rtlCol="0">
            <a:spAutoFit/>
          </a:bodyPr>
          <a:lstStyle/>
          <a:p>
            <a:r>
              <a:rPr lang="fr-FR" sz="4800" dirty="0">
                <a:solidFill>
                  <a:schemeClr val="tx2">
                    <a:lumMod val="75000"/>
                  </a:schemeClr>
                </a:solidFill>
                <a:latin typeface="Aharoni" panose="02010803020104030203" pitchFamily="2" charset="-79"/>
                <a:cs typeface="Aharoni" panose="02010803020104030203" pitchFamily="2" charset="-79"/>
              </a:rPr>
              <a:t> 3</a:t>
            </a:r>
            <a:r>
              <a:rPr lang="fr-FR" sz="4800" baseline="30000" dirty="0">
                <a:solidFill>
                  <a:schemeClr val="tx2">
                    <a:lumMod val="75000"/>
                  </a:schemeClr>
                </a:solidFill>
                <a:latin typeface="Aharoni" panose="02010803020104030203" pitchFamily="2" charset="-79"/>
                <a:cs typeface="Aharoni" panose="02010803020104030203" pitchFamily="2" charset="-79"/>
              </a:rPr>
              <a:t>ère</a:t>
            </a:r>
            <a:r>
              <a:rPr lang="fr-FR" sz="4800" dirty="0">
                <a:solidFill>
                  <a:schemeClr val="tx2">
                    <a:lumMod val="75000"/>
                  </a:schemeClr>
                </a:solidFill>
                <a:latin typeface="Aharoni" panose="02010803020104030203" pitchFamily="2" charset="-79"/>
                <a:cs typeface="Aharoni" panose="02010803020104030203" pitchFamily="2" charset="-79"/>
              </a:rPr>
              <a:t> Application</a:t>
            </a:r>
          </a:p>
        </p:txBody>
      </p:sp>
      <p:sp>
        <p:nvSpPr>
          <p:cNvPr id="16" name="ZoneTexte 15">
            <a:extLst>
              <a:ext uri="{FF2B5EF4-FFF2-40B4-BE49-F238E27FC236}">
                <a16:creationId xmlns:a16="http://schemas.microsoft.com/office/drawing/2014/main" id="{C751EF3A-66B9-FD3D-AB39-D2C639AAA136}"/>
              </a:ext>
            </a:extLst>
          </p:cNvPr>
          <p:cNvSpPr txBox="1"/>
          <p:nvPr/>
        </p:nvSpPr>
        <p:spPr>
          <a:xfrm>
            <a:off x="-12863733" y="2971086"/>
            <a:ext cx="9768840" cy="3539430"/>
          </a:xfrm>
          <a:prstGeom prst="rect">
            <a:avLst/>
          </a:prstGeom>
          <a:noFill/>
        </p:spPr>
        <p:txBody>
          <a:bodyPr wrap="square" rtlCol="0">
            <a:spAutoFit/>
          </a:bodyPr>
          <a:lstStyle/>
          <a:p>
            <a:r>
              <a:rPr lang="fr-FR" sz="2800" dirty="0">
                <a:latin typeface="Aptos Display" panose="020B0004020202020204" pitchFamily="34" charset="0"/>
              </a:rPr>
              <a:t>L'application optimise un emploi du temps en utilisant l'algorithme de luciole. L'utilisateur entre ses cours et ses créneaux horaires disponibles. L'algorithme génère des emplois du temps aléatoires, puis améliore ces solutions par itérations. Les lucioles (solutions) se déplacent vers la meilleure option en fonction des disponibilités. Le résultat final est un emploi du temps optimisé, affiché sous forme de tableau. Cela permet une meilleure gestion du temps et des ressources disponibles.</a:t>
            </a:r>
          </a:p>
        </p:txBody>
      </p:sp>
      <p:pic>
        <p:nvPicPr>
          <p:cNvPr id="5" name="Image 4">
            <a:extLst>
              <a:ext uri="{FF2B5EF4-FFF2-40B4-BE49-F238E27FC236}">
                <a16:creationId xmlns:a16="http://schemas.microsoft.com/office/drawing/2014/main" id="{56FEC174-3E80-9486-A060-0BED80352AAD}"/>
              </a:ext>
            </a:extLst>
          </p:cNvPr>
          <p:cNvPicPr>
            <a:picLocks noChangeAspect="1"/>
          </p:cNvPicPr>
          <p:nvPr/>
        </p:nvPicPr>
        <p:blipFill>
          <a:blip r:embed="rId2"/>
          <a:stretch>
            <a:fillRect/>
          </a:stretch>
        </p:blipFill>
        <p:spPr>
          <a:xfrm>
            <a:off x="389293" y="347484"/>
            <a:ext cx="6958287" cy="2723409"/>
          </a:xfrm>
          <a:prstGeom prst="rect">
            <a:avLst/>
          </a:prstGeom>
        </p:spPr>
      </p:pic>
      <p:pic>
        <p:nvPicPr>
          <p:cNvPr id="11" name="Image 10">
            <a:extLst>
              <a:ext uri="{FF2B5EF4-FFF2-40B4-BE49-F238E27FC236}">
                <a16:creationId xmlns:a16="http://schemas.microsoft.com/office/drawing/2014/main" id="{0DE5A9D9-5D81-B62B-5918-3EB108B61C23}"/>
              </a:ext>
            </a:extLst>
          </p:cNvPr>
          <p:cNvPicPr>
            <a:picLocks noChangeAspect="1"/>
          </p:cNvPicPr>
          <p:nvPr/>
        </p:nvPicPr>
        <p:blipFill>
          <a:blip r:embed="rId3"/>
          <a:stretch>
            <a:fillRect/>
          </a:stretch>
        </p:blipFill>
        <p:spPr>
          <a:xfrm>
            <a:off x="496253" y="3873315"/>
            <a:ext cx="5899841" cy="2637201"/>
          </a:xfrm>
          <a:prstGeom prst="rect">
            <a:avLst/>
          </a:prstGeom>
        </p:spPr>
      </p:pic>
      <p:pic>
        <p:nvPicPr>
          <p:cNvPr id="7" name="Image 6">
            <a:extLst>
              <a:ext uri="{FF2B5EF4-FFF2-40B4-BE49-F238E27FC236}">
                <a16:creationId xmlns:a16="http://schemas.microsoft.com/office/drawing/2014/main" id="{12A44A52-3661-3443-088A-5CA15D561EA2}"/>
              </a:ext>
            </a:extLst>
          </p:cNvPr>
          <p:cNvPicPr>
            <a:picLocks noChangeAspect="1"/>
          </p:cNvPicPr>
          <p:nvPr/>
        </p:nvPicPr>
        <p:blipFill>
          <a:blip r:embed="rId4"/>
          <a:stretch>
            <a:fillRect/>
          </a:stretch>
        </p:blipFill>
        <p:spPr>
          <a:xfrm>
            <a:off x="5066073" y="1435688"/>
            <a:ext cx="6326466" cy="2908236"/>
          </a:xfrm>
          <a:prstGeom prst="rect">
            <a:avLst/>
          </a:prstGeom>
        </p:spPr>
      </p:pic>
      <p:sp>
        <p:nvSpPr>
          <p:cNvPr id="12" name="Rectangle 11">
            <a:extLst>
              <a:ext uri="{FF2B5EF4-FFF2-40B4-BE49-F238E27FC236}">
                <a16:creationId xmlns:a16="http://schemas.microsoft.com/office/drawing/2014/main" id="{CA584C55-0464-4735-1CCC-5ABF36A7258C}"/>
              </a:ext>
            </a:extLst>
          </p:cNvPr>
          <p:cNvSpPr/>
          <p:nvPr/>
        </p:nvSpPr>
        <p:spPr>
          <a:xfrm>
            <a:off x="-13511566" y="-30961"/>
            <a:ext cx="12212246"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A6533A66-81F3-FD8A-3B91-2161B18E2702}"/>
              </a:ext>
            </a:extLst>
          </p:cNvPr>
          <p:cNvSpPr txBox="1"/>
          <p:nvPr/>
        </p:nvSpPr>
        <p:spPr>
          <a:xfrm>
            <a:off x="-12475692" y="1744011"/>
            <a:ext cx="6801618" cy="3046988"/>
          </a:xfrm>
          <a:prstGeom prst="rect">
            <a:avLst/>
          </a:prstGeom>
          <a:noFill/>
        </p:spPr>
        <p:txBody>
          <a:bodyPr wrap="square" rtlCol="0">
            <a:spAutoFit/>
          </a:bodyPr>
          <a:lstStyle/>
          <a:p>
            <a:r>
              <a:rPr lang="fr-FR" sz="4800" dirty="0">
                <a:solidFill>
                  <a:schemeClr val="bg1"/>
                </a:solidFill>
                <a:latin typeface="Aharoni" panose="02010803020104030203" pitchFamily="2" charset="-79"/>
                <a:cs typeface="Aharoni" panose="02010803020104030203" pitchFamily="2" charset="-79"/>
              </a:rPr>
              <a:t>Comparaison de l’algorithme des lucioles avec d’autres algorithmes </a:t>
            </a:r>
          </a:p>
        </p:txBody>
      </p:sp>
      <p:pic>
        <p:nvPicPr>
          <p:cNvPr id="14" name="Image 13">
            <a:extLst>
              <a:ext uri="{FF2B5EF4-FFF2-40B4-BE49-F238E27FC236}">
                <a16:creationId xmlns:a16="http://schemas.microsoft.com/office/drawing/2014/main" id="{AAA640F9-8FF1-7027-1A49-D6FF5CACBD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5726" y="1010104"/>
            <a:ext cx="4036438" cy="4267869"/>
          </a:xfrm>
          <a:prstGeom prst="rect">
            <a:avLst/>
          </a:prstGeom>
        </p:spPr>
      </p:pic>
    </p:spTree>
    <p:extLst>
      <p:ext uri="{BB962C8B-B14F-4D97-AF65-F5344CB8AC3E}">
        <p14:creationId xmlns:p14="http://schemas.microsoft.com/office/powerpoint/2010/main" val="2584184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A3FF951-4AF6-5F35-555C-ED926B88C5C8}"/>
            </a:ext>
          </a:extLst>
        </p:cNvPr>
        <p:cNvGrpSpPr/>
        <p:nvPr/>
      </p:nvGrpSpPr>
      <p:grpSpPr>
        <a:xfrm>
          <a:off x="0" y="0"/>
          <a:ext cx="0" cy="0"/>
          <a:chOff x="0" y="0"/>
          <a:chExt cx="0" cy="0"/>
        </a:xfrm>
      </p:grpSpPr>
      <p:sp>
        <p:nvSpPr>
          <p:cNvPr id="1036" name="Rectangle 1035">
            <a:extLst>
              <a:ext uri="{FF2B5EF4-FFF2-40B4-BE49-F238E27FC236}">
                <a16:creationId xmlns:a16="http://schemas.microsoft.com/office/drawing/2014/main" id="{7651328D-4DDE-7566-F7BD-DDB4FF78AD8D}"/>
              </a:ext>
            </a:extLst>
          </p:cNvPr>
          <p:cNvSpPr/>
          <p:nvPr/>
        </p:nvSpPr>
        <p:spPr>
          <a:xfrm>
            <a:off x="0" y="0"/>
            <a:ext cx="12212246"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FDC249BD-8286-E144-4400-C33312C4ABD6}"/>
              </a:ext>
            </a:extLst>
          </p:cNvPr>
          <p:cNvSpPr txBox="1"/>
          <p:nvPr/>
        </p:nvSpPr>
        <p:spPr>
          <a:xfrm>
            <a:off x="1035874" y="1774972"/>
            <a:ext cx="6801618" cy="3046988"/>
          </a:xfrm>
          <a:prstGeom prst="rect">
            <a:avLst/>
          </a:prstGeom>
          <a:noFill/>
        </p:spPr>
        <p:txBody>
          <a:bodyPr wrap="square" rtlCol="0">
            <a:spAutoFit/>
          </a:bodyPr>
          <a:lstStyle/>
          <a:p>
            <a:r>
              <a:rPr lang="fr-FR" sz="4800" dirty="0">
                <a:solidFill>
                  <a:schemeClr val="bg1"/>
                </a:solidFill>
                <a:latin typeface="Aharoni" panose="02010803020104030203" pitchFamily="2" charset="-79"/>
                <a:cs typeface="Aharoni" panose="02010803020104030203" pitchFamily="2" charset="-79"/>
              </a:rPr>
              <a:t>Comparaison de l’algorithme des lucioles avec d’autres algorithmes </a:t>
            </a:r>
          </a:p>
        </p:txBody>
      </p:sp>
      <p:sp>
        <p:nvSpPr>
          <p:cNvPr id="8" name="Rectangle 7">
            <a:extLst>
              <a:ext uri="{FF2B5EF4-FFF2-40B4-BE49-F238E27FC236}">
                <a16:creationId xmlns:a16="http://schemas.microsoft.com/office/drawing/2014/main" id="{D0A1121E-533D-9749-9615-EC12494F52D7}"/>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3FBDCB96-6E9D-42AF-914A-C33F3B116160}"/>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38" name="Image 1037">
            <a:extLst>
              <a:ext uri="{FF2B5EF4-FFF2-40B4-BE49-F238E27FC236}">
                <a16:creationId xmlns:a16="http://schemas.microsoft.com/office/drawing/2014/main" id="{C64B41CB-D3EA-8104-AB4C-EDB686D50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5840" y="1041065"/>
            <a:ext cx="4036438" cy="4267869"/>
          </a:xfrm>
          <a:prstGeom prst="rect">
            <a:avLst/>
          </a:prstGeom>
        </p:spPr>
      </p:pic>
    </p:spTree>
    <p:extLst>
      <p:ext uri="{BB962C8B-B14F-4D97-AF65-F5344CB8AC3E}">
        <p14:creationId xmlns:p14="http://schemas.microsoft.com/office/powerpoint/2010/main" val="24453523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1B54BADE-9A57-2995-1081-D9AD0D6F3EAA}"/>
            </a:ext>
          </a:extLst>
        </p:cNvPr>
        <p:cNvGrpSpPr/>
        <p:nvPr/>
      </p:nvGrpSpPr>
      <p:grpSpPr>
        <a:xfrm>
          <a:off x="0" y="0"/>
          <a:ext cx="0" cy="0"/>
          <a:chOff x="0" y="0"/>
          <a:chExt cx="0" cy="0"/>
        </a:xfrm>
      </p:grpSpPr>
      <p:sp>
        <p:nvSpPr>
          <p:cNvPr id="1036" name="Rectangle 1035">
            <a:extLst>
              <a:ext uri="{FF2B5EF4-FFF2-40B4-BE49-F238E27FC236}">
                <a16:creationId xmlns:a16="http://schemas.microsoft.com/office/drawing/2014/main" id="{5F97BA16-36BE-C0BA-4EF7-EF52E06AF1A4}"/>
              </a:ext>
            </a:extLst>
          </p:cNvPr>
          <p:cNvSpPr/>
          <p:nvPr/>
        </p:nvSpPr>
        <p:spPr>
          <a:xfrm>
            <a:off x="0" y="0"/>
            <a:ext cx="12212246"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Rectangle 7">
            <a:extLst>
              <a:ext uri="{FF2B5EF4-FFF2-40B4-BE49-F238E27FC236}">
                <a16:creationId xmlns:a16="http://schemas.microsoft.com/office/drawing/2014/main" id="{F999A23B-A616-0CF3-3255-9182D95830C2}"/>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0DE9861D-DD45-1C9F-244F-5EEB2EB99F44}"/>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0084D624-ABAE-FEE9-C302-73765331CBFC}"/>
              </a:ext>
            </a:extLst>
          </p:cNvPr>
          <p:cNvPicPr>
            <a:picLocks noChangeAspect="1"/>
          </p:cNvPicPr>
          <p:nvPr/>
        </p:nvPicPr>
        <p:blipFill>
          <a:blip r:embed="rId2">
            <a:extLst>
              <a:ext uri="{28A0092B-C50C-407E-A947-70E740481C1C}">
                <a14:useLocalDpi xmlns:a14="http://schemas.microsoft.com/office/drawing/2010/main" val="0"/>
              </a:ext>
            </a:extLst>
          </a:blip>
          <a:srcRect l="4835" r="6565"/>
          <a:stretch/>
        </p:blipFill>
        <p:spPr>
          <a:xfrm>
            <a:off x="5116187" y="523865"/>
            <a:ext cx="6654800" cy="2982468"/>
          </a:xfrm>
          <a:prstGeom prst="rect">
            <a:avLst/>
          </a:prstGeom>
        </p:spPr>
      </p:pic>
      <p:pic>
        <p:nvPicPr>
          <p:cNvPr id="7" name="Image 6">
            <a:extLst>
              <a:ext uri="{FF2B5EF4-FFF2-40B4-BE49-F238E27FC236}">
                <a16:creationId xmlns:a16="http://schemas.microsoft.com/office/drawing/2014/main" id="{8B768F33-E979-E6FA-6CAB-69F07A4F290F}"/>
              </a:ext>
            </a:extLst>
          </p:cNvPr>
          <p:cNvPicPr>
            <a:picLocks noChangeAspect="1"/>
          </p:cNvPicPr>
          <p:nvPr/>
        </p:nvPicPr>
        <p:blipFill>
          <a:blip r:embed="rId3">
            <a:extLst>
              <a:ext uri="{28A0092B-C50C-407E-A947-70E740481C1C}">
                <a14:useLocalDpi xmlns:a14="http://schemas.microsoft.com/office/drawing/2010/main" val="0"/>
              </a:ext>
            </a:extLst>
          </a:blip>
          <a:srcRect l="4550" r="5633"/>
          <a:stretch/>
        </p:blipFill>
        <p:spPr>
          <a:xfrm>
            <a:off x="5116187" y="3620399"/>
            <a:ext cx="6654800" cy="3025764"/>
          </a:xfrm>
          <a:prstGeom prst="rect">
            <a:avLst/>
          </a:prstGeom>
        </p:spPr>
      </p:pic>
      <p:sp>
        <p:nvSpPr>
          <p:cNvPr id="12" name="ZoneTexte 11">
            <a:extLst>
              <a:ext uri="{FF2B5EF4-FFF2-40B4-BE49-F238E27FC236}">
                <a16:creationId xmlns:a16="http://schemas.microsoft.com/office/drawing/2014/main" id="{5EA43145-62DB-CD6C-C016-6116C59A84A4}"/>
              </a:ext>
            </a:extLst>
          </p:cNvPr>
          <p:cNvSpPr txBox="1"/>
          <p:nvPr/>
        </p:nvSpPr>
        <p:spPr>
          <a:xfrm>
            <a:off x="611063" y="2141309"/>
            <a:ext cx="4063865" cy="3764756"/>
          </a:xfrm>
          <a:prstGeom prst="roundRect">
            <a:avLst>
              <a:gd name="adj" fmla="val 4527"/>
            </a:avLst>
          </a:prstGeom>
          <a:solidFill>
            <a:schemeClr val="bg2">
              <a:alpha val="13000"/>
            </a:schemeClr>
          </a:solidFill>
        </p:spPr>
        <p:txBody>
          <a:bodyPr wrap="square" rtlCol="0">
            <a:spAutoFit/>
          </a:bodyPr>
          <a:lstStyle/>
          <a:p>
            <a:r>
              <a:rPr lang="fr-FR" dirty="0">
                <a:solidFill>
                  <a:schemeClr val="bg1"/>
                </a:solidFill>
              </a:rPr>
              <a:t>Les trois algorithmes sont testés sur des fonctions standards avec une même population </a:t>
            </a:r>
            <a:r>
              <a:rPr lang="fr-FR" dirty="0">
                <a:solidFill>
                  <a:schemeClr val="bg1"/>
                </a:solidFill>
                <a:latin typeface="Aharoni" panose="02010803020104030203" pitchFamily="2" charset="-79"/>
                <a:cs typeface="Aharoni" panose="02010803020104030203" pitchFamily="2" charset="-79"/>
              </a:rPr>
              <a:t>(n = 40).  </a:t>
            </a:r>
            <a:r>
              <a:rPr lang="fr-FR" dirty="0">
                <a:solidFill>
                  <a:schemeClr val="bg1"/>
                </a:solidFill>
              </a:rPr>
              <a:t>Chaque test est répété </a:t>
            </a:r>
            <a:r>
              <a:rPr lang="fr-FR" dirty="0">
                <a:solidFill>
                  <a:schemeClr val="bg1"/>
                </a:solidFill>
                <a:latin typeface="Aharoni" panose="02010803020104030203" pitchFamily="2" charset="-79"/>
                <a:cs typeface="Aharoni" panose="02010803020104030203" pitchFamily="2" charset="-79"/>
              </a:rPr>
              <a:t>100 fois </a:t>
            </a:r>
            <a:r>
              <a:rPr lang="fr-FR" dirty="0">
                <a:solidFill>
                  <a:schemeClr val="bg1"/>
                </a:solidFill>
              </a:rPr>
              <a:t>pour garantir une analyse statistique fiable.  </a:t>
            </a:r>
          </a:p>
          <a:p>
            <a:endParaRPr lang="fr-FR" dirty="0">
              <a:solidFill>
                <a:schemeClr val="bg1"/>
              </a:solidFill>
            </a:endParaRPr>
          </a:p>
          <a:p>
            <a:r>
              <a:rPr lang="fr-FR" dirty="0">
                <a:solidFill>
                  <a:schemeClr val="bg1"/>
                </a:solidFill>
              </a:rPr>
              <a:t>Les simulations sont faites sous Matlab avec un critère d’arrêt basé sur une variation très faible (10⁻⁵). </a:t>
            </a:r>
          </a:p>
          <a:p>
            <a:r>
              <a:rPr lang="fr-FR" dirty="0">
                <a:solidFill>
                  <a:schemeClr val="bg1"/>
                </a:solidFill>
              </a:rPr>
              <a:t> </a:t>
            </a:r>
          </a:p>
          <a:p>
            <a:r>
              <a:rPr lang="fr-FR" dirty="0">
                <a:solidFill>
                  <a:schemeClr val="bg1"/>
                </a:solidFill>
              </a:rPr>
              <a:t>Les résultats incluent : nombre moyen d’évaluations, écart type et taux de réussite.  </a:t>
            </a:r>
          </a:p>
        </p:txBody>
      </p:sp>
      <p:sp>
        <p:nvSpPr>
          <p:cNvPr id="13" name="ZoneTexte 12">
            <a:extLst>
              <a:ext uri="{FF2B5EF4-FFF2-40B4-BE49-F238E27FC236}">
                <a16:creationId xmlns:a16="http://schemas.microsoft.com/office/drawing/2014/main" id="{3683B821-CE61-F3EC-7EFB-B85113FFAF65}"/>
              </a:ext>
            </a:extLst>
          </p:cNvPr>
          <p:cNvSpPr txBox="1"/>
          <p:nvPr/>
        </p:nvSpPr>
        <p:spPr>
          <a:xfrm>
            <a:off x="550035" y="670412"/>
            <a:ext cx="4185920" cy="1323439"/>
          </a:xfrm>
          <a:prstGeom prst="rect">
            <a:avLst/>
          </a:prstGeom>
          <a:noFill/>
        </p:spPr>
        <p:txBody>
          <a:bodyPr wrap="square" rtlCol="0">
            <a:spAutoFit/>
          </a:bodyPr>
          <a:lstStyle/>
          <a:p>
            <a:pPr algn="ctr"/>
            <a:r>
              <a:rPr lang="fr-FR" sz="4000" dirty="0">
                <a:solidFill>
                  <a:schemeClr val="bg1"/>
                </a:solidFill>
                <a:latin typeface="Aharoni" panose="02010803020104030203" pitchFamily="2" charset="-79"/>
                <a:cs typeface="Aharoni" panose="02010803020104030203" pitchFamily="2" charset="-79"/>
              </a:rPr>
              <a:t>FA vs PSO </a:t>
            </a:r>
          </a:p>
          <a:p>
            <a:pPr algn="ctr"/>
            <a:r>
              <a:rPr lang="fr-FR" sz="4000" dirty="0">
                <a:solidFill>
                  <a:schemeClr val="bg1"/>
                </a:solidFill>
                <a:latin typeface="Aharoni" panose="02010803020104030203" pitchFamily="2" charset="-79"/>
                <a:cs typeface="Aharoni" panose="02010803020104030203" pitchFamily="2" charset="-79"/>
              </a:rPr>
              <a:t>FA vs GA   </a:t>
            </a:r>
          </a:p>
        </p:txBody>
      </p:sp>
      <p:pic>
        <p:nvPicPr>
          <p:cNvPr id="15" name="Picture 2" descr="Premium AI Image | Abstract and magical image of Firefly flying in the ...">
            <a:extLst>
              <a:ext uri="{FF2B5EF4-FFF2-40B4-BE49-F238E27FC236}">
                <a16:creationId xmlns:a16="http://schemas.microsoft.com/office/drawing/2014/main" id="{3C71D4F1-EBF3-D12D-DF12-AE34AEC3F4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000" r="7778"/>
          <a:stretch/>
        </p:blipFill>
        <p:spPr bwMode="auto">
          <a:xfrm>
            <a:off x="5937572" y="7528412"/>
            <a:ext cx="5490532"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ZoneTexte 15">
            <a:extLst>
              <a:ext uri="{FF2B5EF4-FFF2-40B4-BE49-F238E27FC236}">
                <a16:creationId xmlns:a16="http://schemas.microsoft.com/office/drawing/2014/main" id="{8292CA5A-E4FF-D443-A841-F7B733B9396F}"/>
              </a:ext>
            </a:extLst>
          </p:cNvPr>
          <p:cNvSpPr txBox="1"/>
          <p:nvPr/>
        </p:nvSpPr>
        <p:spPr>
          <a:xfrm>
            <a:off x="447040" y="9630384"/>
            <a:ext cx="5143233" cy="3865216"/>
          </a:xfrm>
          <a:prstGeom prst="roundRect">
            <a:avLst>
              <a:gd name="adj" fmla="val 4527"/>
            </a:avLst>
          </a:prstGeom>
          <a:solidFill>
            <a:schemeClr val="bg2">
              <a:alpha val="13000"/>
            </a:schemeClr>
          </a:solidFill>
        </p:spPr>
        <p:txBody>
          <a:bodyPr wrap="square" rtlCol="0">
            <a:spAutoFit/>
          </a:bodyPr>
          <a:lstStyle/>
          <a:p>
            <a:pPr>
              <a:lnSpc>
                <a:spcPct val="150000"/>
              </a:lnSpc>
            </a:pPr>
            <a:r>
              <a:rPr lang="fr-FR" b="0" dirty="0">
                <a:solidFill>
                  <a:schemeClr val="bg1"/>
                </a:solidFill>
                <a:effectLst/>
                <a:latin typeface="Aptos Display" panose="020B0004020202020204" pitchFamily="34" charset="0"/>
              </a:rPr>
              <a:t>La nature ne résout pas les équations, elle trouve simplement des solutions. </a:t>
            </a:r>
          </a:p>
          <a:p>
            <a:pPr>
              <a:lnSpc>
                <a:spcPct val="150000"/>
              </a:lnSpc>
            </a:pPr>
            <a:r>
              <a:rPr lang="fr-FR" b="0" dirty="0">
                <a:solidFill>
                  <a:schemeClr val="bg1"/>
                </a:solidFill>
                <a:effectLst/>
                <a:latin typeface="Aptos Display" panose="020B0004020202020204" pitchFamily="34" charset="0"/>
              </a:rPr>
              <a:t>Ce que les lucioles ont mis des millions d'années à perfectionner, nous commençons à peine à le comprendre. L'algorithme des lucioles nous rappelle ainsi que la simplicité et l'émergence collective peuvent vaincre la complexité, révélant peu à peu les secrets d'une intelligence bien plus ancienne que la nôtre.</a:t>
            </a:r>
            <a:endParaRPr lang="fr-FR" b="1" dirty="0">
              <a:solidFill>
                <a:schemeClr val="bg1"/>
              </a:solidFill>
              <a:latin typeface="Aptos Display" panose="020B0004020202020204" pitchFamily="34" charset="0"/>
            </a:endParaRPr>
          </a:p>
        </p:txBody>
      </p:sp>
      <p:sp>
        <p:nvSpPr>
          <p:cNvPr id="17" name="ZoneTexte 16">
            <a:extLst>
              <a:ext uri="{FF2B5EF4-FFF2-40B4-BE49-F238E27FC236}">
                <a16:creationId xmlns:a16="http://schemas.microsoft.com/office/drawing/2014/main" id="{1F93D16E-78FB-A9FD-14CA-BE828B357D03}"/>
              </a:ext>
            </a:extLst>
          </p:cNvPr>
          <p:cNvSpPr txBox="1"/>
          <p:nvPr/>
        </p:nvSpPr>
        <p:spPr>
          <a:xfrm>
            <a:off x="329252" y="8549060"/>
            <a:ext cx="4185920" cy="830997"/>
          </a:xfrm>
          <a:prstGeom prst="rect">
            <a:avLst/>
          </a:prstGeom>
          <a:noFill/>
        </p:spPr>
        <p:txBody>
          <a:bodyPr wrap="square" rtlCol="0">
            <a:spAutoFit/>
          </a:bodyPr>
          <a:lstStyle/>
          <a:p>
            <a:r>
              <a:rPr lang="fr-FR" sz="4800" dirty="0">
                <a:solidFill>
                  <a:schemeClr val="bg1"/>
                </a:solidFill>
                <a:latin typeface="Aharoni" panose="02010803020104030203" pitchFamily="2" charset="-79"/>
                <a:cs typeface="Aharoni" panose="02010803020104030203" pitchFamily="2" charset="-79"/>
              </a:rPr>
              <a:t>Conclusion  </a:t>
            </a:r>
          </a:p>
        </p:txBody>
      </p:sp>
    </p:spTree>
    <p:extLst>
      <p:ext uri="{BB962C8B-B14F-4D97-AF65-F5344CB8AC3E}">
        <p14:creationId xmlns:p14="http://schemas.microsoft.com/office/powerpoint/2010/main" val="21247430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002A063-1AC9-14AA-FF31-1ABF5C5C187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EB0C78A-25A7-E6A7-CC39-FE774F23414F}"/>
              </a:ext>
            </a:extLst>
          </p:cNvPr>
          <p:cNvSpPr/>
          <p:nvPr/>
        </p:nvSpPr>
        <p:spPr>
          <a:xfrm>
            <a:off x="0" y="0"/>
            <a:ext cx="12192000" cy="685800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4456AE02-8CB5-4C2D-E33B-A5D6E7F84448}"/>
              </a:ext>
            </a:extLst>
          </p:cNvPr>
          <p:cNvSpPr/>
          <p:nvPr/>
        </p:nvSpPr>
        <p:spPr>
          <a:xfrm>
            <a:off x="-46668" y="10204937"/>
            <a:ext cx="2936240" cy="468926"/>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71A80EE7-EF16-2820-52D5-2DBF5EF58327}"/>
              </a:ext>
            </a:extLst>
          </p:cNvPr>
          <p:cNvSpPr/>
          <p:nvPr/>
        </p:nvSpPr>
        <p:spPr>
          <a:xfrm>
            <a:off x="2889572" y="16828474"/>
            <a:ext cx="2936240" cy="4689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B3AEEF14-1A3D-C95E-8750-B7BE14BF8307}"/>
              </a:ext>
            </a:extLst>
          </p:cNvPr>
          <p:cNvSpPr/>
          <p:nvPr/>
        </p:nvSpPr>
        <p:spPr>
          <a:xfrm>
            <a:off x="5937572" y="23838874"/>
            <a:ext cx="3048000" cy="468926"/>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721A95B3-A113-AF79-187A-F342C0BC191C}"/>
              </a:ext>
            </a:extLst>
          </p:cNvPr>
          <p:cNvSpPr/>
          <p:nvPr/>
        </p:nvSpPr>
        <p:spPr>
          <a:xfrm>
            <a:off x="8985572" y="30696874"/>
            <a:ext cx="3271520" cy="46892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descr="Premium AI Image | Abstract and magical image of Firefly flying in the ...">
            <a:extLst>
              <a:ext uri="{FF2B5EF4-FFF2-40B4-BE49-F238E27FC236}">
                <a16:creationId xmlns:a16="http://schemas.microsoft.com/office/drawing/2014/main" id="{0A73723E-79EA-E0A2-F8A2-5FFC2F39C0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00" r="7778"/>
          <a:stretch/>
        </p:blipFill>
        <p:spPr bwMode="auto">
          <a:xfrm>
            <a:off x="6096000" y="0"/>
            <a:ext cx="5490532"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9980740B-2CA1-5B4E-E6B2-41C6BDBA989A}"/>
              </a:ext>
            </a:extLst>
          </p:cNvPr>
          <p:cNvSpPr txBox="1"/>
          <p:nvPr/>
        </p:nvSpPr>
        <p:spPr>
          <a:xfrm>
            <a:off x="605468" y="2101972"/>
            <a:ext cx="5143233" cy="3865216"/>
          </a:xfrm>
          <a:prstGeom prst="roundRect">
            <a:avLst>
              <a:gd name="adj" fmla="val 4527"/>
            </a:avLst>
          </a:prstGeom>
          <a:solidFill>
            <a:schemeClr val="bg2">
              <a:alpha val="13000"/>
            </a:schemeClr>
          </a:solidFill>
        </p:spPr>
        <p:txBody>
          <a:bodyPr wrap="square" rtlCol="0">
            <a:spAutoFit/>
          </a:bodyPr>
          <a:lstStyle/>
          <a:p>
            <a:pPr>
              <a:lnSpc>
                <a:spcPct val="150000"/>
              </a:lnSpc>
            </a:pPr>
            <a:r>
              <a:rPr lang="fr-FR" b="0" dirty="0">
                <a:solidFill>
                  <a:schemeClr val="bg1"/>
                </a:solidFill>
                <a:effectLst/>
                <a:latin typeface="Aptos Display" panose="020B0004020202020204" pitchFamily="34" charset="0"/>
              </a:rPr>
              <a:t>La nature ne résout pas les équations, elle trouve simplement des solutions. </a:t>
            </a:r>
          </a:p>
          <a:p>
            <a:pPr>
              <a:lnSpc>
                <a:spcPct val="150000"/>
              </a:lnSpc>
            </a:pPr>
            <a:r>
              <a:rPr lang="fr-FR" b="0" dirty="0">
                <a:solidFill>
                  <a:schemeClr val="bg1"/>
                </a:solidFill>
                <a:effectLst/>
                <a:latin typeface="Aptos Display" panose="020B0004020202020204" pitchFamily="34" charset="0"/>
              </a:rPr>
              <a:t>Ce que les lucioles ont mis des millions d'années à perfectionner, nous commençons à peine à le comprendre. L'algorithme des lucioles nous rappelle ainsi que la simplicité et l'émergence collective peuvent vaincre la complexité, révélant peu à peu les secrets d'une intelligence bien plus ancienne que la nôtre.</a:t>
            </a:r>
            <a:endParaRPr lang="fr-FR" b="1" dirty="0">
              <a:solidFill>
                <a:schemeClr val="bg1"/>
              </a:solidFill>
              <a:latin typeface="Aptos Display" panose="020B0004020202020204" pitchFamily="34" charset="0"/>
            </a:endParaRPr>
          </a:p>
        </p:txBody>
      </p:sp>
      <p:sp>
        <p:nvSpPr>
          <p:cNvPr id="5" name="ZoneTexte 4">
            <a:extLst>
              <a:ext uri="{FF2B5EF4-FFF2-40B4-BE49-F238E27FC236}">
                <a16:creationId xmlns:a16="http://schemas.microsoft.com/office/drawing/2014/main" id="{45057CC3-B71A-8D03-B062-8BD07CF77580}"/>
              </a:ext>
            </a:extLst>
          </p:cNvPr>
          <p:cNvSpPr txBox="1"/>
          <p:nvPr/>
        </p:nvSpPr>
        <p:spPr>
          <a:xfrm>
            <a:off x="487680" y="1020648"/>
            <a:ext cx="4185920" cy="830997"/>
          </a:xfrm>
          <a:prstGeom prst="rect">
            <a:avLst/>
          </a:prstGeom>
          <a:noFill/>
        </p:spPr>
        <p:txBody>
          <a:bodyPr wrap="square" rtlCol="0">
            <a:spAutoFit/>
          </a:bodyPr>
          <a:lstStyle/>
          <a:p>
            <a:r>
              <a:rPr lang="fr-FR" sz="4800" dirty="0">
                <a:solidFill>
                  <a:schemeClr val="bg1"/>
                </a:solidFill>
                <a:latin typeface="Aharoni" panose="02010803020104030203" pitchFamily="2" charset="-79"/>
                <a:cs typeface="Aharoni" panose="02010803020104030203" pitchFamily="2" charset="-79"/>
              </a:rPr>
              <a:t>Conclusion  </a:t>
            </a:r>
          </a:p>
        </p:txBody>
      </p:sp>
      <p:pic>
        <p:nvPicPr>
          <p:cNvPr id="6" name="Image 5">
            <a:extLst>
              <a:ext uri="{FF2B5EF4-FFF2-40B4-BE49-F238E27FC236}">
                <a16:creationId xmlns:a16="http://schemas.microsoft.com/office/drawing/2014/main" id="{83DA2BDC-F9EE-D90D-F8C2-88A48845DF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81172" y="-5480872"/>
            <a:ext cx="4036438" cy="4267869"/>
          </a:xfrm>
          <a:prstGeom prst="rect">
            <a:avLst/>
          </a:prstGeom>
        </p:spPr>
      </p:pic>
      <p:sp>
        <p:nvSpPr>
          <p:cNvPr id="2" name="Forme libre : forme 1">
            <a:extLst>
              <a:ext uri="{FF2B5EF4-FFF2-40B4-BE49-F238E27FC236}">
                <a16:creationId xmlns:a16="http://schemas.microsoft.com/office/drawing/2014/main" id="{C13D473F-D733-3CCA-4FD1-A70C3BAA157C}"/>
              </a:ext>
            </a:extLst>
          </p:cNvPr>
          <p:cNvSpPr/>
          <p:nvPr/>
        </p:nvSpPr>
        <p:spPr>
          <a:xfrm>
            <a:off x="-9314448" y="0"/>
            <a:ext cx="8967149" cy="6955890"/>
          </a:xfrm>
          <a:custGeom>
            <a:avLst/>
            <a:gdLst>
              <a:gd name="connsiteX0" fmla="*/ 0 w 6825511"/>
              <a:gd name="connsiteY0" fmla="*/ 0 h 6858000"/>
              <a:gd name="connsiteX1" fmla="*/ 4561011 w 6825511"/>
              <a:gd name="connsiteY1" fmla="*/ 0 h 6858000"/>
              <a:gd name="connsiteX2" fmla="*/ 4545069 w 6825511"/>
              <a:gd name="connsiteY2" fmla="*/ 17683 h 6858000"/>
              <a:gd name="connsiteX3" fmla="*/ 4367606 w 6825511"/>
              <a:gd name="connsiteY3" fmla="*/ 517246 h 6858000"/>
              <a:gd name="connsiteX4" fmla="*/ 5972886 w 6825511"/>
              <a:gd name="connsiteY4" fmla="*/ 2046093 h 6858000"/>
              <a:gd name="connsiteX5" fmla="*/ 4834966 w 6825511"/>
              <a:gd name="connsiteY5" fmla="*/ 3914684 h 6858000"/>
              <a:gd name="connsiteX6" fmla="*/ 6816166 w 6825511"/>
              <a:gd name="connsiteY6" fmla="*/ 5307634 h 6858000"/>
              <a:gd name="connsiteX7" fmla="*/ 5292166 w 6825511"/>
              <a:gd name="connsiteY7" fmla="*/ 6768532 h 6858000"/>
              <a:gd name="connsiteX8" fmla="*/ 4892727 w 6825511"/>
              <a:gd name="connsiteY8" fmla="*/ 6841687 h 6858000"/>
              <a:gd name="connsiteX9" fmla="*/ 4794161 w 6825511"/>
              <a:gd name="connsiteY9" fmla="*/ 6858000 h 6858000"/>
              <a:gd name="connsiteX10" fmla="*/ 0 w 6825511"/>
              <a:gd name="connsiteY10" fmla="*/ 6858000 h 6858000"/>
              <a:gd name="connsiteX11" fmla="*/ 0 w 6825511"/>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25511" h="6858000">
                <a:moveTo>
                  <a:pt x="0" y="0"/>
                </a:moveTo>
                <a:lnTo>
                  <a:pt x="4561011" y="0"/>
                </a:lnTo>
                <a:lnTo>
                  <a:pt x="4545069" y="17683"/>
                </a:lnTo>
                <a:cubicBezTo>
                  <a:pt x="4408881" y="178829"/>
                  <a:pt x="4320616" y="351621"/>
                  <a:pt x="4367606" y="517246"/>
                </a:cubicBezTo>
                <a:cubicBezTo>
                  <a:pt x="4492913" y="958913"/>
                  <a:pt x="5894993" y="1479854"/>
                  <a:pt x="5972886" y="2046093"/>
                </a:cubicBezTo>
                <a:cubicBezTo>
                  <a:pt x="6050779" y="2612333"/>
                  <a:pt x="4694419" y="3371094"/>
                  <a:pt x="4834966" y="3914684"/>
                </a:cubicBezTo>
                <a:cubicBezTo>
                  <a:pt x="4975513" y="4458274"/>
                  <a:pt x="6739966" y="4831993"/>
                  <a:pt x="6816166" y="5307634"/>
                </a:cubicBezTo>
                <a:cubicBezTo>
                  <a:pt x="6892366" y="5783275"/>
                  <a:pt x="6513059" y="6525049"/>
                  <a:pt x="5292166" y="6768532"/>
                </a:cubicBezTo>
                <a:cubicBezTo>
                  <a:pt x="5177708" y="6791359"/>
                  <a:pt x="5043276" y="6816126"/>
                  <a:pt x="4892727" y="6841687"/>
                </a:cubicBezTo>
                <a:lnTo>
                  <a:pt x="4794161" y="6858000"/>
                </a:lnTo>
                <a:lnTo>
                  <a:pt x="0" y="6858000"/>
                </a:lnTo>
                <a:lnTo>
                  <a:pt x="0" y="0"/>
                </a:lnTo>
                <a:close/>
              </a:path>
            </a:pathLst>
          </a:custGeom>
          <a:solidFill>
            <a:srgbClr val="FFFC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1" name="Forme libre : forme 10">
            <a:extLst>
              <a:ext uri="{FF2B5EF4-FFF2-40B4-BE49-F238E27FC236}">
                <a16:creationId xmlns:a16="http://schemas.microsoft.com/office/drawing/2014/main" id="{12EB336F-862A-10C0-4816-7ECC121B6CD4}"/>
              </a:ext>
            </a:extLst>
          </p:cNvPr>
          <p:cNvSpPr/>
          <p:nvPr/>
        </p:nvSpPr>
        <p:spPr>
          <a:xfrm>
            <a:off x="13899391" y="97890"/>
            <a:ext cx="7122160" cy="6858000"/>
          </a:xfrm>
          <a:custGeom>
            <a:avLst/>
            <a:gdLst>
              <a:gd name="connsiteX0" fmla="*/ 206151 w 7837140"/>
              <a:gd name="connsiteY0" fmla="*/ 0 h 6858000"/>
              <a:gd name="connsiteX1" fmla="*/ 7837140 w 7837140"/>
              <a:gd name="connsiteY1" fmla="*/ 0 h 6858000"/>
              <a:gd name="connsiteX2" fmla="*/ 7837140 w 7837140"/>
              <a:gd name="connsiteY2" fmla="*/ 6858000 h 6858000"/>
              <a:gd name="connsiteX3" fmla="*/ 439301 w 7837140"/>
              <a:gd name="connsiteY3" fmla="*/ 6858000 h 6858000"/>
              <a:gd name="connsiteX4" fmla="*/ 537867 w 7837140"/>
              <a:gd name="connsiteY4" fmla="*/ 6841687 h 6858000"/>
              <a:gd name="connsiteX5" fmla="*/ 937306 w 7837140"/>
              <a:gd name="connsiteY5" fmla="*/ 6768532 h 6858000"/>
              <a:gd name="connsiteX6" fmla="*/ 2461306 w 7837140"/>
              <a:gd name="connsiteY6" fmla="*/ 5307634 h 6858000"/>
              <a:gd name="connsiteX7" fmla="*/ 480106 w 7837140"/>
              <a:gd name="connsiteY7" fmla="*/ 3914684 h 6858000"/>
              <a:gd name="connsiteX8" fmla="*/ 1618026 w 7837140"/>
              <a:gd name="connsiteY8" fmla="*/ 2046093 h 6858000"/>
              <a:gd name="connsiteX9" fmla="*/ 12746 w 7837140"/>
              <a:gd name="connsiteY9" fmla="*/ 517246 h 6858000"/>
              <a:gd name="connsiteX10" fmla="*/ 190209 w 7837140"/>
              <a:gd name="connsiteY10" fmla="*/ 17683 h 6858000"/>
              <a:gd name="connsiteX11" fmla="*/ 206151 w 7837140"/>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37140" h="6858000">
                <a:moveTo>
                  <a:pt x="206151" y="0"/>
                </a:moveTo>
                <a:lnTo>
                  <a:pt x="7837140" y="0"/>
                </a:lnTo>
                <a:lnTo>
                  <a:pt x="7837140" y="6858000"/>
                </a:lnTo>
                <a:lnTo>
                  <a:pt x="439301" y="6858000"/>
                </a:lnTo>
                <a:lnTo>
                  <a:pt x="537867" y="6841687"/>
                </a:lnTo>
                <a:cubicBezTo>
                  <a:pt x="688416" y="6816126"/>
                  <a:pt x="822848" y="6791359"/>
                  <a:pt x="937306" y="6768532"/>
                </a:cubicBezTo>
                <a:cubicBezTo>
                  <a:pt x="2158199" y="6525049"/>
                  <a:pt x="2537506" y="5783275"/>
                  <a:pt x="2461306" y="5307634"/>
                </a:cubicBezTo>
                <a:cubicBezTo>
                  <a:pt x="2385106" y="4831993"/>
                  <a:pt x="620653" y="4458274"/>
                  <a:pt x="480106" y="3914684"/>
                </a:cubicBezTo>
                <a:cubicBezTo>
                  <a:pt x="339559" y="3371094"/>
                  <a:pt x="1695919" y="2612333"/>
                  <a:pt x="1618026" y="2046093"/>
                </a:cubicBezTo>
                <a:cubicBezTo>
                  <a:pt x="1540133" y="1479854"/>
                  <a:pt x="138053" y="958913"/>
                  <a:pt x="12746" y="517246"/>
                </a:cubicBezTo>
                <a:cubicBezTo>
                  <a:pt x="-34244" y="351621"/>
                  <a:pt x="54021" y="178829"/>
                  <a:pt x="190209" y="17683"/>
                </a:cubicBezTo>
                <a:lnTo>
                  <a:pt x="206151" y="0"/>
                </a:lnTo>
                <a:close/>
              </a:path>
            </a:pathLst>
          </a:custGeom>
          <a:solidFill>
            <a:srgbClr val="FFFC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Tree>
    <p:extLst>
      <p:ext uri="{BB962C8B-B14F-4D97-AF65-F5344CB8AC3E}">
        <p14:creationId xmlns:p14="http://schemas.microsoft.com/office/powerpoint/2010/main" val="27209772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a:extLst>
            <a:ext uri="{FF2B5EF4-FFF2-40B4-BE49-F238E27FC236}">
              <a16:creationId xmlns:a16="http://schemas.microsoft.com/office/drawing/2014/main" id="{61FE61BF-4712-90EC-D66C-F46521FBFC0E}"/>
            </a:ext>
          </a:extLst>
        </p:cNvPr>
        <p:cNvGrpSpPr/>
        <p:nvPr/>
      </p:nvGrpSpPr>
      <p:grpSpPr>
        <a:xfrm>
          <a:off x="0" y="0"/>
          <a:ext cx="0" cy="0"/>
          <a:chOff x="0" y="0"/>
          <a:chExt cx="0" cy="0"/>
        </a:xfrm>
      </p:grpSpPr>
      <p:sp>
        <p:nvSpPr>
          <p:cNvPr id="18" name="Forme libre : forme 17">
            <a:extLst>
              <a:ext uri="{FF2B5EF4-FFF2-40B4-BE49-F238E27FC236}">
                <a16:creationId xmlns:a16="http://schemas.microsoft.com/office/drawing/2014/main" id="{0311ACCD-EF0B-A94D-7B63-10BBE95BE0BD}"/>
              </a:ext>
            </a:extLst>
          </p:cNvPr>
          <p:cNvSpPr/>
          <p:nvPr/>
        </p:nvSpPr>
        <p:spPr>
          <a:xfrm>
            <a:off x="-336229" y="-81023"/>
            <a:ext cx="8967149" cy="6955890"/>
          </a:xfrm>
          <a:custGeom>
            <a:avLst/>
            <a:gdLst>
              <a:gd name="connsiteX0" fmla="*/ 0 w 6825511"/>
              <a:gd name="connsiteY0" fmla="*/ 0 h 6858000"/>
              <a:gd name="connsiteX1" fmla="*/ 4561011 w 6825511"/>
              <a:gd name="connsiteY1" fmla="*/ 0 h 6858000"/>
              <a:gd name="connsiteX2" fmla="*/ 4545069 w 6825511"/>
              <a:gd name="connsiteY2" fmla="*/ 17683 h 6858000"/>
              <a:gd name="connsiteX3" fmla="*/ 4367606 w 6825511"/>
              <a:gd name="connsiteY3" fmla="*/ 517246 h 6858000"/>
              <a:gd name="connsiteX4" fmla="*/ 5972886 w 6825511"/>
              <a:gd name="connsiteY4" fmla="*/ 2046093 h 6858000"/>
              <a:gd name="connsiteX5" fmla="*/ 4834966 w 6825511"/>
              <a:gd name="connsiteY5" fmla="*/ 3914684 h 6858000"/>
              <a:gd name="connsiteX6" fmla="*/ 6816166 w 6825511"/>
              <a:gd name="connsiteY6" fmla="*/ 5307634 h 6858000"/>
              <a:gd name="connsiteX7" fmla="*/ 5292166 w 6825511"/>
              <a:gd name="connsiteY7" fmla="*/ 6768532 h 6858000"/>
              <a:gd name="connsiteX8" fmla="*/ 4892727 w 6825511"/>
              <a:gd name="connsiteY8" fmla="*/ 6841687 h 6858000"/>
              <a:gd name="connsiteX9" fmla="*/ 4794161 w 6825511"/>
              <a:gd name="connsiteY9" fmla="*/ 6858000 h 6858000"/>
              <a:gd name="connsiteX10" fmla="*/ 0 w 6825511"/>
              <a:gd name="connsiteY10" fmla="*/ 6858000 h 6858000"/>
              <a:gd name="connsiteX11" fmla="*/ 0 w 6825511"/>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25511" h="6858000">
                <a:moveTo>
                  <a:pt x="0" y="0"/>
                </a:moveTo>
                <a:lnTo>
                  <a:pt x="4561011" y="0"/>
                </a:lnTo>
                <a:lnTo>
                  <a:pt x="4545069" y="17683"/>
                </a:lnTo>
                <a:cubicBezTo>
                  <a:pt x="4408881" y="178829"/>
                  <a:pt x="4320616" y="351621"/>
                  <a:pt x="4367606" y="517246"/>
                </a:cubicBezTo>
                <a:cubicBezTo>
                  <a:pt x="4492913" y="958913"/>
                  <a:pt x="5894993" y="1479854"/>
                  <a:pt x="5972886" y="2046093"/>
                </a:cubicBezTo>
                <a:cubicBezTo>
                  <a:pt x="6050779" y="2612333"/>
                  <a:pt x="4694419" y="3371094"/>
                  <a:pt x="4834966" y="3914684"/>
                </a:cubicBezTo>
                <a:cubicBezTo>
                  <a:pt x="4975513" y="4458274"/>
                  <a:pt x="6739966" y="4831993"/>
                  <a:pt x="6816166" y="5307634"/>
                </a:cubicBezTo>
                <a:cubicBezTo>
                  <a:pt x="6892366" y="5783275"/>
                  <a:pt x="6513059" y="6525049"/>
                  <a:pt x="5292166" y="6768532"/>
                </a:cubicBezTo>
                <a:cubicBezTo>
                  <a:pt x="5177708" y="6791359"/>
                  <a:pt x="5043276" y="6816126"/>
                  <a:pt x="4892727" y="6841687"/>
                </a:cubicBezTo>
                <a:lnTo>
                  <a:pt x="4794161" y="6858000"/>
                </a:lnTo>
                <a:lnTo>
                  <a:pt x="0" y="6858000"/>
                </a:lnTo>
                <a:lnTo>
                  <a:pt x="0" y="0"/>
                </a:lnTo>
                <a:close/>
              </a:path>
            </a:pathLst>
          </a:custGeom>
          <a:solidFill>
            <a:srgbClr val="FFFC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6" name="Forme libre : forme 15">
            <a:extLst>
              <a:ext uri="{FF2B5EF4-FFF2-40B4-BE49-F238E27FC236}">
                <a16:creationId xmlns:a16="http://schemas.microsoft.com/office/drawing/2014/main" id="{0C6BC722-E329-5D0F-918F-F8F790C15D25}"/>
              </a:ext>
            </a:extLst>
          </p:cNvPr>
          <p:cNvSpPr/>
          <p:nvPr/>
        </p:nvSpPr>
        <p:spPr>
          <a:xfrm>
            <a:off x="5069840" y="0"/>
            <a:ext cx="7122160" cy="6858000"/>
          </a:xfrm>
          <a:custGeom>
            <a:avLst/>
            <a:gdLst>
              <a:gd name="connsiteX0" fmla="*/ 206151 w 7837140"/>
              <a:gd name="connsiteY0" fmla="*/ 0 h 6858000"/>
              <a:gd name="connsiteX1" fmla="*/ 7837140 w 7837140"/>
              <a:gd name="connsiteY1" fmla="*/ 0 h 6858000"/>
              <a:gd name="connsiteX2" fmla="*/ 7837140 w 7837140"/>
              <a:gd name="connsiteY2" fmla="*/ 6858000 h 6858000"/>
              <a:gd name="connsiteX3" fmla="*/ 439301 w 7837140"/>
              <a:gd name="connsiteY3" fmla="*/ 6858000 h 6858000"/>
              <a:gd name="connsiteX4" fmla="*/ 537867 w 7837140"/>
              <a:gd name="connsiteY4" fmla="*/ 6841687 h 6858000"/>
              <a:gd name="connsiteX5" fmla="*/ 937306 w 7837140"/>
              <a:gd name="connsiteY5" fmla="*/ 6768532 h 6858000"/>
              <a:gd name="connsiteX6" fmla="*/ 2461306 w 7837140"/>
              <a:gd name="connsiteY6" fmla="*/ 5307634 h 6858000"/>
              <a:gd name="connsiteX7" fmla="*/ 480106 w 7837140"/>
              <a:gd name="connsiteY7" fmla="*/ 3914684 h 6858000"/>
              <a:gd name="connsiteX8" fmla="*/ 1618026 w 7837140"/>
              <a:gd name="connsiteY8" fmla="*/ 2046093 h 6858000"/>
              <a:gd name="connsiteX9" fmla="*/ 12746 w 7837140"/>
              <a:gd name="connsiteY9" fmla="*/ 517246 h 6858000"/>
              <a:gd name="connsiteX10" fmla="*/ 190209 w 7837140"/>
              <a:gd name="connsiteY10" fmla="*/ 17683 h 6858000"/>
              <a:gd name="connsiteX11" fmla="*/ 206151 w 7837140"/>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37140" h="6858000">
                <a:moveTo>
                  <a:pt x="206151" y="0"/>
                </a:moveTo>
                <a:lnTo>
                  <a:pt x="7837140" y="0"/>
                </a:lnTo>
                <a:lnTo>
                  <a:pt x="7837140" y="6858000"/>
                </a:lnTo>
                <a:lnTo>
                  <a:pt x="439301" y="6858000"/>
                </a:lnTo>
                <a:lnTo>
                  <a:pt x="537867" y="6841687"/>
                </a:lnTo>
                <a:cubicBezTo>
                  <a:pt x="688416" y="6816126"/>
                  <a:pt x="822848" y="6791359"/>
                  <a:pt x="937306" y="6768532"/>
                </a:cubicBezTo>
                <a:cubicBezTo>
                  <a:pt x="2158199" y="6525049"/>
                  <a:pt x="2537506" y="5783275"/>
                  <a:pt x="2461306" y="5307634"/>
                </a:cubicBezTo>
                <a:cubicBezTo>
                  <a:pt x="2385106" y="4831993"/>
                  <a:pt x="620653" y="4458274"/>
                  <a:pt x="480106" y="3914684"/>
                </a:cubicBezTo>
                <a:cubicBezTo>
                  <a:pt x="339559" y="3371094"/>
                  <a:pt x="1695919" y="2612333"/>
                  <a:pt x="1618026" y="2046093"/>
                </a:cubicBezTo>
                <a:cubicBezTo>
                  <a:pt x="1540133" y="1479854"/>
                  <a:pt x="138053" y="958913"/>
                  <a:pt x="12746" y="517246"/>
                </a:cubicBezTo>
                <a:cubicBezTo>
                  <a:pt x="-34244" y="351621"/>
                  <a:pt x="54021" y="178829"/>
                  <a:pt x="190209" y="17683"/>
                </a:cubicBezTo>
                <a:lnTo>
                  <a:pt x="206151" y="0"/>
                </a:lnTo>
                <a:close/>
              </a:path>
            </a:pathLst>
          </a:custGeom>
          <a:solidFill>
            <a:srgbClr val="FFFC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2" name="ZoneTexte 21">
            <a:extLst>
              <a:ext uri="{FF2B5EF4-FFF2-40B4-BE49-F238E27FC236}">
                <a16:creationId xmlns:a16="http://schemas.microsoft.com/office/drawing/2014/main" id="{DABD8537-0EB2-FC51-958D-E00A4BC553A3}"/>
              </a:ext>
            </a:extLst>
          </p:cNvPr>
          <p:cNvSpPr txBox="1"/>
          <p:nvPr/>
        </p:nvSpPr>
        <p:spPr>
          <a:xfrm>
            <a:off x="1474037" y="1869097"/>
            <a:ext cx="9559850" cy="2800767"/>
          </a:xfrm>
          <a:prstGeom prst="rect">
            <a:avLst/>
          </a:prstGeom>
          <a:noFill/>
        </p:spPr>
        <p:txBody>
          <a:bodyPr wrap="square" rtlCol="0">
            <a:spAutoFit/>
          </a:bodyPr>
          <a:lstStyle/>
          <a:p>
            <a:pPr algn="ctr"/>
            <a:r>
              <a:rPr lang="fr-FR" sz="8800" dirty="0">
                <a:solidFill>
                  <a:schemeClr val="tx2">
                    <a:lumMod val="75000"/>
                  </a:schemeClr>
                </a:solidFill>
                <a:latin typeface="Arial Black" panose="020B0A04020102020204" pitchFamily="34" charset="0"/>
              </a:rPr>
              <a:t>Merci De Votre Attention ! </a:t>
            </a:r>
          </a:p>
        </p:txBody>
      </p:sp>
      <p:sp>
        <p:nvSpPr>
          <p:cNvPr id="2" name="ZoneTexte 1">
            <a:extLst>
              <a:ext uri="{FF2B5EF4-FFF2-40B4-BE49-F238E27FC236}">
                <a16:creationId xmlns:a16="http://schemas.microsoft.com/office/drawing/2014/main" id="{491E5349-73E4-F9B8-F9C4-3664B3C76FC8}"/>
              </a:ext>
            </a:extLst>
          </p:cNvPr>
          <p:cNvSpPr txBox="1"/>
          <p:nvPr/>
        </p:nvSpPr>
        <p:spPr>
          <a:xfrm>
            <a:off x="2270760" y="4983396"/>
            <a:ext cx="7650480" cy="584775"/>
          </a:xfrm>
          <a:prstGeom prst="rect">
            <a:avLst/>
          </a:prstGeom>
          <a:noFill/>
        </p:spPr>
        <p:txBody>
          <a:bodyPr wrap="square" rtlCol="0">
            <a:spAutoFit/>
          </a:bodyPr>
          <a:lstStyle/>
          <a:p>
            <a:pPr algn="ctr"/>
            <a:r>
              <a:rPr lang="fr-FR" sz="3200" dirty="0">
                <a:solidFill>
                  <a:schemeClr val="tx2">
                    <a:lumMod val="75000"/>
                  </a:schemeClr>
                </a:solidFill>
                <a:latin typeface="Aharoni" panose="02010803020104030203" pitchFamily="2" charset="-79"/>
                <a:cs typeface="Aharoni" panose="02010803020104030203" pitchFamily="2" charset="-79"/>
              </a:rPr>
              <a:t>N’hésitez pas à poser vos questions </a:t>
            </a:r>
          </a:p>
        </p:txBody>
      </p:sp>
      <p:pic>
        <p:nvPicPr>
          <p:cNvPr id="3" name="Picture 2" descr="Premium AI Image | Abstract and magical image of Firefly flying in the ...">
            <a:extLst>
              <a:ext uri="{FF2B5EF4-FFF2-40B4-BE49-F238E27FC236}">
                <a16:creationId xmlns:a16="http://schemas.microsoft.com/office/drawing/2014/main" id="{8C4A3F2D-4C93-DDE0-8F0E-F041D31CD3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00" r="7778"/>
          <a:stretch/>
        </p:blipFill>
        <p:spPr bwMode="auto">
          <a:xfrm>
            <a:off x="6096000" y="11046379"/>
            <a:ext cx="5490532"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F85955E3-DB18-FA41-EAAD-D850E19844E3}"/>
              </a:ext>
            </a:extLst>
          </p:cNvPr>
          <p:cNvSpPr txBox="1"/>
          <p:nvPr/>
        </p:nvSpPr>
        <p:spPr>
          <a:xfrm>
            <a:off x="605468" y="13148351"/>
            <a:ext cx="5143233" cy="4195263"/>
          </a:xfrm>
          <a:prstGeom prst="roundRect">
            <a:avLst>
              <a:gd name="adj" fmla="val 4527"/>
            </a:avLst>
          </a:prstGeom>
          <a:solidFill>
            <a:schemeClr val="bg2">
              <a:alpha val="13000"/>
            </a:schemeClr>
          </a:solidFill>
        </p:spPr>
        <p:txBody>
          <a:bodyPr wrap="square" rtlCol="0">
            <a:spAutoFit/>
          </a:bodyPr>
          <a:lstStyle/>
          <a:p>
            <a:pPr>
              <a:lnSpc>
                <a:spcPct val="150000"/>
              </a:lnSpc>
            </a:pPr>
            <a:r>
              <a:rPr lang="fr-FR" b="0" dirty="0">
                <a:solidFill>
                  <a:schemeClr val="bg1"/>
                </a:solidFill>
                <a:effectLst/>
                <a:latin typeface="Aptos Display" panose="020B0004020202020204" pitchFamily="34" charset="0"/>
              </a:rPr>
              <a:t>La nature ne résout pas les équations, elle trouve simplement des solutions. </a:t>
            </a:r>
          </a:p>
          <a:p>
            <a:pPr>
              <a:lnSpc>
                <a:spcPct val="150000"/>
              </a:lnSpc>
            </a:pPr>
            <a:r>
              <a:rPr lang="fr-FR" b="0" dirty="0">
                <a:solidFill>
                  <a:schemeClr val="bg1"/>
                </a:solidFill>
                <a:effectLst/>
                <a:latin typeface="Aptos Display" panose="020B0004020202020204" pitchFamily="34" charset="0"/>
              </a:rPr>
              <a:t>Ce que les lucioles ont mis des millions d'années à </a:t>
            </a:r>
            <a:r>
              <a:rPr lang="fr-FR" b="0" dirty="0" err="1">
                <a:solidFill>
                  <a:schemeClr val="bg1"/>
                </a:solidFill>
                <a:effectLst/>
                <a:latin typeface="Aptos Display" panose="020B0004020202020204" pitchFamily="34" charset="0"/>
              </a:rPr>
              <a:t>perfectionner,nous</a:t>
            </a:r>
            <a:r>
              <a:rPr lang="fr-FR" b="0" dirty="0">
                <a:solidFill>
                  <a:schemeClr val="bg1"/>
                </a:solidFill>
                <a:effectLst/>
                <a:latin typeface="Aptos Display" panose="020B0004020202020204" pitchFamily="34" charset="0"/>
              </a:rPr>
              <a:t> commençons à peine à le comprendre. L'algorithme des lucioles nous rappelle ainsi que la simplicité et l'émergence collective peuvent vaincre la complexité, révélant peu à peu les secrets d'une intelligence bien plus ancienne que la nôtre.</a:t>
            </a:r>
            <a:endParaRPr lang="fr-FR" b="1" dirty="0">
              <a:solidFill>
                <a:schemeClr val="bg1"/>
              </a:solidFill>
              <a:latin typeface="Aptos Display" panose="020B0004020202020204" pitchFamily="34" charset="0"/>
            </a:endParaRPr>
          </a:p>
        </p:txBody>
      </p:sp>
      <p:sp>
        <p:nvSpPr>
          <p:cNvPr id="5" name="ZoneTexte 4">
            <a:extLst>
              <a:ext uri="{FF2B5EF4-FFF2-40B4-BE49-F238E27FC236}">
                <a16:creationId xmlns:a16="http://schemas.microsoft.com/office/drawing/2014/main" id="{3E9C0E7C-7B4C-B67F-C4B4-0FFDF9729234}"/>
              </a:ext>
            </a:extLst>
          </p:cNvPr>
          <p:cNvSpPr txBox="1"/>
          <p:nvPr/>
        </p:nvSpPr>
        <p:spPr>
          <a:xfrm>
            <a:off x="487680" y="12067027"/>
            <a:ext cx="4185920" cy="830997"/>
          </a:xfrm>
          <a:prstGeom prst="rect">
            <a:avLst/>
          </a:prstGeom>
          <a:noFill/>
        </p:spPr>
        <p:txBody>
          <a:bodyPr wrap="square" rtlCol="0">
            <a:spAutoFit/>
          </a:bodyPr>
          <a:lstStyle/>
          <a:p>
            <a:r>
              <a:rPr lang="fr-FR" sz="4800" dirty="0">
                <a:solidFill>
                  <a:schemeClr val="bg1"/>
                </a:solidFill>
                <a:latin typeface="Aharoni" panose="02010803020104030203" pitchFamily="2" charset="-79"/>
                <a:cs typeface="Aharoni" panose="02010803020104030203" pitchFamily="2" charset="-79"/>
              </a:rPr>
              <a:t>Conclusion  </a:t>
            </a:r>
          </a:p>
        </p:txBody>
      </p:sp>
    </p:spTree>
    <p:extLst>
      <p:ext uri="{BB962C8B-B14F-4D97-AF65-F5344CB8AC3E}">
        <p14:creationId xmlns:p14="http://schemas.microsoft.com/office/powerpoint/2010/main" val="41443257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9647</TotalTime>
  <Words>3358</Words>
  <Application>Microsoft Office PowerPoint</Application>
  <PresentationFormat>Grand écran</PresentationFormat>
  <Paragraphs>461</Paragraphs>
  <Slides>39</Slides>
  <Notes>8</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39</vt:i4>
      </vt:variant>
    </vt:vector>
  </HeadingPairs>
  <TitlesOfParts>
    <vt:vector size="49" baseType="lpstr">
      <vt:lpstr>Aharoni</vt:lpstr>
      <vt:lpstr>Andalus</vt:lpstr>
      <vt:lpstr>Aptos</vt:lpstr>
      <vt:lpstr>Aptos Display</vt:lpstr>
      <vt:lpstr>Arial</vt:lpstr>
      <vt:lpstr>Arial Black</vt:lpstr>
      <vt:lpstr>Calibri</vt:lpstr>
      <vt:lpstr>Calibri Light</vt:lpstr>
      <vt:lpstr>DeepSeek-CJK-patch</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elgaoutzineb3@gmail.com</dc:creator>
  <cp:lastModifiedBy>zineb el-gaout</cp:lastModifiedBy>
  <cp:revision>10</cp:revision>
  <dcterms:created xsi:type="dcterms:W3CDTF">2025-03-28T11:01:43Z</dcterms:created>
  <dcterms:modified xsi:type="dcterms:W3CDTF">2025-04-07T15:41:15Z</dcterms:modified>
</cp:coreProperties>
</file>